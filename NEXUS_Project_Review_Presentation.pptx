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members. My name is Shreyansh Uttam, and I am presenting NEXUS—an AI-powered supply chain intelligence, risk prediction, and optimization platform. </a:t>
            </a:r>
          </a:p>
          <a:p/>
          <a:p>
            <a:r>
              <a:t>In this presentation, I will walk you through the complete engineering lifecycle of NEXUS: from empirical data grounding and our multi-echelon digital twin to predictive machine learning, graph impact propagation, non-destructive simulation, Google OR-Tools optimization, and our interactive React control room. The core innovation of NEXUS is closing the loop from sensing an upstream disruption to computing mathematically optimal reallocation directives in under 10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NEXUS was built, consider the traditional enterprise workflow. Today, when a supplier experiences an unscheduled shutdown or a highway corridor is blocked, data trickles through disconnected spreadsheets and legacy ERP reports. Planners spend days manually analyzing spreadsheets. By the time a decision is made, downstream assembly lines have halted and massive contractual SLA penalties have already accrued.</a:t>
            </a:r>
          </a:p>
          <a:p/>
          <a:p>
            <a:r>
              <a:t>Furthermore, traditional supply chains rely on rigid single-sourcing contracts. Even when the broader national network has surplus capacity, downstream warehouses cannot dynamically pivot. As shown in the diagram on the right, an 80% failure at a single Tier-1 supplier cascades across production units, depletes warehouse safety stock, and starves metropolitan demand zones. The goal of NEXUS is to replace this delayed manual process with an automated, closed-loop decision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the core architectural identity of NEXUS: the closed-loop decision cycle. </a:t>
            </a:r>
          </a:p>
          <a:p/>
          <a:p>
            <a:r>
              <a:t>Most existing academic projects stop at machine learning predictions without determining operational actions. NEXUS connects the entire loop across six automated stages. First, we continuously MONITOR the digital twin network. Second, we PREDICT future demand and supplier failure probability using supervised ML. Third, we ANALYZE IMPACT using graph traversal to calculate exact warehouse runway days. Fourth, we SIMULATE the operational shock in memory. Fifth, we OPTIMIZE global sourcing and routing allocations using Google OR-Tools. And sixth, we RECOMMEND plain-language, executable directives. Every stage feeds directly into the next, ensuring real-time decision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end-to-end system architecture of NEXUS, designed as a 7-layer decoupled enterprise stack. </a:t>
            </a:r>
          </a:p>
          <a:p/>
          <a:p>
            <a:r>
              <a:t>At the bottom, our ingestion layer ingests real empirical data from Walmart and DataCo, validated strictly by Pydantic v2 schemas into our SQLite database. The persistence layer manages 14 relational tables. The Intelligence Layer executes our three machine learning models. </a:t>
            </a:r>
          </a:p>
          <a:p/>
          <a:p>
            <a:r>
              <a:t>These model outputs pass directly into the Graph and Simulation Layer, which models the supply chain as a multi-echelon directed graph in NetworkX. During a shock, the ScenarioEngine forks an in-memory clone of the network state. The Operations Research layer then executes a linear program using Google OR-Tools to solve global allocation. Finally, the FastAPI backend exposes 20 RESTful endpoints to our React 19 frontend.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question in any AI project review is data provenance: where does the data come from? In supply chain management, real corporate operational databases are proprietary and legally confidential. Therefore, NEXUS employs a hybrid data strategy with strict academic honesty. </a:t>
            </a:r>
          </a:p>
          <a:p/>
          <a:p>
            <a:r>
              <a:t>We do not fabricate numbers. For demand forecasting, we use Walmart's empirical dataset of 421,570 weekly sales records from Kaggle, capturing real calendar seasonality and holiday spikes. For supplier risk modeling, we utilize the DataCo Global Supply Chain dataset from Mendeley, containing over 35,000 empirical shipments with actual lead-time delays and delivery failures. We then calibrate these statistical distributions onto an 83-node Indian logistics digital twin. As clearly labeled on the right, the network topology is a calibrated synthetic twin, ensuring full reproducibility while maintaining realistic industrial complexity.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supply chain data cannot be fed directly into decision algorithms. This slide illustrates our feature engineering pipeline across four critical dimensions. </a:t>
            </a:r>
          </a:p>
          <a:p/>
          <a:p>
            <a:r>
              <a:t>For demand forecasting, we construct 14 autoregressive and calendar features. To ensure rigorous academic methodology, all rolling window statistics are strictly shifted by one time period to eliminate lookahead data leakage. For supplier risk, we extract operational variance metrics, notably lead-time standard deviation and historical delay frequency. For spatial corridors, we geocode 83 facilities and apply a 1.22 highway tortuosity factor to convert geodesic distances into realistic road transit kilometers. Finally, we compute warehouse stock runway by dividing current inventory by daily burn rate, allowing us to predict exact stockout dates before they occur.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NEXUS Digital Twin network. The network models an authentic multi-echelon supply chain across India, comprising exactly 83 facility nodes and 160 multimodal corridors. </a:t>
            </a:r>
          </a:p>
          <a:p/>
          <a:p>
            <a:r>
              <a:t>The echelons represent five distinct functional tiers: 20 raw material and component suppliers, 8 manufacturing and assembly plants located in industrial clusters like Sanand and Pune, 10 central distribution warehouses tracking 500 SKUs with a total inventory valuation of 45.9 million rupees, 15 sorting hubs, and 30 consumer demand zones representing over 153,000 units of periodic demand. The digital twin maintains complete telemetry on stock levels, daily burn rates, operational capacities, and unit transit costs.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Intelligence Layer contains three specialized machine learning models, each targeted at a specific vulnerability. </a:t>
            </a:r>
          </a:p>
          <a:p/>
          <a:p>
            <a:r>
              <a:t>First, the Demand Forecasting model uses an XGBoost Regressor trained on 14 lag and calendar features to forecast future demand velocity across a multi-step horizon. Second, our Supplier Risk Prediction model uses an XGBoost Classifier with positive class weighting to predict the probability of vendor failure before catastrophic stockouts occur. Third, we implement an unsupervised Isolation Forest anomaly detector with a 3% contamination threshold that continuously scans transaction volumes and transit logs to flag sudden demand surges or unprecedented lead-time deviations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the empirical evaluation of our models. </a:t>
            </a:r>
          </a:p>
          <a:p/>
          <a:p>
            <a:r>
              <a:t>For demand forecasting, we evaluated our XGBoost Regressor against standard industry baselines: Naive persistence and Moving Averages. The results show that XGBoost reduces RMSE by 29.5% compared to the Naive baseline and lowers sMAPE down to 4.35%. </a:t>
            </a:r>
          </a:p>
          <a:p/>
          <a:p>
            <a:r>
              <a:t>For supplier risk, we addressed a critical academic pitfall discovered during our Phase 2 audit: previous iterations had data leakage that created artificial 1.0 accuracy. We resolved this by implementing an independent latent stress data generator and evaluated the model using GroupShuffleSplit across 40 vendors. The 10 test vendors were completely unseen during training. XGBoost achieved an F1-score of 0.7574 with a high recall of 77.1%, which is critical in supply chains because missing a vendor failure is far more costly than a false alarm. Feature importance analysis proves that lead-time variability and nominal lead time account for over 42% of predictive risk.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central question faculty often ask is: 'Why is this an engineering decision system rather than just a machine learning project?' This slide answers that directly. Prediction alone does not make a business decision. </a:t>
            </a:r>
          </a:p>
          <a:p/>
          <a:p>
            <a:r>
              <a:t>A prediction of 80% supplier risk does not tell a manager how many units to reroute, which alternative supplier has surplus capacity, or what the transportation cost trade-off will be. The NEXUS Decision Matrix connects every incoming signal—whether it is a demand surge, a supplier failure, or a highway blockage—to its downstream network impact, runs a simulation to test the constraint boundaries, and then executes mathematical optimization to output the exact procurement and routing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disruption strikes, its damage is rarely confined to the immediate node; it ripples downstream. In NEXUS, we use NetworkX directed graph traversal to trace this propagation. </a:t>
            </a:r>
          </a:p>
          <a:p/>
          <a:p>
            <a:r>
              <a:t>In our flagship scenario, when supplier SUP_001 in Pune loses 80% capacity, our BFS engine traces the failure downstream to the assembly plant in Sanand, and then to two central warehouses: WH_01 in the West and WH_02 in the North. Our stock runway algorithm calculates that WH_01 has only 5.07 days of buffer stock remaining before a total stockout occurs on Day 6. This allows the system to determine the exact downstream shortage—in this case, 69,843 units across five demand zones—before the physical stockout ever takes place.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committing expensive operational changes, supply chain managers must be able to ask 'what-if' questions. NEXUS features a dedicated Scenario Simulation engine supporting five parameterized stress scenarios: supplier failure, route blockage, demand surges, warehouse shutdowns, and compound multi-hazard shocks. </a:t>
            </a:r>
          </a:p>
          <a:p/>
          <a:p>
            <a:r>
              <a:t>Crucially, the simulation operates non-destructively. Using copy-on-write state cloning, the engine creates an ephemeral in-memory clone of the digital twin. This means an operator can simulate a catastrophic 90% capacity loss across multiple nodes, inspect the resulting network balance and shortage projections, and trigger optimization without corrupting the production database.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disruption is simulated, how do we find the best response? NEXUS formulates the problem as a global multi-echelon linear program solved using Google OR-Tools GLOP solver. </a:t>
            </a:r>
          </a:p>
          <a:p/>
          <a:p>
            <a:r>
              <a:t>The objective function minimizes total operational cost: procurement costs, multimodal transportation costs, holding costs, risk penalties, and contractual shortage penalties, which are set at 350 rupees per unit. The solver enforces strict physical constraints: supplier capacity boundaries, warehouse conservation of flow, and demand fulfillment. Rather than relying on trial-and-error or greedy heuristics, Google OR-Tools evaluates all feasible sourcing and routing permutations simultaneously, returning the mathematically optimal allocation in less than 10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validate the platform, we executed our verified flagship demonstration scenario. We inject an 80% capacity reduction into supplier SUP_001, Tata AutoComp Components in Pune, for a 10-day duration. This reduces their periodic throughput from 12,000 units down to 2,400. </a:t>
            </a:r>
          </a:p>
          <a:p/>
          <a:p>
            <a:r>
              <a:t>In unoptimized operations, this causes Western Warehouse WH_01 to run out of stock on Day 6, creating an aggregate shortage of 69,843 units across five major cities and incurring 24.45 million rupees in stockout penalties. However, our simulation reveals a crucial insight: the network as a whole actually has 314,000 units of available capacity across other suppliers. The failure occurs solely because traditional contracts are statically bound. This provides the exact opportunity for NEXUS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slides in the presentation: the quantitative comparison between the unoptimized baseline and NEXUS optimization. </a:t>
            </a:r>
          </a:p>
          <a:p/>
          <a:p>
            <a:r>
              <a:t>Under the baseline heuristic, the company incurs over 41.2 million rupees in total costs, of which 24.45 million are pure stockout penalties, resulting in a disastrous service level of only 54.57%. NEXUS completely transforms this outcome. The linear program proactively increases procurement spending by 3.4 million and freight spending by 1.6 million to reroute goods from secondary qualified suppliers in Jamshedpur and Pantnagar. </a:t>
            </a:r>
          </a:p>
          <a:p/>
          <a:p>
            <a:r>
              <a:t>By spending 5.04 million in proactive logistics, NEXUS eliminates all 24.45 million rupees of stockout penalties. The net result is a 53.19% total operational cost reduction—saving nearly 22 million rupees—while restoring service level from 54.57% to a perfect 100%.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Mathematical output from an optimization solver consists of hundreds of continuous flow decision variables, which an executive cannot easily interpret. The NEXUS Recommendation Engine converts these mathematical tensors into plain-language business directives. </a:t>
            </a:r>
          </a:p>
          <a:p/>
          <a:p>
            <a:r>
              <a:t>For our scenario, it generates three specific action items: shifting 25,000 units to SUP_005 in Jamshedpur, shifting 16,200 units to SUP_009 in Pantnagar, and rebalancing safety stock between Western and Northern warehouses. Furthermore, following our Phase 2 audit, we replaced arbitrary 'confidence scores' with a mathematically derived Plan Robustness Index of 0.98 based on solver optimality and shortage mitigation. Finally, the 'Simulate ERP Dispatch' button clearly demonstrates how these directives would be handed off to enterprise ERP systems like SAP or Oracle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these analytical tools usable by human decision-makers, we built a production-grade web control room. The frontend is implemented in React 19 with TypeScript, Tailwind CSS, Leaflet for GIS mapping, and Recharts for analytical visualizations. </a:t>
            </a:r>
          </a:p>
          <a:p/>
          <a:p>
            <a:r>
              <a:t>It features eight comprehensive screens organized around the decision lifecycle: Executive Overview, Digital Twin GIS Map, Demand Intelligence, Risk Intelligence, Impact Analysis, Scenario Simulation, Optimization Engine, and the Recommendation Center. During our Phase 2 development, we code-split all eight routes using React.lazy, reducing the initial bundle footprint down to 365 kilobytes and achieving an instantaneous sub-2.5 second build.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the operator's journey through NEXUS during an operational crisis. It follows an intuitive narrative:</a:t>
            </a:r>
          </a:p>
          <a:p/>
          <a:p>
            <a:r>
              <a:t>The operator starts on the Dashboard to see what is happening.</a:t>
            </a:r>
          </a:p>
          <a:p>
            <a:r>
              <a:t>They move to the Map to see where the affected facility is located.</a:t>
            </a:r>
          </a:p>
          <a:p>
            <a:r>
              <a:t>They check Demand Intelligence to understand future consumption needs.</a:t>
            </a:r>
          </a:p>
          <a:p>
            <a:r>
              <a:t>They check Risk Intelligence to identify which vendor is failing and why.</a:t>
            </a:r>
          </a:p>
          <a:p>
            <a:r>
              <a:t>They open Impact Analysis to see which warehouses will run out of stock and when.</a:t>
            </a:r>
          </a:p>
          <a:p>
            <a:r>
              <a:t>They use Scenario Simulation to test the disruption's severity and duration.</a:t>
            </a:r>
          </a:p>
          <a:p>
            <a:r>
              <a:t>They trigger the Optimization Engine to compute the lowest-cost alternative allocation.</a:t>
            </a:r>
          </a:p>
          <a:p>
            <a:r>
              <a:t>And finally, they open the Recommendation Center to approve the plain-language directives and simulate dispatching them to the ERP system.</a:t>
            </a:r>
          </a:p>
          <a:p/>
          <a:p>
            <a:r>
              <a:t>This creates an effortless, unified workflow for any supply chain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connection between our React frontend and backend is facilitated by 20 fully documented RESTful API endpoints managed by FastAPI. Every request and response payload is strictly validated using Pydantic v2 schemas. </a:t>
            </a:r>
          </a:p>
          <a:p/>
          <a:p>
            <a:r>
              <a:t>As shown in the Swagger documentation screenshot, our endpoints handle everything from geospatial facility coordinates and demand forecasts to scenario simulations and Google OR-Tools optimization runs. In our integration audit, all 20 API service functions were verified against the live backend, returning 100% HTTP 200 OK responses with zero type mismatches.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credibility requires exhaustive verification. NEXUS has undergone complete automated testing across both backend and frontend. </a:t>
            </a:r>
          </a:p>
          <a:p/>
          <a:p>
            <a:r>
              <a:t>On the backend, all 29 pytest test cases pass with 100% success in 2.66 seconds, verifying our data pipeline, ML regressors, classifiers, graph traversal, and optimization formulations. On the frontend, all 10 Vitest unit tests pass, and the production build compiles with zero TypeScript errors and zero bundler warnings. Most importantly, we instituted a strict credibility guarantee: there are zero silent mock fallbacks in the production frontend code. Every number, chart, and recommendation displayed in the control room is generated live by the backend engine.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final-year engineering project, maintaining academic integrity is paramount. This slide clearly outlines what NEXUS does—and does not—claim. </a:t>
            </a:r>
          </a:p>
          <a:p/>
          <a:p>
            <a:r>
              <a:t>What is implemented and fully verified is an end-to-end decision intelligence prototype combining empirical datasets, machine learning, graph analysis, in-memory scenario simulation, Google OR-Tools linear programming, and an interactive React control room. However, we do not make false claims of enterprise deployment. We do not claim a live connection to SAP or Oracle; strategy dispatch is simulated. We do not claim live GPS satellite feeds; lead-time variance is derived from empirical DataCo distributions. And our digital twin facilities represent calibrated mathematical models rather than proprietary internal records. Transparently acknowledging these boundaries demonstrates rigorous engineering maturity.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NEXUS has a clear roadmap toward industrial deployment. Phase 1 is complete with our fully functioning prototype. </a:t>
            </a:r>
          </a:p>
          <a:p/>
          <a:p>
            <a:r>
              <a:t>In Phase 2, we plan to implement authentic enterprise connectors using SAP RFC and Oracle OData APIs. Phase 3 will introduce Apache Kafka event streaming to ingest real-time GPS telematics and IoT cold-chain sensor data. In Phase 4, we will enhance our optimization engine from continuous linear programming to Mixed-Integer Linear Programming (MILP) and Vehicle Routing Problem (VRP) formulations to handle discrete pallet packing and truckload limits. Phase 5 explores autonomous multi-agent AI for spot-contract negotiations, and Phase 6 will package the entire architecture into Kubernetes microservices for multi-tenant enterprise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NEXUS transforms supply chain management from reactive firefighting into proactive decision intelligence. </a:t>
            </a:r>
          </a:p>
          <a:p/>
          <a:p>
            <a:r>
              <a:t>By combining empirical data, digital twin graph modeling, machine learning, scenario simulation, and Google OR-Tools optimization, the platform doesn't just predict problems—it solves them. In our verified demonstration, NEXUS eliminated 24.45 million rupees in stockout penalties, maintained 100% service level, and reduced total operational costs by 53.19% in under 10 milliseconds. </a:t>
            </a:r>
          </a:p>
          <a:p/>
          <a:p>
            <a:r>
              <a:t>Thank you very much for your time and guidance. I would be delighted to take any questions and demonstrate the live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ounded Rectangle 1"/>
          <p:cNvSpPr/>
          <p:nvPr/>
        </p:nvSpPr>
        <p:spPr>
          <a:xfrm>
            <a:off x="731520" y="731520"/>
            <a:ext cx="10728655" cy="530352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966960" cy="1097280"/>
          </a:xfrm>
          <a:prstGeom prst="rect">
            <a:avLst/>
          </a:prstGeom>
          <a:noFill/>
        </p:spPr>
        <p:txBody>
          <a:bodyPr wrap="square">
            <a:spAutoFit/>
          </a:bodyPr>
          <a:lstStyle/>
          <a:p>
            <a:pPr>
              <a:defRPr sz="5400" b="1">
                <a:solidFill>
                  <a:srgbClr val="38BDF8"/>
                </a:solidFill>
                <a:latin typeface="Segoe UI"/>
              </a:defRPr>
            </a:pPr>
            <a:r>
              <a:t>NEXUS</a:t>
            </a:r>
          </a:p>
          <a:p>
            <a:pPr>
              <a:spcBef>
                <a:spcPts val="400"/>
              </a:spcBef>
              <a:defRPr sz="1800" b="1">
                <a:solidFill>
                  <a:srgbClr val="FFFFFF"/>
                </a:solidFill>
                <a:latin typeface="Segoe UI"/>
              </a:defRPr>
            </a:pPr>
            <a:r>
              <a:t>AI-Powered Supply Chain Intelligence, Risk Prediction &amp; Optimization Platform</a:t>
            </a:r>
          </a:p>
        </p:txBody>
      </p:sp>
      <p:sp>
        <p:nvSpPr>
          <p:cNvPr id="4" name="TextBox 3"/>
          <p:cNvSpPr txBox="1"/>
          <p:nvPr/>
        </p:nvSpPr>
        <p:spPr>
          <a:xfrm>
            <a:off x="1097280" y="2468880"/>
            <a:ext cx="9966960" cy="548640"/>
          </a:xfrm>
          <a:prstGeom prst="rect">
            <a:avLst/>
          </a:prstGeom>
          <a:noFill/>
        </p:spPr>
        <p:txBody>
          <a:bodyPr wrap="none">
            <a:spAutoFit/>
          </a:bodyPr>
          <a:lstStyle/>
          <a:p>
            <a:pPr>
              <a:defRPr sz="1100" b="1">
                <a:solidFill>
                  <a:srgbClr val="06B6D4"/>
                </a:solidFill>
                <a:latin typeface="Segoe UI"/>
              </a:defRPr>
            </a:pPr>
            <a:r>
              <a:t>MONITOR   →   PREDICT   →   ANALYZE IMPACT   →   SIMULATE   →   OPTIMIZE   →   RECOMMEND</a:t>
            </a:r>
          </a:p>
        </p:txBody>
      </p:sp>
      <p:sp>
        <p:nvSpPr>
          <p:cNvPr id="5" name="Rounded Rectangle 4"/>
          <p:cNvSpPr/>
          <p:nvPr/>
        </p:nvSpPr>
        <p:spPr>
          <a:xfrm>
            <a:off x="1097280" y="3291840"/>
            <a:ext cx="5029200" cy="2286000"/>
          </a:xfrm>
          <a:prstGeom prst="roundRect">
            <a:avLst/>
          </a:prstGeom>
          <a:solidFill>
            <a:srgbClr val="111D4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61872" y="3401568"/>
            <a:ext cx="4700016" cy="292608"/>
          </a:xfrm>
          <a:prstGeom prst="rect">
            <a:avLst/>
          </a:prstGeom>
          <a:noFill/>
        </p:spPr>
        <p:txBody>
          <a:bodyPr wrap="square" lIns="0" tIns="0" rIns="0" bIns="0">
            <a:spAutoFit/>
          </a:bodyPr>
          <a:lstStyle/>
          <a:p>
            <a:pPr>
              <a:defRPr sz="1100" b="1">
                <a:solidFill>
                  <a:srgbClr val="38BDF8"/>
                </a:solidFill>
                <a:latin typeface="Segoe UI"/>
              </a:defRPr>
            </a:pPr>
            <a:r>
              <a:t>PROJECT PRESENTATION &amp; DEFENSE</a:t>
            </a:r>
          </a:p>
        </p:txBody>
      </p:sp>
      <p:sp>
        <p:nvSpPr>
          <p:cNvPr id="7" name="TextBox 6"/>
          <p:cNvSpPr txBox="1"/>
          <p:nvPr/>
        </p:nvSpPr>
        <p:spPr>
          <a:xfrm>
            <a:off x="1280160" y="3749039"/>
            <a:ext cx="4663440" cy="1645920"/>
          </a:xfrm>
          <a:prstGeom prst="rect">
            <a:avLst/>
          </a:prstGeom>
          <a:noFill/>
        </p:spPr>
        <p:txBody>
          <a:bodyPr wrap="square">
            <a:spAutoFit/>
          </a:bodyPr>
          <a:lstStyle/>
          <a:p>
            <a:pPr>
              <a:spcAft>
                <a:spcPts val="400"/>
              </a:spcAft>
              <a:defRPr sz="1000">
                <a:latin typeface="Segoe UI"/>
              </a:defRPr>
            </a:pPr>
            <a:r>
              <a:rPr b="1">
                <a:solidFill>
                  <a:srgbClr val="FFFFFF"/>
                </a:solidFill>
              </a:rPr>
              <a:t>• Candidate: </a:t>
            </a:r>
            <a:r>
              <a:rPr>
                <a:solidFill>
                  <a:srgbClr val="94A3B8"/>
                </a:solidFill>
              </a:rPr>
              <a:t>Shreyansh Uttam (22BCE10738)</a:t>
            </a:r>
          </a:p>
          <a:p>
            <a:pPr>
              <a:spcAft>
                <a:spcPts val="400"/>
              </a:spcAft>
              <a:defRPr sz="1000">
                <a:latin typeface="Segoe UI"/>
              </a:defRPr>
            </a:pPr>
            <a:r>
              <a:rPr b="1">
                <a:solidFill>
                  <a:srgbClr val="FFFFFF"/>
                </a:solidFill>
              </a:rPr>
              <a:t>• Program: </a:t>
            </a:r>
            <a:r>
              <a:rPr>
                <a:solidFill>
                  <a:srgbClr val="94A3B8"/>
                </a:solidFill>
              </a:rPr>
              <a:t>B.Tech Computer Science &amp; Engineering (AI &amp; ML)</a:t>
            </a:r>
          </a:p>
          <a:p>
            <a:pPr>
              <a:spcAft>
                <a:spcPts val="400"/>
              </a:spcAft>
              <a:defRPr sz="1000">
                <a:latin typeface="Segoe UI"/>
              </a:defRPr>
            </a:pPr>
            <a:r>
              <a:rPr b="1">
                <a:solidFill>
                  <a:srgbClr val="FFFFFF"/>
                </a:solidFill>
              </a:rPr>
              <a:t>• School: </a:t>
            </a:r>
            <a:r>
              <a:rPr>
                <a:solidFill>
                  <a:srgbClr val="94A3B8"/>
                </a:solidFill>
              </a:rPr>
              <a:t>School of Computing Science and Engineering (SCSE)</a:t>
            </a:r>
          </a:p>
          <a:p>
            <a:pPr>
              <a:spcAft>
                <a:spcPts val="400"/>
              </a:spcAft>
              <a:defRPr sz="1000">
                <a:latin typeface="Segoe UI"/>
              </a:defRPr>
            </a:pPr>
            <a:r>
              <a:rPr b="1">
                <a:solidFill>
                  <a:srgbClr val="FFFFFF"/>
                </a:solidFill>
              </a:rPr>
              <a:t>• Institution: </a:t>
            </a:r>
            <a:r>
              <a:rPr>
                <a:solidFill>
                  <a:srgbClr val="94A3B8"/>
                </a:solidFill>
              </a:rPr>
              <a:t>VIT Bhopal University, Madhya Pradesh</a:t>
            </a:r>
          </a:p>
          <a:p>
            <a:pPr>
              <a:spcAft>
                <a:spcPts val="400"/>
              </a:spcAft>
              <a:defRPr sz="1000">
                <a:latin typeface="Segoe UI"/>
              </a:defRPr>
            </a:pPr>
            <a:r>
              <a:rPr b="1">
                <a:solidFill>
                  <a:srgbClr val="FFFFFF"/>
                </a:solidFill>
              </a:rPr>
              <a:t>• Focus Area: </a:t>
            </a:r>
            <a:r>
              <a:rPr>
                <a:solidFill>
                  <a:srgbClr val="94A3B8"/>
                </a:solidFill>
              </a:rPr>
              <a:t>Operations Research, Machine Learning &amp; Digital Twins</a:t>
            </a:r>
          </a:p>
        </p:txBody>
      </p:sp>
      <p:pic>
        <p:nvPicPr>
          <p:cNvPr id="8" name="Picture 7" descr="12_decision_intelligence_loop.png"/>
          <p:cNvPicPr>
            <a:picLocks noChangeAspect="1"/>
          </p:cNvPicPr>
          <p:nvPr/>
        </p:nvPicPr>
        <p:blipFill>
          <a:blip r:embed="rId2"/>
          <a:stretch>
            <a:fillRect/>
          </a:stretch>
        </p:blipFill>
        <p:spPr>
          <a:xfrm>
            <a:off x="6400800" y="3291840"/>
            <a:ext cx="4663440" cy="2286000"/>
          </a:xfrm>
          <a:prstGeom prst="rect">
            <a:avLst/>
          </a:prstGeom>
        </p:spPr>
      </p:pic>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 of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[ 02 / 23  •  PROBLEM STATEMENT &amp; MOTIVATION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The Supply Chain Fragility Problem</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Modern multi-echelon supply networks suffer from fragmented data, delayed analysis, and rigid static contracts.</a:t>
            </a:r>
          </a:p>
        </p:txBody>
      </p:sp>
      <p:sp>
        <p:nvSpPr>
          <p:cNvPr id="5" name="Rounded Rectangle 4"/>
          <p:cNvSpPr/>
          <p:nvPr/>
        </p:nvSpPr>
        <p:spPr>
          <a:xfrm>
            <a:off x="731520" y="1600200"/>
            <a:ext cx="5120640" cy="4480560"/>
          </a:xfrm>
          <a:prstGeom prst="roundRect">
            <a:avLst/>
          </a:prstGeom>
          <a:solidFill>
            <a:srgbClr val="111D4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09928"/>
            <a:ext cx="4791456" cy="292608"/>
          </a:xfrm>
          <a:prstGeom prst="rect">
            <a:avLst/>
          </a:prstGeom>
          <a:noFill/>
        </p:spPr>
        <p:txBody>
          <a:bodyPr wrap="square" lIns="0" tIns="0" rIns="0" bIns="0">
            <a:spAutoFit/>
          </a:bodyPr>
          <a:lstStyle/>
          <a:p>
            <a:pPr>
              <a:defRPr sz="1100" b="1">
                <a:solidFill>
                  <a:srgbClr val="38BDF8"/>
                </a:solidFill>
                <a:latin typeface="Segoe UI"/>
              </a:defRPr>
            </a:pPr>
            <a:r>
              <a:t>TRADITIONAL DECISION BOTTLENECKS</a:t>
            </a:r>
          </a:p>
        </p:txBody>
      </p:sp>
      <p:sp>
        <p:nvSpPr>
          <p:cNvPr id="7" name="TextBox 6"/>
          <p:cNvSpPr txBox="1"/>
          <p:nvPr/>
        </p:nvSpPr>
        <p:spPr>
          <a:xfrm>
            <a:off x="914400" y="2011680"/>
            <a:ext cx="4754880" cy="3931920"/>
          </a:xfrm>
          <a:prstGeom prst="rect">
            <a:avLst/>
          </a:prstGeom>
          <a:noFill/>
        </p:spPr>
        <p:txBody>
          <a:bodyPr wrap="square">
            <a:spAutoFit/>
          </a:bodyPr>
          <a:lstStyle/>
          <a:p>
            <a:pPr>
              <a:spcAft>
                <a:spcPts val="600"/>
              </a:spcAft>
              <a:defRPr sz="950">
                <a:latin typeface="Segoe UI"/>
              </a:defRPr>
            </a:pPr>
            <a:r>
              <a:rPr b="1">
                <a:solidFill>
                  <a:srgbClr val="FFFFFF"/>
                </a:solidFill>
              </a:rPr>
              <a:t>• The Traditional Workflow: </a:t>
            </a:r>
            <a:r>
              <a:rPr>
                <a:solidFill>
                  <a:srgbClr val="94A3B8"/>
                </a:solidFill>
              </a:rPr>
              <a:t>Raw Data → Spreadsheets / Static ERP Reports → Manual Human Analysis → Delayed Decisions.</a:t>
            </a:r>
          </a:p>
          <a:p>
            <a:pPr>
              <a:spcAft>
                <a:spcPts val="600"/>
              </a:spcAft>
              <a:defRPr sz="950">
                <a:latin typeface="Segoe UI"/>
              </a:defRPr>
            </a:pPr>
            <a:r>
              <a:rPr b="1">
                <a:solidFill>
                  <a:srgbClr val="FFFFFF"/>
                </a:solidFill>
              </a:rPr>
              <a:t>• Demand Uncertainty &amp; Bullwhip Effect: </a:t>
            </a:r>
            <a:r>
              <a:rPr>
                <a:solidFill>
                  <a:srgbClr val="94A3B8"/>
                </a:solidFill>
              </a:rPr>
              <a:t>Small shifts in consumer velocity amplify upstream into massive order swings, causing stockouts or inventory glut.</a:t>
            </a:r>
          </a:p>
          <a:p>
            <a:pPr>
              <a:spcAft>
                <a:spcPts val="600"/>
              </a:spcAft>
              <a:defRPr sz="950">
                <a:latin typeface="Segoe UI"/>
              </a:defRPr>
            </a:pPr>
            <a:r>
              <a:rPr b="1">
                <a:solidFill>
                  <a:srgbClr val="FFFFFF"/>
                </a:solidFill>
              </a:rPr>
              <a:t>• Multi-Tier Blindspots: </a:t>
            </a:r>
            <a:r>
              <a:rPr>
                <a:solidFill>
                  <a:srgbClr val="94A3B8"/>
                </a:solidFill>
              </a:rPr>
              <a:t>Enterprises lack visibility past Tier-1 suppliers; Tier-2 subassembly failures trigger sudden production halts.</a:t>
            </a:r>
          </a:p>
          <a:p>
            <a:pPr>
              <a:spcAft>
                <a:spcPts val="600"/>
              </a:spcAft>
              <a:defRPr sz="950">
                <a:latin typeface="Segoe UI"/>
              </a:defRPr>
            </a:pPr>
            <a:r>
              <a:rPr b="1">
                <a:solidFill>
                  <a:srgbClr val="FFFFFF"/>
                </a:solidFill>
              </a:rPr>
              <a:t>• Rigid Single-Sourcing: </a:t>
            </a:r>
            <a:r>
              <a:rPr>
                <a:solidFill>
                  <a:srgbClr val="94A3B8"/>
                </a:solidFill>
              </a:rPr>
              <a:t>Fixed contracts prevent dynamic rerouting; when a primary vendor collapses, downstream facilities face immediate stockouts.</a:t>
            </a:r>
          </a:p>
          <a:p>
            <a:pPr>
              <a:spcAft>
                <a:spcPts val="600"/>
              </a:spcAft>
              <a:defRPr sz="950">
                <a:latin typeface="Segoe UI"/>
              </a:defRPr>
            </a:pPr>
            <a:r>
              <a:rPr b="1">
                <a:solidFill>
                  <a:srgbClr val="FFFFFF"/>
                </a:solidFill>
              </a:rPr>
              <a:t>• High Contractual Penalties: </a:t>
            </a:r>
            <a:r>
              <a:rPr>
                <a:solidFill>
                  <a:srgbClr val="94A3B8"/>
                </a:solidFill>
              </a:rPr>
              <a:t>Unmitigated stockouts accumulate steep contractual SLA breach fees (e.g. INR 350 per unmet unit).</a:t>
            </a:r>
          </a:p>
          <a:p>
            <a:pPr>
              <a:spcAft>
                <a:spcPts val="600"/>
              </a:spcAft>
              <a:defRPr sz="950">
                <a:latin typeface="Segoe UI"/>
              </a:defRPr>
            </a:pPr>
            <a:r>
              <a:rPr b="1">
                <a:solidFill>
                  <a:srgbClr val="FFFFFF"/>
                </a:solidFill>
              </a:rPr>
              <a:t>• Disconnected Systems: </a:t>
            </a:r>
            <a:r>
              <a:rPr>
                <a:solidFill>
                  <a:srgbClr val="94A3B8"/>
                </a:solidFill>
              </a:rPr>
              <a:t>Forecasting, inventory, and logistics exist in separate silos without an automated closed-loop feedback engine.</a:t>
            </a:r>
          </a:p>
        </p:txBody>
      </p:sp>
      <p:sp>
        <p:nvSpPr>
          <p:cNvPr id="8" name="Rounded Rectangle 7"/>
          <p:cNvSpPr/>
          <p:nvPr/>
        </p:nvSpPr>
        <p:spPr>
          <a:xfrm>
            <a:off x="6126480" y="1600200"/>
            <a:ext cx="5333695" cy="4480560"/>
          </a:xfrm>
          <a:prstGeom prst="roundRect">
            <a:avLst/>
          </a:prstGeom>
          <a:solidFill>
            <a:srgbClr val="111D4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1072" y="1709928"/>
            <a:ext cx="5004511" cy="292608"/>
          </a:xfrm>
          <a:prstGeom prst="rect">
            <a:avLst/>
          </a:prstGeom>
          <a:noFill/>
        </p:spPr>
        <p:txBody>
          <a:bodyPr wrap="square" lIns="0" tIns="0" rIns="0" bIns="0">
            <a:spAutoFit/>
          </a:bodyPr>
          <a:lstStyle/>
          <a:p>
            <a:pPr>
              <a:defRPr sz="1100" b="1">
                <a:solidFill>
                  <a:srgbClr val="38BDF8"/>
                </a:solidFill>
                <a:latin typeface="Segoe UI"/>
              </a:defRPr>
            </a:pPr>
            <a:r>
              <a:t>DISRUPTION CASCADE &amp; THE CORE NEED</a:t>
            </a:r>
          </a:p>
        </p:txBody>
      </p:sp>
      <p:pic>
        <p:nvPicPr>
          <p:cNvPr id="10" name="Picture 9" descr="slide_impact_propagation.png"/>
          <p:cNvPicPr>
            <a:picLocks noChangeAspect="1"/>
          </p:cNvPicPr>
          <p:nvPr/>
        </p:nvPicPr>
        <p:blipFill>
          <a:blip r:embed="rId2"/>
          <a:stretch>
            <a:fillRect/>
          </a:stretch>
        </p:blipFill>
        <p:spPr>
          <a:xfrm>
            <a:off x="6309360" y="2011680"/>
            <a:ext cx="4937760" cy="2377440"/>
          </a:xfrm>
          <a:prstGeom prst="rect">
            <a:avLst/>
          </a:prstGeom>
        </p:spPr>
      </p:pic>
      <p:sp>
        <p:nvSpPr>
          <p:cNvPr id="11" name="TextBox 10"/>
          <p:cNvSpPr txBox="1"/>
          <p:nvPr/>
        </p:nvSpPr>
        <p:spPr>
          <a:xfrm>
            <a:off x="6309360" y="4480560"/>
            <a:ext cx="4937760" cy="1463040"/>
          </a:xfrm>
          <a:prstGeom prst="rect">
            <a:avLst/>
          </a:prstGeom>
          <a:noFill/>
        </p:spPr>
        <p:txBody>
          <a:bodyPr wrap="square">
            <a:spAutoFit/>
          </a:bodyPr>
          <a:lstStyle/>
          <a:p>
            <a:pPr>
              <a:defRPr sz="1050" b="1">
                <a:solidFill>
                  <a:srgbClr val="38BDF8"/>
                </a:solidFill>
                <a:latin typeface="Segoe UI"/>
              </a:defRPr>
            </a:pPr>
            <a:r>
              <a:t>THE ENGINEERING NEED:</a:t>
            </a:r>
          </a:p>
          <a:p>
            <a:pPr>
              <a:spcBef>
                <a:spcPts val="300"/>
              </a:spcBef>
              <a:defRPr sz="950">
                <a:solidFill>
                  <a:srgbClr val="FFFFFF"/>
                </a:solidFill>
                <a:latin typeface="Segoe UI"/>
              </a:defRPr>
            </a:pPr>
            <a:r>
              <a:t>A unified decision intelligence platform that transitions supply chain management from reactive firefighting to automated, mathematically proven mitigation before stockouts materialize.</a:t>
            </a:r>
          </a:p>
        </p:txBody>
      </p:sp>
      <p:sp>
        <p:nvSpPr>
          <p:cNvPr id="12" name="TextBox 11"/>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2 of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[ 03 / 23  •  CORE VALUE PROPOSITION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From Monitoring to Decision — The Closed Loop</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NEXUS unifies monitoring, machine learning, graph analysis, simulation, and optimization into a single automated pipeline.</a:t>
            </a:r>
          </a:p>
        </p:txBody>
      </p:sp>
      <p:pic>
        <p:nvPicPr>
          <p:cNvPr id="5" name="Picture 4" descr="slide_closed_loop_flow.png"/>
          <p:cNvPicPr>
            <a:picLocks noChangeAspect="1"/>
          </p:cNvPicPr>
          <p:nvPr/>
        </p:nvPicPr>
        <p:blipFill>
          <a:blip r:embed="rId2"/>
          <a:stretch>
            <a:fillRect/>
          </a:stretch>
        </p:blipFill>
        <p:spPr>
          <a:xfrm>
            <a:off x="731520" y="1600200"/>
            <a:ext cx="10728655" cy="2148840"/>
          </a:xfrm>
          <a:prstGeom prst="rect">
            <a:avLst/>
          </a:prstGeom>
        </p:spPr>
      </p:pic>
      <p:sp>
        <p:nvSpPr>
          <p:cNvPr id="6" name="Rounded Rectangle 5"/>
          <p:cNvSpPr/>
          <p:nvPr/>
        </p:nvSpPr>
        <p:spPr>
          <a:xfrm>
            <a:off x="731520" y="3931920"/>
            <a:ext cx="1691640" cy="237744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023360"/>
            <a:ext cx="1508760" cy="2194560"/>
          </a:xfrm>
          <a:prstGeom prst="rect">
            <a:avLst/>
          </a:prstGeom>
          <a:noFill/>
        </p:spPr>
        <p:txBody>
          <a:bodyPr wrap="square">
            <a:spAutoFit/>
          </a:bodyPr>
          <a:lstStyle/>
          <a:p>
            <a:pPr>
              <a:defRPr sz="1000" b="1">
                <a:solidFill>
                  <a:srgbClr val="38BDF8"/>
                </a:solidFill>
                <a:latin typeface="Segoe UI"/>
              </a:defRPr>
            </a:pPr>
            <a:r>
              <a:t>1. MONITOR</a:t>
            </a:r>
          </a:p>
          <a:p>
            <a:pPr>
              <a:spcBef>
                <a:spcPts val="200"/>
              </a:spcBef>
              <a:defRPr sz="850" b="1">
                <a:solidFill>
                  <a:srgbClr val="FFFFFF"/>
                </a:solidFill>
                <a:latin typeface="Segoe UI"/>
              </a:defRPr>
            </a:pPr>
            <a:r>
              <a:t>Digital Twin State</a:t>
            </a:r>
          </a:p>
          <a:p>
            <a:pPr>
              <a:spcBef>
                <a:spcPts val="400"/>
              </a:spcBef>
              <a:defRPr sz="800">
                <a:solidFill>
                  <a:srgbClr val="94A3B8"/>
                </a:solidFill>
                <a:latin typeface="Segoe UI"/>
              </a:defRPr>
            </a:pPr>
            <a:r>
              <a:t>Real-time telemetry across 83 nodes, tracking inventory valuation and corridor transit status.</a:t>
            </a:r>
          </a:p>
        </p:txBody>
      </p:sp>
      <p:sp>
        <p:nvSpPr>
          <p:cNvPr id="8" name="Rounded Rectangle 7"/>
          <p:cNvSpPr/>
          <p:nvPr/>
        </p:nvSpPr>
        <p:spPr>
          <a:xfrm>
            <a:off x="2532888" y="3931920"/>
            <a:ext cx="1691640" cy="2377440"/>
          </a:xfrm>
          <a:prstGeom prst="roundRect">
            <a:avLst/>
          </a:prstGeom>
          <a:solidFill>
            <a:srgbClr val="111D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24328" y="4023360"/>
            <a:ext cx="1508760" cy="2194560"/>
          </a:xfrm>
          <a:prstGeom prst="rect">
            <a:avLst/>
          </a:prstGeom>
          <a:noFill/>
        </p:spPr>
        <p:txBody>
          <a:bodyPr wrap="square">
            <a:spAutoFit/>
          </a:bodyPr>
          <a:lstStyle/>
          <a:p>
            <a:pPr>
              <a:defRPr sz="1000" b="1">
                <a:solidFill>
                  <a:srgbClr val="06B6D4"/>
                </a:solidFill>
                <a:latin typeface="Segoe UI"/>
              </a:defRPr>
            </a:pPr>
            <a:r>
              <a:t>2. PREDICT</a:t>
            </a:r>
          </a:p>
          <a:p>
            <a:pPr>
              <a:spcBef>
                <a:spcPts val="200"/>
              </a:spcBef>
              <a:defRPr sz="850" b="1">
                <a:solidFill>
                  <a:srgbClr val="FFFFFF"/>
                </a:solidFill>
                <a:latin typeface="Segoe UI"/>
              </a:defRPr>
            </a:pPr>
            <a:r>
              <a:t>Predictive Analytics</a:t>
            </a:r>
          </a:p>
          <a:p>
            <a:pPr>
              <a:spcBef>
                <a:spcPts val="400"/>
              </a:spcBef>
              <a:defRPr sz="800">
                <a:solidFill>
                  <a:srgbClr val="94A3B8"/>
                </a:solidFill>
                <a:latin typeface="Segoe UI"/>
              </a:defRPr>
            </a:pPr>
            <a:r>
              <a:t>XGBoost Regressor for multi-step demand and XGBoost Classifier for supplier failure probability.</a:t>
            </a:r>
          </a:p>
        </p:txBody>
      </p:sp>
      <p:sp>
        <p:nvSpPr>
          <p:cNvPr id="10" name="Rounded Rectangle 9"/>
          <p:cNvSpPr/>
          <p:nvPr/>
        </p:nvSpPr>
        <p:spPr>
          <a:xfrm>
            <a:off x="4334256" y="3931920"/>
            <a:ext cx="1691640" cy="2377440"/>
          </a:xfrm>
          <a:prstGeom prst="roundRect">
            <a:avLst/>
          </a:prstGeom>
          <a:solidFill>
            <a:srgbClr val="111D4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4023360"/>
            <a:ext cx="1508760" cy="2194560"/>
          </a:xfrm>
          <a:prstGeom prst="rect">
            <a:avLst/>
          </a:prstGeom>
          <a:noFill/>
        </p:spPr>
        <p:txBody>
          <a:bodyPr wrap="square">
            <a:spAutoFit/>
          </a:bodyPr>
          <a:lstStyle/>
          <a:p>
            <a:pPr>
              <a:defRPr sz="1000" b="1">
                <a:solidFill>
                  <a:srgbClr val="818CF8"/>
                </a:solidFill>
                <a:latin typeface="Segoe UI"/>
              </a:defRPr>
            </a:pPr>
            <a:r>
              <a:t>3. ANALYZE IMPACT</a:t>
            </a:r>
          </a:p>
          <a:p>
            <a:pPr>
              <a:spcBef>
                <a:spcPts val="200"/>
              </a:spcBef>
              <a:defRPr sz="850" b="1">
                <a:solidFill>
                  <a:srgbClr val="FFFFFF"/>
                </a:solidFill>
                <a:latin typeface="Segoe UI"/>
              </a:defRPr>
            </a:pPr>
            <a:r>
              <a:t>Graph Propagation</a:t>
            </a:r>
          </a:p>
          <a:p>
            <a:pPr>
              <a:spcBef>
                <a:spcPts val="400"/>
              </a:spcBef>
              <a:defRPr sz="800">
                <a:solidFill>
                  <a:srgbClr val="94A3B8"/>
                </a:solidFill>
                <a:latin typeface="Segoe UI"/>
              </a:defRPr>
            </a:pPr>
            <a:r>
              <a:t>NetworkX directed graph BFS tracing downstream dependency paths and stock runway days.</a:t>
            </a:r>
          </a:p>
        </p:txBody>
      </p:sp>
      <p:sp>
        <p:nvSpPr>
          <p:cNvPr id="12" name="Rounded Rectangle 11"/>
          <p:cNvSpPr/>
          <p:nvPr/>
        </p:nvSpPr>
        <p:spPr>
          <a:xfrm>
            <a:off x="6135624" y="3931920"/>
            <a:ext cx="1691640" cy="237744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7064" y="4023360"/>
            <a:ext cx="1508760" cy="2194560"/>
          </a:xfrm>
          <a:prstGeom prst="rect">
            <a:avLst/>
          </a:prstGeom>
          <a:noFill/>
        </p:spPr>
        <p:txBody>
          <a:bodyPr wrap="square">
            <a:spAutoFit/>
          </a:bodyPr>
          <a:lstStyle/>
          <a:p>
            <a:pPr>
              <a:defRPr sz="1000" b="1">
                <a:solidFill>
                  <a:srgbClr val="F59E0B"/>
                </a:solidFill>
                <a:latin typeface="Segoe UI"/>
              </a:defRPr>
            </a:pPr>
            <a:r>
              <a:t>4. SIMULATE</a:t>
            </a:r>
          </a:p>
          <a:p>
            <a:pPr>
              <a:spcBef>
                <a:spcPts val="200"/>
              </a:spcBef>
              <a:defRPr sz="850" b="1">
                <a:solidFill>
                  <a:srgbClr val="FFFFFF"/>
                </a:solidFill>
                <a:latin typeface="Segoe UI"/>
              </a:defRPr>
            </a:pPr>
            <a:r>
              <a:t>What-If Stress Testing</a:t>
            </a:r>
          </a:p>
          <a:p>
            <a:pPr>
              <a:spcBef>
                <a:spcPts val="400"/>
              </a:spcBef>
              <a:defRPr sz="800">
                <a:solidFill>
                  <a:srgbClr val="94A3B8"/>
                </a:solidFill>
                <a:latin typeface="Segoe UI"/>
              </a:defRPr>
            </a:pPr>
            <a:r>
              <a:t>Non-destructive in-memory state shock cloning supporting 5 distinct operational disruption modes.</a:t>
            </a:r>
          </a:p>
        </p:txBody>
      </p:sp>
      <p:sp>
        <p:nvSpPr>
          <p:cNvPr id="14" name="Rounded Rectangle 13"/>
          <p:cNvSpPr/>
          <p:nvPr/>
        </p:nvSpPr>
        <p:spPr>
          <a:xfrm>
            <a:off x="7936992" y="3931920"/>
            <a:ext cx="1691640" cy="237744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8432" y="4023360"/>
            <a:ext cx="1508760" cy="2194560"/>
          </a:xfrm>
          <a:prstGeom prst="rect">
            <a:avLst/>
          </a:prstGeom>
          <a:noFill/>
        </p:spPr>
        <p:txBody>
          <a:bodyPr wrap="square">
            <a:spAutoFit/>
          </a:bodyPr>
          <a:lstStyle/>
          <a:p>
            <a:pPr>
              <a:defRPr sz="1000" b="1">
                <a:solidFill>
                  <a:srgbClr val="10B981"/>
                </a:solidFill>
                <a:latin typeface="Segoe UI"/>
              </a:defRPr>
            </a:pPr>
            <a:r>
              <a:t>5. OPTIMIZE</a:t>
            </a:r>
          </a:p>
          <a:p>
            <a:pPr>
              <a:spcBef>
                <a:spcPts val="200"/>
              </a:spcBef>
              <a:defRPr sz="850" b="1">
                <a:solidFill>
                  <a:srgbClr val="FFFFFF"/>
                </a:solidFill>
                <a:latin typeface="Segoe UI"/>
              </a:defRPr>
            </a:pPr>
            <a:r>
              <a:t>Google OR-Tools</a:t>
            </a:r>
          </a:p>
          <a:p>
            <a:pPr>
              <a:spcBef>
                <a:spcPts val="400"/>
              </a:spcBef>
              <a:defRPr sz="800">
                <a:solidFill>
                  <a:srgbClr val="94A3B8"/>
                </a:solidFill>
                <a:latin typeface="Segoe UI"/>
              </a:defRPr>
            </a:pPr>
            <a:r>
              <a:t>Global multi-echelon linear program minimizing procurement, freight, holding, and penalty costs.</a:t>
            </a:r>
          </a:p>
        </p:txBody>
      </p:sp>
      <p:sp>
        <p:nvSpPr>
          <p:cNvPr id="16" name="Rounded Rectangle 15"/>
          <p:cNvSpPr/>
          <p:nvPr/>
        </p:nvSpPr>
        <p:spPr>
          <a:xfrm>
            <a:off x="9738360" y="3931920"/>
            <a:ext cx="1691640" cy="237744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29800" y="4023360"/>
            <a:ext cx="1508760" cy="2194560"/>
          </a:xfrm>
          <a:prstGeom prst="rect">
            <a:avLst/>
          </a:prstGeom>
          <a:noFill/>
        </p:spPr>
        <p:txBody>
          <a:bodyPr wrap="square">
            <a:spAutoFit/>
          </a:bodyPr>
          <a:lstStyle/>
          <a:p>
            <a:pPr>
              <a:defRPr sz="1000" b="1">
                <a:solidFill>
                  <a:srgbClr val="38BDF8"/>
                </a:solidFill>
                <a:latin typeface="Segoe UI"/>
              </a:defRPr>
            </a:pPr>
            <a:r>
              <a:t>6. RECOMMEND</a:t>
            </a:r>
          </a:p>
          <a:p>
            <a:pPr>
              <a:spcBef>
                <a:spcPts val="200"/>
              </a:spcBef>
              <a:defRPr sz="850" b="1">
                <a:solidFill>
                  <a:srgbClr val="FFFFFF"/>
                </a:solidFill>
                <a:latin typeface="Segoe UI"/>
              </a:defRPr>
            </a:pPr>
            <a:r>
              <a:t>Actionable Directives</a:t>
            </a:r>
          </a:p>
          <a:p>
            <a:pPr>
              <a:spcBef>
                <a:spcPts val="400"/>
              </a:spcBef>
              <a:defRPr sz="800">
                <a:solidFill>
                  <a:srgbClr val="94A3B8"/>
                </a:solidFill>
                <a:latin typeface="Segoe UI"/>
              </a:defRPr>
            </a:pPr>
            <a:r>
              <a:t>Automated synthesis of plain-language executive directives with LP Plan Robustness scoring.</a:t>
            </a:r>
          </a:p>
        </p:txBody>
      </p:sp>
      <p:sp>
        <p:nvSpPr>
          <p:cNvPr id="18" name="TextBox 17"/>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3 of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[ 04 / 23  •  SYSTEM ARCHITECTURE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How NEXUS Works — End-to-End Architecture</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A decoupled, seven-layer engineering architecture connecting empirical datasets, ML pipelines, optimization, and React UI.</a:t>
            </a:r>
          </a:p>
        </p:txBody>
      </p:sp>
      <p:pic>
        <p:nvPicPr>
          <p:cNvPr id="5" name="Picture 4" descr="11_system_architecture_diagram.png"/>
          <p:cNvPicPr>
            <a:picLocks noChangeAspect="1"/>
          </p:cNvPicPr>
          <p:nvPr/>
        </p:nvPicPr>
        <p:blipFill>
          <a:blip r:embed="rId2"/>
          <a:stretch>
            <a:fillRect/>
          </a:stretch>
        </p:blipFill>
        <p:spPr>
          <a:xfrm>
            <a:off x="731520" y="1600200"/>
            <a:ext cx="5120640" cy="4480560"/>
          </a:xfrm>
          <a:prstGeom prst="rect">
            <a:avLst/>
          </a:prstGeom>
        </p:spPr>
      </p:pic>
      <p:sp>
        <p:nvSpPr>
          <p:cNvPr id="6" name="Rounded Rectangle 5"/>
          <p:cNvSpPr/>
          <p:nvPr/>
        </p:nvSpPr>
        <p:spPr>
          <a:xfrm>
            <a:off x="6035040" y="1600200"/>
            <a:ext cx="5425135" cy="4480560"/>
          </a:xfrm>
          <a:prstGeom prst="roundRect">
            <a:avLst/>
          </a:prstGeom>
          <a:solidFill>
            <a:srgbClr val="111D4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99632" y="1709928"/>
            <a:ext cx="5095951" cy="292608"/>
          </a:xfrm>
          <a:prstGeom prst="rect">
            <a:avLst/>
          </a:prstGeom>
          <a:noFill/>
        </p:spPr>
        <p:txBody>
          <a:bodyPr wrap="square" lIns="0" tIns="0" rIns="0" bIns="0">
            <a:spAutoFit/>
          </a:bodyPr>
          <a:lstStyle/>
          <a:p>
            <a:pPr>
              <a:defRPr sz="1100" b="1">
                <a:solidFill>
                  <a:srgbClr val="38BDF8"/>
                </a:solidFill>
                <a:latin typeface="Segoe UI"/>
              </a:defRPr>
            </a:pPr>
            <a:r>
              <a:t>SEVEN-LAYER DECOUPLED STACK</a:t>
            </a:r>
          </a:p>
        </p:txBody>
      </p:sp>
      <p:sp>
        <p:nvSpPr>
          <p:cNvPr id="8" name="TextBox 7"/>
          <p:cNvSpPr txBox="1"/>
          <p:nvPr/>
        </p:nvSpPr>
        <p:spPr>
          <a:xfrm>
            <a:off x="6217920" y="1965960"/>
            <a:ext cx="5029200" cy="4023360"/>
          </a:xfrm>
          <a:prstGeom prst="rect">
            <a:avLst/>
          </a:prstGeom>
          <a:noFill/>
        </p:spPr>
        <p:txBody>
          <a:bodyPr wrap="square">
            <a:spAutoFit/>
          </a:bodyPr>
          <a:lstStyle/>
          <a:p>
            <a:pPr>
              <a:spcAft>
                <a:spcPts val="450"/>
              </a:spcAft>
              <a:defRPr sz="900">
                <a:latin typeface="Segoe UI"/>
              </a:defRPr>
            </a:pPr>
            <a:r>
              <a:rPr b="1">
                <a:solidFill>
                  <a:srgbClr val="FFFFFF"/>
                </a:solidFill>
              </a:rPr>
              <a:t>• Layer 1: Ingestion &amp; Provenance: </a:t>
            </a:r>
            <a:r>
              <a:rPr>
                <a:solidFill>
                  <a:srgbClr val="94A3B8"/>
                </a:solidFill>
              </a:rPr>
              <a:t>Walmart sales (421k rows), DataCo shipments (35k rows), and Indian hub geodesy.</a:t>
            </a:r>
          </a:p>
          <a:p>
            <a:pPr>
              <a:spcAft>
                <a:spcPts val="450"/>
              </a:spcAft>
              <a:defRPr sz="900">
                <a:latin typeface="Segoe UI"/>
              </a:defRPr>
            </a:pPr>
            <a:r>
              <a:rPr b="1">
                <a:solidFill>
                  <a:srgbClr val="FFFFFF"/>
                </a:solidFill>
              </a:rPr>
              <a:t>• Layer 2: Preprocessing &amp; Validation: </a:t>
            </a:r>
            <a:r>
              <a:rPr>
                <a:solidFill>
                  <a:srgbClr val="94A3B8"/>
                </a:solidFill>
              </a:rPr>
              <a:t>Strict Pydantic v2 schemas, Parquet serialization, and 14-lag feature engineering.</a:t>
            </a:r>
          </a:p>
          <a:p>
            <a:pPr>
              <a:spcAft>
                <a:spcPts val="450"/>
              </a:spcAft>
              <a:defRPr sz="900">
                <a:latin typeface="Segoe UI"/>
              </a:defRPr>
            </a:pPr>
            <a:r>
              <a:rPr b="1">
                <a:solidFill>
                  <a:srgbClr val="FFFFFF"/>
                </a:solidFill>
              </a:rPr>
              <a:t>• Layer 3: Relational Persistence: </a:t>
            </a:r>
            <a:r>
              <a:rPr>
                <a:solidFill>
                  <a:srgbClr val="94A3B8"/>
                </a:solidFill>
              </a:rPr>
              <a:t>SQLite 3 database (14 tables, 50k orders, 500 inventory items, PostgreSQL DDL ready).</a:t>
            </a:r>
          </a:p>
          <a:p>
            <a:pPr>
              <a:spcAft>
                <a:spcPts val="450"/>
              </a:spcAft>
              <a:defRPr sz="900">
                <a:latin typeface="Segoe UI"/>
              </a:defRPr>
            </a:pPr>
            <a:r>
              <a:rPr b="1">
                <a:solidFill>
                  <a:srgbClr val="FFFFFF"/>
                </a:solidFill>
              </a:rPr>
              <a:t>• Layer 4: Machine Learning &amp; Analytics: </a:t>
            </a:r>
            <a:r>
              <a:rPr>
                <a:solidFill>
                  <a:srgbClr val="94A3B8"/>
                </a:solidFill>
              </a:rPr>
              <a:t>XGBoost Regressor, XGBoost Risk Classifier, and Isolation Forest anomaly detector.</a:t>
            </a:r>
          </a:p>
          <a:p>
            <a:pPr>
              <a:spcAft>
                <a:spcPts val="450"/>
              </a:spcAft>
              <a:defRPr sz="900">
                <a:latin typeface="Segoe UI"/>
              </a:defRPr>
            </a:pPr>
            <a:r>
              <a:rPr b="1">
                <a:solidFill>
                  <a:srgbClr val="FFFFFF"/>
                </a:solidFill>
              </a:rPr>
              <a:t>• Layer 5: Graph &amp; Simulation Engine: </a:t>
            </a:r>
            <a:r>
              <a:rPr>
                <a:solidFill>
                  <a:srgbClr val="94A3B8"/>
                </a:solidFill>
              </a:rPr>
              <a:t>NetworkX multi-echelon directed graph (BFS cascade) and in-memory copy-on-write ScenarioEngine.</a:t>
            </a:r>
          </a:p>
          <a:p>
            <a:pPr>
              <a:spcAft>
                <a:spcPts val="450"/>
              </a:spcAft>
              <a:defRPr sz="900">
                <a:latin typeface="Segoe UI"/>
              </a:defRPr>
            </a:pPr>
            <a:r>
              <a:rPr b="1">
                <a:solidFill>
                  <a:srgbClr val="FFFFFF"/>
                </a:solidFill>
              </a:rPr>
              <a:t>• Layer 6: Operations Research: </a:t>
            </a:r>
            <a:r>
              <a:rPr>
                <a:solidFill>
                  <a:srgbClr val="94A3B8"/>
                </a:solidFill>
              </a:rPr>
              <a:t>Google OR-Tools GLOP linear solver enforcing multi-echelon flow, capacity, and demand satisfaction.</a:t>
            </a:r>
          </a:p>
          <a:p>
            <a:pPr>
              <a:spcAft>
                <a:spcPts val="450"/>
              </a:spcAft>
              <a:defRPr sz="900">
                <a:latin typeface="Segoe UI"/>
              </a:defRPr>
            </a:pPr>
            <a:r>
              <a:rPr b="1">
                <a:solidFill>
                  <a:srgbClr val="FFFFFF"/>
                </a:solidFill>
              </a:rPr>
              <a:t>• Layer 7: Presentation &amp; Control Room: </a:t>
            </a:r>
            <a:r>
              <a:rPr>
                <a:solidFill>
                  <a:srgbClr val="94A3B8"/>
                </a:solidFill>
              </a:rPr>
              <a:t>FastAPI (20 REST endpoints) driving a modern React 19 TypeScript control room.</a:t>
            </a:r>
          </a:p>
        </p:txBody>
      </p:sp>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4 of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[ 05 / 23  •  DATA FOUNDATION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Data Foundation — Empirical vs Simulated Data</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NEXUS combines real-world empirical time-series and shipment records with a calibrated synthetic digital twin.</a:t>
            </a:r>
          </a:p>
        </p:txBody>
      </p:sp>
      <p:graphicFrame>
        <p:nvGraphicFramePr>
          <p:cNvPr id="5" name="Table 4"/>
          <p:cNvGraphicFramePr>
            <a:graphicFrameLocks noGrp="1"/>
          </p:cNvGraphicFramePr>
          <p:nvPr/>
        </p:nvGraphicFramePr>
        <p:xfrm>
          <a:off x="731520" y="1645920"/>
          <a:ext cx="10728655" cy="2377440"/>
        </p:xfrm>
        <a:graphic>
          <a:graphicData uri="http://schemas.openxmlformats.org/drawingml/2006/table">
            <a:tbl>
              <a:tblPr firstRow="1" bandRow="1">
                <a:tableStyleId>{5C22544A-7EE6-4342-B048-85BDC9FD1C3A}</a:tableStyleId>
              </a:tblPr>
              <a:tblGrid>
                <a:gridCol w="2194560"/>
                <a:gridCol w="1828800"/>
                <a:gridCol w="3291840"/>
                <a:gridCol w="3413455"/>
              </a:tblGrid>
              <a:tr h="594360">
                <a:tc>
                  <a:txBody>
                    <a:bodyPr wrap="square" lIns="73152" rIns="73152"/>
                    <a:lstStyle/>
                    <a:p>
                      <a:pPr>
                        <a:defRPr sz="950" b="1">
                          <a:solidFill>
                            <a:srgbClr val="FFFFFF"/>
                          </a:solidFill>
                          <a:latin typeface="Segoe UI"/>
                        </a:defRPr>
                      </a:pPr>
                      <a:r>
                        <a:t>Dataset Source</a:t>
                      </a:r>
                    </a:p>
                  </a:txBody>
                  <a:tcPr>
                    <a:solidFill>
                      <a:srgbClr val="1E3A8A"/>
                    </a:solidFill>
                  </a:tcPr>
                </a:tc>
                <a:tc>
                  <a:txBody>
                    <a:bodyPr wrap="square" lIns="73152" rIns="73152"/>
                    <a:lstStyle/>
                    <a:p>
                      <a:pPr>
                        <a:defRPr sz="950" b="1">
                          <a:solidFill>
                            <a:srgbClr val="FFFFFF"/>
                          </a:solidFill>
                          <a:latin typeface="Segoe UI"/>
                        </a:defRPr>
                      </a:pPr>
                      <a:r>
                        <a:t>Nature of Data</a:t>
                      </a:r>
                    </a:p>
                  </a:txBody>
                  <a:tcPr>
                    <a:solidFill>
                      <a:srgbClr val="1E3A8A"/>
                    </a:solidFill>
                  </a:tcPr>
                </a:tc>
                <a:tc>
                  <a:txBody>
                    <a:bodyPr wrap="square" lIns="73152" rIns="73152"/>
                    <a:lstStyle/>
                    <a:p>
                      <a:pPr>
                        <a:defRPr sz="950" b="1">
                          <a:solidFill>
                            <a:srgbClr val="FFFFFF"/>
                          </a:solidFill>
                          <a:latin typeface="Segoe UI"/>
                        </a:defRPr>
                      </a:pPr>
                      <a:r>
                        <a:t>Verified Volume / Scope</a:t>
                      </a:r>
                    </a:p>
                  </a:txBody>
                  <a:tcPr>
                    <a:solidFill>
                      <a:srgbClr val="1E3A8A"/>
                    </a:solidFill>
                  </a:tcPr>
                </a:tc>
                <a:tc>
                  <a:txBody>
                    <a:bodyPr wrap="square" lIns="73152" rIns="73152"/>
                    <a:lstStyle/>
                    <a:p>
                      <a:pPr>
                        <a:defRPr sz="950" b="1">
                          <a:solidFill>
                            <a:srgbClr val="FFFFFF"/>
                          </a:solidFill>
                          <a:latin typeface="Segoe UI"/>
                        </a:defRPr>
                      </a:pPr>
                      <a:r>
                        <a:t>Target Analytical Purpose in NEXUS</a:t>
                      </a:r>
                    </a:p>
                  </a:txBody>
                  <a:tcPr>
                    <a:solidFill>
                      <a:srgbClr val="1E3A8A"/>
                    </a:solidFill>
                  </a:tcPr>
                </a:tc>
              </a:tr>
              <a:tr h="594360">
                <a:tc>
                  <a:txBody>
                    <a:bodyPr wrap="square" lIns="73152" rIns="73152" tIns="36576" bIns="36576"/>
                    <a:lstStyle/>
                    <a:p>
                      <a:pPr>
                        <a:defRPr sz="850">
                          <a:solidFill>
                            <a:srgbClr val="FFFFFF"/>
                          </a:solidFill>
                          <a:latin typeface="Segoe UI"/>
                        </a:defRPr>
                      </a:pPr>
                      <a:r>
                        <a:t>Walmart Store Sales</a:t>
                      </a:r>
                    </a:p>
                  </a:txBody>
                  <a:tcPr>
                    <a:solidFill>
                      <a:srgbClr val="111D4A"/>
                    </a:solidFill>
                  </a:tcPr>
                </a:tc>
                <a:tc>
                  <a:txBody>
                    <a:bodyPr wrap="square" lIns="73152" rIns="73152" tIns="36576" bIns="36576"/>
                    <a:lstStyle/>
                    <a:p>
                      <a:pPr>
                        <a:defRPr sz="850">
                          <a:solidFill>
                            <a:srgbClr val="94A3B8"/>
                          </a:solidFill>
                          <a:latin typeface="Segoe UI"/>
                        </a:defRPr>
                      </a:pPr>
                      <a:r>
                        <a:t>Public Empirical</a:t>
                      </a:r>
                      <a:br/>
                      <a:r>
                        <a:t>(Kaggle Research)</a:t>
                      </a:r>
                    </a:p>
                  </a:txBody>
                  <a:tcPr>
                    <a:solidFill>
                      <a:srgbClr val="111D4A"/>
                    </a:solidFill>
                  </a:tcPr>
                </a:tc>
                <a:tc>
                  <a:txBody>
                    <a:bodyPr wrap="square" lIns="73152" rIns="73152" tIns="36576" bIns="36576"/>
                    <a:lstStyle/>
                    <a:p>
                      <a:pPr>
                        <a:defRPr sz="850">
                          <a:solidFill>
                            <a:srgbClr val="94A3B8"/>
                          </a:solidFill>
                          <a:latin typeface="Segoe UI"/>
                        </a:defRPr>
                      </a:pPr>
                      <a:r>
                        <a:t>421,570 weekly historical records</a:t>
                      </a:r>
                      <a:br/>
                      <a:r>
                        <a:t>45 stores, 81 depts, 2.5+ years horizon</a:t>
                      </a:r>
                    </a:p>
                  </a:txBody>
                  <a:tcPr>
                    <a:solidFill>
                      <a:srgbClr val="111D4A"/>
                    </a:solidFill>
                  </a:tcPr>
                </a:tc>
                <a:tc>
                  <a:txBody>
                    <a:bodyPr wrap="square" lIns="73152" rIns="73152" tIns="36576" bIns="36576"/>
                    <a:lstStyle/>
                    <a:p>
                      <a:pPr>
                        <a:defRPr sz="850">
                          <a:solidFill>
                            <a:srgbClr val="94A3B8"/>
                          </a:solidFill>
                          <a:latin typeface="Segoe UI"/>
                        </a:defRPr>
                      </a:pPr>
                      <a:r>
                        <a:t>Multi-step weekly demand forecasting,</a:t>
                      </a:r>
                      <a:br/>
                      <a:r>
                        <a:t>autoregressive lags, calendar seasonality</a:t>
                      </a:r>
                    </a:p>
                  </a:txBody>
                  <a:tcPr>
                    <a:solidFill>
                      <a:srgbClr val="111D4A"/>
                    </a:solidFill>
                  </a:tcPr>
                </a:tc>
              </a:tr>
              <a:tr h="594360">
                <a:tc>
                  <a:txBody>
                    <a:bodyPr wrap="square" lIns="73152" rIns="73152" tIns="36576" bIns="36576"/>
                    <a:lstStyle/>
                    <a:p>
                      <a:pPr>
                        <a:defRPr sz="850">
                          <a:solidFill>
                            <a:srgbClr val="FFFFFF"/>
                          </a:solidFill>
                          <a:latin typeface="Segoe UI"/>
                        </a:defRPr>
                      </a:pPr>
                      <a:r>
                        <a:t>DataCo Global Supply Chain</a:t>
                      </a:r>
                    </a:p>
                  </a:txBody>
                  <a:tcPr>
                    <a:solidFill>
                      <a:srgbClr val="172554"/>
                    </a:solidFill>
                  </a:tcPr>
                </a:tc>
                <a:tc>
                  <a:txBody>
                    <a:bodyPr wrap="square" lIns="73152" rIns="73152" tIns="36576" bIns="36576"/>
                    <a:lstStyle/>
                    <a:p>
                      <a:pPr>
                        <a:defRPr sz="850">
                          <a:solidFill>
                            <a:srgbClr val="94A3B8"/>
                          </a:solidFill>
                          <a:latin typeface="Segoe UI"/>
                        </a:defRPr>
                      </a:pPr>
                      <a:r>
                        <a:t>Public Empirical</a:t>
                      </a:r>
                      <a:br/>
                      <a:r>
                        <a:t>(Mendeley Data CC BY 4.0)</a:t>
                      </a:r>
                    </a:p>
                  </a:txBody>
                  <a:tcPr>
                    <a:solidFill>
                      <a:srgbClr val="172554"/>
                    </a:solidFill>
                  </a:tcPr>
                </a:tc>
                <a:tc>
                  <a:txBody>
                    <a:bodyPr wrap="square" lIns="73152" rIns="73152" tIns="36576" bIns="36576"/>
                    <a:lstStyle/>
                    <a:p>
                      <a:pPr>
                        <a:defRPr sz="850">
                          <a:solidFill>
                            <a:srgbClr val="94A3B8"/>
                          </a:solidFill>
                          <a:latin typeface="Segoe UI"/>
                        </a:defRPr>
                      </a:pPr>
                      <a:r>
                        <a:t>35,000+ representative shipments</a:t>
                      </a:r>
                      <a:br/>
                      <a:r>
                        <a:t>180,519 order corpus, real transit delays</a:t>
                      </a:r>
                    </a:p>
                  </a:txBody>
                  <a:tcPr>
                    <a:solidFill>
                      <a:srgbClr val="172554"/>
                    </a:solidFill>
                  </a:tcPr>
                </a:tc>
                <a:tc>
                  <a:txBody>
                    <a:bodyPr wrap="square" lIns="73152" rIns="73152" tIns="36576" bIns="36576"/>
                    <a:lstStyle/>
                    <a:p>
                      <a:pPr>
                        <a:defRPr sz="850">
                          <a:solidFill>
                            <a:srgbClr val="94A3B8"/>
                          </a:solidFill>
                          <a:latin typeface="Segoe UI"/>
                        </a:defRPr>
                      </a:pPr>
                      <a:r>
                        <a:t>Supervised supplier disruption risk,</a:t>
                      </a:r>
                      <a:br/>
                      <a:r>
                        <a:t>lead-time variability, delivery failure modeling</a:t>
                      </a:r>
                    </a:p>
                  </a:txBody>
                  <a:tcPr>
                    <a:solidFill>
                      <a:srgbClr val="172554"/>
                    </a:solidFill>
                  </a:tcPr>
                </a:tc>
              </a:tr>
              <a:tr h="594360">
                <a:tc>
                  <a:txBody>
                    <a:bodyPr wrap="square" lIns="73152" rIns="73152" tIns="36576" bIns="36576"/>
                    <a:lstStyle/>
                    <a:p>
                      <a:pPr>
                        <a:defRPr sz="850">
                          <a:solidFill>
                            <a:srgbClr val="FFFFFF"/>
                          </a:solidFill>
                          <a:latin typeface="Segoe UI"/>
                        </a:defRPr>
                      </a:pPr>
                      <a:r>
                        <a:t>Indian Logistics Digital Twin</a:t>
                      </a:r>
                    </a:p>
                  </a:txBody>
                  <a:tcPr>
                    <a:solidFill>
                      <a:srgbClr val="111D4A"/>
                    </a:solidFill>
                  </a:tcPr>
                </a:tc>
                <a:tc>
                  <a:txBody>
                    <a:bodyPr wrap="square" lIns="73152" rIns="73152" tIns="36576" bIns="36576"/>
                    <a:lstStyle/>
                    <a:p>
                      <a:pPr>
                        <a:defRPr sz="850">
                          <a:solidFill>
                            <a:srgbClr val="94A3B8"/>
                          </a:solidFill>
                          <a:latin typeface="Segoe UI"/>
                        </a:defRPr>
                      </a:pPr>
                      <a:r>
                        <a:t>Calibrated Synthetic</a:t>
                      </a:r>
                      <a:br/>
                      <a:r>
                        <a:t>(Reproducible Topology)</a:t>
                      </a:r>
                    </a:p>
                  </a:txBody>
                  <a:tcPr>
                    <a:solidFill>
                      <a:srgbClr val="111D4A"/>
                    </a:solidFill>
                  </a:tcPr>
                </a:tc>
                <a:tc>
                  <a:txBody>
                    <a:bodyPr wrap="square" lIns="73152" rIns="73152" tIns="36576" bIns="36576"/>
                    <a:lstStyle/>
                    <a:p>
                      <a:pPr>
                        <a:defRPr sz="850">
                          <a:solidFill>
                            <a:srgbClr val="94A3B8"/>
                          </a:solidFill>
                          <a:latin typeface="Segoe UI"/>
                        </a:defRPr>
                      </a:pPr>
                      <a:r>
                        <a:t>83 facility nodes, 160 corridors,</a:t>
                      </a:r>
                      <a:br/>
                      <a:r>
                        <a:t>50,000 orders, 500 inventory items</a:t>
                      </a:r>
                    </a:p>
                  </a:txBody>
                  <a:tcPr>
                    <a:solidFill>
                      <a:srgbClr val="111D4A"/>
                    </a:solidFill>
                  </a:tcPr>
                </a:tc>
                <a:tc>
                  <a:txBody>
                    <a:bodyPr wrap="square" lIns="73152" rIns="73152" tIns="36576" bIns="36576"/>
                    <a:lstStyle/>
                    <a:p>
                      <a:pPr>
                        <a:defRPr sz="850">
                          <a:solidFill>
                            <a:srgbClr val="94A3B8"/>
                          </a:solidFill>
                          <a:latin typeface="Segoe UI"/>
                        </a:defRPr>
                      </a:pPr>
                      <a:r>
                        <a:t>Multi-echelon network topology, geodesy,</a:t>
                      </a:r>
                      <a:br/>
                      <a:r>
                        <a:t>impact propagation, OR-Tools optimization</a:t>
                      </a:r>
                    </a:p>
                  </a:txBody>
                  <a:tcPr>
                    <a:solidFill>
                      <a:srgbClr val="111D4A"/>
                    </a:solidFill>
                  </a:tcPr>
                </a:tc>
              </a:tr>
            </a:tbl>
          </a:graphicData>
        </a:graphic>
      </p:graphicFrame>
      <p:sp>
        <p:nvSpPr>
          <p:cNvPr id="6" name="Rounded Rectangle 5"/>
          <p:cNvSpPr/>
          <p:nvPr/>
        </p:nvSpPr>
        <p:spPr>
          <a:xfrm>
            <a:off x="731520" y="4297680"/>
            <a:ext cx="5212080" cy="192024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4407408"/>
            <a:ext cx="4882896" cy="292608"/>
          </a:xfrm>
          <a:prstGeom prst="rect">
            <a:avLst/>
          </a:prstGeom>
          <a:noFill/>
        </p:spPr>
        <p:txBody>
          <a:bodyPr wrap="square" lIns="0" tIns="0" rIns="0" bIns="0">
            <a:spAutoFit/>
          </a:bodyPr>
          <a:lstStyle/>
          <a:p>
            <a:pPr>
              <a:defRPr sz="1100" b="1">
                <a:solidFill>
                  <a:srgbClr val="38BDF8"/>
                </a:solidFill>
                <a:latin typeface="Segoe UI"/>
              </a:defRPr>
            </a:pPr>
            <a:r>
              <a:t>EMPIRICAL GROUNDING (REAL DATA)</a:t>
            </a:r>
          </a:p>
        </p:txBody>
      </p:sp>
      <p:sp>
        <p:nvSpPr>
          <p:cNvPr id="8" name="TextBox 7"/>
          <p:cNvSpPr txBox="1"/>
          <p:nvPr/>
        </p:nvSpPr>
        <p:spPr>
          <a:xfrm>
            <a:off x="914400" y="4663440"/>
            <a:ext cx="4846320" cy="1463040"/>
          </a:xfrm>
          <a:prstGeom prst="rect">
            <a:avLst/>
          </a:prstGeom>
          <a:noFill/>
        </p:spPr>
        <p:txBody>
          <a:bodyPr wrap="square">
            <a:spAutoFit/>
          </a:bodyPr>
          <a:lstStyle/>
          <a:p>
            <a:pPr>
              <a:spcAft>
                <a:spcPts val="400"/>
              </a:spcAft>
              <a:defRPr sz="900">
                <a:latin typeface="Segoe UI"/>
              </a:defRPr>
            </a:pPr>
            <a:r>
              <a:rPr b="1">
                <a:solidFill>
                  <a:srgbClr val="FFFFFF"/>
                </a:solidFill>
              </a:rPr>
              <a:t>• Real Sales Volatility: </a:t>
            </a:r>
            <a:r>
              <a:rPr>
                <a:solidFill>
                  <a:srgbClr val="94A3B8"/>
                </a:solidFill>
              </a:rPr>
              <a:t>Captures genuine retail demand spikes, holiday surges, and trend seasonality that synthetic sine-waves cannot reproduce.</a:t>
            </a:r>
          </a:p>
          <a:p>
            <a:pPr>
              <a:spcAft>
                <a:spcPts val="400"/>
              </a:spcAft>
              <a:defRPr sz="900">
                <a:latin typeface="Segoe UI"/>
              </a:defRPr>
            </a:pPr>
            <a:r>
              <a:rPr b="1">
                <a:solidFill>
                  <a:srgbClr val="FFFFFF"/>
                </a:solidFill>
              </a:rPr>
              <a:t>• Real Delivery Delays: </a:t>
            </a:r>
            <a:r>
              <a:rPr>
                <a:solidFill>
                  <a:srgbClr val="94A3B8"/>
                </a:solidFill>
              </a:rPr>
              <a:t>Trained on authentic international freight delay distributions where actual transit days exceeded scheduled days.</a:t>
            </a:r>
          </a:p>
        </p:txBody>
      </p:sp>
      <p:sp>
        <p:nvSpPr>
          <p:cNvPr id="9" name="Rounded Rectangle 8"/>
          <p:cNvSpPr/>
          <p:nvPr/>
        </p:nvSpPr>
        <p:spPr>
          <a:xfrm>
            <a:off x="6248095" y="4297680"/>
            <a:ext cx="5212080" cy="192024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2687" y="4407408"/>
            <a:ext cx="4882896" cy="292608"/>
          </a:xfrm>
          <a:prstGeom prst="rect">
            <a:avLst/>
          </a:prstGeom>
          <a:noFill/>
        </p:spPr>
        <p:txBody>
          <a:bodyPr wrap="square" lIns="0" tIns="0" rIns="0" bIns="0">
            <a:spAutoFit/>
          </a:bodyPr>
          <a:lstStyle/>
          <a:p>
            <a:pPr>
              <a:defRPr sz="1100" b="1">
                <a:solidFill>
                  <a:srgbClr val="38BDF8"/>
                </a:solidFill>
                <a:latin typeface="Segoe UI"/>
              </a:defRPr>
            </a:pPr>
            <a:r>
              <a:t>ACADEMIC HONESTY (SIMULATED TWIN)</a:t>
            </a:r>
          </a:p>
        </p:txBody>
      </p:sp>
      <p:sp>
        <p:nvSpPr>
          <p:cNvPr id="11" name="TextBox 10"/>
          <p:cNvSpPr txBox="1"/>
          <p:nvPr/>
        </p:nvSpPr>
        <p:spPr>
          <a:xfrm>
            <a:off x="6430975" y="4663440"/>
            <a:ext cx="4846320" cy="1463040"/>
          </a:xfrm>
          <a:prstGeom prst="rect">
            <a:avLst/>
          </a:prstGeom>
          <a:noFill/>
        </p:spPr>
        <p:txBody>
          <a:bodyPr wrap="square">
            <a:spAutoFit/>
          </a:bodyPr>
          <a:lstStyle/>
          <a:p>
            <a:pPr>
              <a:spcAft>
                <a:spcPts val="400"/>
              </a:spcAft>
              <a:defRPr sz="900">
                <a:latin typeface="Segoe UI"/>
              </a:defRPr>
            </a:pPr>
            <a:r>
              <a:rPr b="1">
                <a:solidFill>
                  <a:srgbClr val="FFFFFF"/>
                </a:solidFill>
              </a:rPr>
              <a:t>• Simulated Indian Topology: </a:t>
            </a:r>
            <a:r>
              <a:rPr>
                <a:solidFill>
                  <a:srgbClr val="94A3B8"/>
                </a:solidFill>
              </a:rPr>
              <a:t>Real corporate facility BOMs and internal supplier networks are strictly confidential.</a:t>
            </a:r>
          </a:p>
          <a:p>
            <a:pPr>
              <a:spcAft>
                <a:spcPts val="400"/>
              </a:spcAft>
              <a:defRPr sz="900">
                <a:latin typeface="Segoe UI"/>
              </a:defRPr>
            </a:pPr>
            <a:r>
              <a:rPr b="1">
                <a:solidFill>
                  <a:srgbClr val="FFFFFF"/>
                </a:solidFill>
              </a:rPr>
              <a:t>• Calibrated Distributions: </a:t>
            </a:r>
            <a:r>
              <a:rPr>
                <a:solidFill>
                  <a:srgbClr val="94A3B8"/>
                </a:solidFill>
              </a:rPr>
              <a:t>NEXUS maps empirical Walmart and DataCo distributions onto realistic Indian hubs (Delhi, Mumbai, Pune, Sanand, Bengaluru).</a:t>
            </a:r>
          </a:p>
        </p:txBody>
      </p:sp>
      <p:sp>
        <p:nvSpPr>
          <p:cNvPr id="12" name="TextBox 11"/>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5 of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[ 06 / 23  •  DATA PIPELINE &amp; FEATURE ENGINEERING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From Raw Data to Decision-Ready Intelligence</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Systematic feature engineering, temporal shift guards, and in-memory state representations.</a:t>
            </a:r>
          </a:p>
        </p:txBody>
      </p:sp>
      <p:sp>
        <p:nvSpPr>
          <p:cNvPr id="5" name="Rounded Rectangle 4"/>
          <p:cNvSpPr/>
          <p:nvPr/>
        </p:nvSpPr>
        <p:spPr>
          <a:xfrm>
            <a:off x="731520" y="1645920"/>
            <a:ext cx="5120640" cy="214884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1. DEMAND TIME-SERIES ENGINEERING</a:t>
            </a:r>
          </a:p>
        </p:txBody>
      </p:sp>
      <p:sp>
        <p:nvSpPr>
          <p:cNvPr id="7" name="TextBox 6"/>
          <p:cNvSpPr txBox="1"/>
          <p:nvPr/>
        </p:nvSpPr>
        <p:spPr>
          <a:xfrm>
            <a:off x="896112" y="2057400"/>
            <a:ext cx="4791456" cy="1645920"/>
          </a:xfrm>
          <a:prstGeom prst="rect">
            <a:avLst/>
          </a:prstGeom>
          <a:noFill/>
        </p:spPr>
        <p:txBody>
          <a:bodyPr wrap="square">
            <a:spAutoFit/>
          </a:bodyPr>
          <a:lstStyle/>
          <a:p>
            <a:pPr>
              <a:spcAft>
                <a:spcPts val="350"/>
              </a:spcAft>
              <a:defRPr sz="850">
                <a:latin typeface="Segoe UI"/>
              </a:defRPr>
            </a:pPr>
            <a:r>
              <a:rPr b="1">
                <a:solidFill>
                  <a:srgbClr val="FFFFFF"/>
                </a:solidFill>
              </a:rPr>
              <a:t>• Autoregressive Lags: </a:t>
            </a:r>
            <a:r>
              <a:rPr>
                <a:solidFill>
                  <a:srgbClr val="94A3B8"/>
                </a:solidFill>
              </a:rPr>
              <a:t>Lags t-1, t-2, t-4, t-8 capturing cyclical ordering patterns.</a:t>
            </a:r>
          </a:p>
          <a:p>
            <a:pPr>
              <a:spcAft>
                <a:spcPts val="350"/>
              </a:spcAft>
              <a:defRPr sz="850">
                <a:latin typeface="Segoe UI"/>
              </a:defRPr>
            </a:pPr>
            <a:r>
              <a:rPr b="1">
                <a:solidFill>
                  <a:srgbClr val="FFFFFF"/>
                </a:solidFill>
              </a:rPr>
              <a:t>• Rolling Window Stats: </a:t>
            </a:r>
            <a:r>
              <a:rPr>
                <a:solidFill>
                  <a:srgbClr val="94A3B8"/>
                </a:solidFill>
              </a:rPr>
              <a:t>4-week and 8-week moving averages (μ) and 4-week rolling volatility (σ).</a:t>
            </a:r>
          </a:p>
          <a:p>
            <a:pPr>
              <a:spcAft>
                <a:spcPts val="350"/>
              </a:spcAft>
              <a:defRPr sz="850">
                <a:latin typeface="Segoe UI"/>
              </a:defRPr>
            </a:pPr>
            <a:r>
              <a:rPr b="1">
                <a:solidFill>
                  <a:srgbClr val="FFFFFF"/>
                </a:solidFill>
              </a:rPr>
              <a:t>• Temporal Guard: </a:t>
            </a:r>
            <a:r>
              <a:rPr>
                <a:solidFill>
                  <a:srgbClr val="94A3B8"/>
                </a:solidFill>
              </a:rPr>
              <a:t>All rolling metrics strictly shifted by 1 period (shift(1)) to prevent lookahead data leakage.</a:t>
            </a:r>
          </a:p>
          <a:p>
            <a:pPr>
              <a:spcAft>
                <a:spcPts val="350"/>
              </a:spcAft>
              <a:defRPr sz="850">
                <a:latin typeface="Segoe UI"/>
              </a:defRPr>
            </a:pPr>
            <a:r>
              <a:rPr b="1">
                <a:solidFill>
                  <a:srgbClr val="FFFFFF"/>
                </a:solidFill>
              </a:rPr>
              <a:t>• Calendar Seasonality: </a:t>
            </a:r>
            <a:r>
              <a:rPr>
                <a:solidFill>
                  <a:srgbClr val="94A3B8"/>
                </a:solidFill>
              </a:rPr>
              <a:t>Deterministic trend index, ISO week of year, month, and holiday flags.</a:t>
            </a:r>
          </a:p>
        </p:txBody>
      </p:sp>
      <p:sp>
        <p:nvSpPr>
          <p:cNvPr id="8" name="Rounded Rectangle 7"/>
          <p:cNvSpPr/>
          <p:nvPr/>
        </p:nvSpPr>
        <p:spPr>
          <a:xfrm>
            <a:off x="6217920" y="1645920"/>
            <a:ext cx="5120640" cy="2148840"/>
          </a:xfrm>
          <a:prstGeom prst="roundRect">
            <a:avLst/>
          </a:prstGeom>
          <a:solidFill>
            <a:srgbClr val="111D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2. SUPPLIER RISK FEATURE EXTRACTION</a:t>
            </a:r>
          </a:p>
        </p:txBody>
      </p:sp>
      <p:sp>
        <p:nvSpPr>
          <p:cNvPr id="10" name="TextBox 9"/>
          <p:cNvSpPr txBox="1"/>
          <p:nvPr/>
        </p:nvSpPr>
        <p:spPr>
          <a:xfrm>
            <a:off x="6382512" y="2057400"/>
            <a:ext cx="4791456" cy="1645920"/>
          </a:xfrm>
          <a:prstGeom prst="rect">
            <a:avLst/>
          </a:prstGeom>
          <a:noFill/>
        </p:spPr>
        <p:txBody>
          <a:bodyPr wrap="square">
            <a:spAutoFit/>
          </a:bodyPr>
          <a:lstStyle/>
          <a:p>
            <a:pPr>
              <a:spcAft>
                <a:spcPts val="350"/>
              </a:spcAft>
              <a:defRPr sz="850">
                <a:latin typeface="Segoe UI"/>
              </a:defRPr>
            </a:pPr>
            <a:r>
              <a:rPr b="1">
                <a:solidFill>
                  <a:srgbClr val="FFFFFF"/>
                </a:solidFill>
              </a:rPr>
              <a:t>• Lead-Time Volatility: </a:t>
            </a:r>
            <a:r>
              <a:rPr>
                <a:solidFill>
                  <a:srgbClr val="94A3B8"/>
                </a:solidFill>
              </a:rPr>
              <a:t>Standard deviation of delivery lead-time (primary collapse predictor).</a:t>
            </a:r>
          </a:p>
          <a:p>
            <a:pPr>
              <a:spcAft>
                <a:spcPts val="350"/>
              </a:spcAft>
              <a:defRPr sz="850">
                <a:latin typeface="Segoe UI"/>
              </a:defRPr>
            </a:pPr>
            <a:r>
              <a:rPr b="1">
                <a:solidFill>
                  <a:srgbClr val="FFFFFF"/>
                </a:solidFill>
              </a:rPr>
              <a:t>• Operational Metrics: </a:t>
            </a:r>
            <a:r>
              <a:rPr>
                <a:solidFill>
                  <a:srgbClr val="94A3B8"/>
                </a:solidFill>
              </a:rPr>
              <a:t>Historical delay frequency, average late days, and on-time fulfillment rate.</a:t>
            </a:r>
          </a:p>
          <a:p>
            <a:pPr>
              <a:spcAft>
                <a:spcPts val="350"/>
              </a:spcAft>
              <a:defRPr sz="850">
                <a:latin typeface="Segoe UI"/>
              </a:defRPr>
            </a:pPr>
            <a:r>
              <a:rPr b="1">
                <a:solidFill>
                  <a:srgbClr val="FFFFFF"/>
                </a:solidFill>
              </a:rPr>
              <a:t>• Capacity Strain: </a:t>
            </a:r>
            <a:r>
              <a:rPr>
                <a:solidFill>
                  <a:srgbClr val="94A3B8"/>
                </a:solidFill>
              </a:rPr>
              <a:t>Plant capacity utilization ratio and quality assurance defect rate.</a:t>
            </a:r>
          </a:p>
          <a:p>
            <a:pPr>
              <a:spcAft>
                <a:spcPts val="350"/>
              </a:spcAft>
              <a:defRPr sz="850">
                <a:latin typeface="Segoe UI"/>
              </a:defRPr>
            </a:pPr>
            <a:r>
              <a:rPr b="1">
                <a:solidFill>
                  <a:srgbClr val="FFFFFF"/>
                </a:solidFill>
              </a:rPr>
              <a:t>• Stochastic Shock: </a:t>
            </a:r>
            <a:r>
              <a:rPr>
                <a:solidFill>
                  <a:srgbClr val="94A3B8"/>
                </a:solidFill>
              </a:rPr>
              <a:t>Latent operational stress modeling unannounced industrial failures.</a:t>
            </a:r>
          </a:p>
        </p:txBody>
      </p:sp>
      <p:sp>
        <p:nvSpPr>
          <p:cNvPr id="11" name="Rounded Rectangle 10"/>
          <p:cNvSpPr/>
          <p:nvPr/>
        </p:nvSpPr>
        <p:spPr>
          <a:xfrm>
            <a:off x="731520" y="4069080"/>
            <a:ext cx="5120640" cy="2148840"/>
          </a:xfrm>
          <a:prstGeom prst="roundRect">
            <a:avLst/>
          </a:prstGeom>
          <a:solidFill>
            <a:srgbClr val="111D4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178808"/>
            <a:ext cx="4791456" cy="292608"/>
          </a:xfrm>
          <a:prstGeom prst="rect">
            <a:avLst/>
          </a:prstGeom>
          <a:noFill/>
        </p:spPr>
        <p:txBody>
          <a:bodyPr wrap="square" lIns="0" tIns="0" rIns="0" bIns="0">
            <a:spAutoFit/>
          </a:bodyPr>
          <a:lstStyle/>
          <a:p>
            <a:pPr>
              <a:defRPr sz="1100" b="1">
                <a:solidFill>
                  <a:srgbClr val="38BDF8"/>
                </a:solidFill>
                <a:latin typeface="Segoe UI"/>
              </a:defRPr>
            </a:pPr>
            <a:r>
              <a:t>3. SPATIAL GEODESY &amp; CORRIDORS</a:t>
            </a:r>
          </a:p>
        </p:txBody>
      </p:sp>
      <p:sp>
        <p:nvSpPr>
          <p:cNvPr id="13" name="TextBox 12"/>
          <p:cNvSpPr txBox="1"/>
          <p:nvPr/>
        </p:nvSpPr>
        <p:spPr>
          <a:xfrm>
            <a:off x="896112" y="4480560"/>
            <a:ext cx="4791456" cy="1645920"/>
          </a:xfrm>
          <a:prstGeom prst="rect">
            <a:avLst/>
          </a:prstGeom>
          <a:noFill/>
        </p:spPr>
        <p:txBody>
          <a:bodyPr wrap="square">
            <a:spAutoFit/>
          </a:bodyPr>
          <a:lstStyle/>
          <a:p>
            <a:pPr>
              <a:spcAft>
                <a:spcPts val="350"/>
              </a:spcAft>
              <a:defRPr sz="850">
                <a:latin typeface="Segoe UI"/>
              </a:defRPr>
            </a:pPr>
            <a:r>
              <a:rPr b="1">
                <a:solidFill>
                  <a:srgbClr val="FFFFFF"/>
                </a:solidFill>
              </a:rPr>
              <a:t>• Geocoded Facilities: </a:t>
            </a:r>
            <a:r>
              <a:rPr>
                <a:solidFill>
                  <a:srgbClr val="94A3B8"/>
                </a:solidFill>
              </a:rPr>
              <a:t>83 exact geographic coordinates across canonical Indian logistics corridors.</a:t>
            </a:r>
          </a:p>
          <a:p>
            <a:pPr>
              <a:spcAft>
                <a:spcPts val="350"/>
              </a:spcAft>
              <a:defRPr sz="850">
                <a:latin typeface="Segoe UI"/>
              </a:defRPr>
            </a:pPr>
            <a:r>
              <a:rPr b="1">
                <a:solidFill>
                  <a:srgbClr val="FFFFFF"/>
                </a:solidFill>
              </a:rPr>
              <a:t>• Highway Tortuosity: </a:t>
            </a:r>
            <a:r>
              <a:rPr>
                <a:solidFill>
                  <a:srgbClr val="94A3B8"/>
                </a:solidFill>
              </a:rPr>
              <a:t>Haversine distance multiplied by 1.22x tortuosity factor for authentic road transit km.</a:t>
            </a:r>
          </a:p>
          <a:p>
            <a:pPr>
              <a:spcAft>
                <a:spcPts val="350"/>
              </a:spcAft>
              <a:defRPr sz="850">
                <a:latin typeface="Segoe UI"/>
              </a:defRPr>
            </a:pPr>
            <a:r>
              <a:rPr b="1">
                <a:solidFill>
                  <a:srgbClr val="FFFFFF"/>
                </a:solidFill>
              </a:rPr>
              <a:t>• Multimodal Modes: </a:t>
            </a:r>
            <a:r>
              <a:rPr>
                <a:solidFill>
                  <a:srgbClr val="94A3B8"/>
                </a:solidFill>
              </a:rPr>
              <a:t>Differentiated transit speeds and costs for National Expressways vs Dedicated Rail Freight.</a:t>
            </a:r>
          </a:p>
          <a:p>
            <a:pPr>
              <a:spcAft>
                <a:spcPts val="350"/>
              </a:spcAft>
              <a:defRPr sz="850">
                <a:latin typeface="Segoe UI"/>
              </a:defRPr>
            </a:pPr>
            <a:r>
              <a:rPr b="1">
                <a:solidFill>
                  <a:srgbClr val="FFFFFF"/>
                </a:solidFill>
              </a:rPr>
              <a:t>• Corridor Capacity: </a:t>
            </a:r>
            <a:r>
              <a:rPr>
                <a:solidFill>
                  <a:srgbClr val="94A3B8"/>
                </a:solidFill>
              </a:rPr>
              <a:t>Throughput bottlenecks and maximum lane vehicle volumes.</a:t>
            </a:r>
          </a:p>
        </p:txBody>
      </p:sp>
      <p:sp>
        <p:nvSpPr>
          <p:cNvPr id="14" name="Rounded Rectangle 13"/>
          <p:cNvSpPr/>
          <p:nvPr/>
        </p:nvSpPr>
        <p:spPr>
          <a:xfrm>
            <a:off x="6217920" y="4069080"/>
            <a:ext cx="5120640" cy="214884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4178808"/>
            <a:ext cx="4791456" cy="292608"/>
          </a:xfrm>
          <a:prstGeom prst="rect">
            <a:avLst/>
          </a:prstGeom>
          <a:noFill/>
        </p:spPr>
        <p:txBody>
          <a:bodyPr wrap="square" lIns="0" tIns="0" rIns="0" bIns="0">
            <a:spAutoFit/>
          </a:bodyPr>
          <a:lstStyle/>
          <a:p>
            <a:pPr>
              <a:defRPr sz="1100" b="1">
                <a:solidFill>
                  <a:srgbClr val="38BDF8"/>
                </a:solidFill>
                <a:latin typeface="Segoe UI"/>
              </a:defRPr>
            </a:pPr>
            <a:r>
              <a:t>4. OPERATIONAL RUNWAY &amp; SHOCK STATE</a:t>
            </a:r>
          </a:p>
        </p:txBody>
      </p:sp>
      <p:sp>
        <p:nvSpPr>
          <p:cNvPr id="16" name="TextBox 15"/>
          <p:cNvSpPr txBox="1"/>
          <p:nvPr/>
        </p:nvSpPr>
        <p:spPr>
          <a:xfrm>
            <a:off x="6382512" y="4480560"/>
            <a:ext cx="4791456" cy="1645920"/>
          </a:xfrm>
          <a:prstGeom prst="rect">
            <a:avLst/>
          </a:prstGeom>
          <a:noFill/>
        </p:spPr>
        <p:txBody>
          <a:bodyPr wrap="square">
            <a:spAutoFit/>
          </a:bodyPr>
          <a:lstStyle/>
          <a:p>
            <a:pPr>
              <a:spcAft>
                <a:spcPts val="350"/>
              </a:spcAft>
              <a:defRPr sz="850">
                <a:latin typeface="Segoe UI"/>
              </a:defRPr>
            </a:pPr>
            <a:r>
              <a:rPr b="1">
                <a:solidFill>
                  <a:srgbClr val="FFFFFF"/>
                </a:solidFill>
              </a:rPr>
              <a:t>• Stock Runway Metric: </a:t>
            </a:r>
            <a:r>
              <a:rPr>
                <a:solidFill>
                  <a:srgbClr val="94A3B8"/>
                </a:solidFill>
              </a:rPr>
              <a:t>Runway (Days) = Current Inventory / Daily Consumption Burn Rate.</a:t>
            </a:r>
          </a:p>
          <a:p>
            <a:pPr>
              <a:spcAft>
                <a:spcPts val="350"/>
              </a:spcAft>
              <a:defRPr sz="850">
                <a:latin typeface="Segoe UI"/>
              </a:defRPr>
            </a:pPr>
            <a:r>
              <a:rPr b="1">
                <a:solidFill>
                  <a:srgbClr val="FFFFFF"/>
                </a:solidFill>
              </a:rPr>
              <a:t>• Buffer Depletion: </a:t>
            </a:r>
            <a:r>
              <a:rPr>
                <a:solidFill>
                  <a:srgbClr val="94A3B8"/>
                </a:solidFill>
              </a:rPr>
              <a:t>Pinpoints exact calendar day of catastrophic warehouse stockout.</a:t>
            </a:r>
          </a:p>
          <a:p>
            <a:pPr>
              <a:spcAft>
                <a:spcPts val="350"/>
              </a:spcAft>
              <a:defRPr sz="850">
                <a:latin typeface="Segoe UI"/>
              </a:defRPr>
            </a:pPr>
            <a:r>
              <a:rPr b="1">
                <a:solidFill>
                  <a:srgbClr val="FFFFFF"/>
                </a:solidFill>
              </a:rPr>
              <a:t>• In-Memory State Cloning: </a:t>
            </a:r>
            <a:r>
              <a:rPr>
                <a:solidFill>
                  <a:srgbClr val="94A3B8"/>
                </a:solidFill>
              </a:rPr>
              <a:t>Deep copy of SimulationState instantiates non-destructive shock test.</a:t>
            </a:r>
          </a:p>
          <a:p>
            <a:pPr>
              <a:spcAft>
                <a:spcPts val="350"/>
              </a:spcAft>
              <a:defRPr sz="850">
                <a:latin typeface="Segoe UI"/>
              </a:defRPr>
            </a:pPr>
            <a:r>
              <a:rPr b="1">
                <a:solidFill>
                  <a:srgbClr val="FFFFFF"/>
                </a:solidFill>
              </a:rPr>
              <a:t>• Allocation Feasibility: </a:t>
            </a:r>
            <a:r>
              <a:rPr>
                <a:solidFill>
                  <a:srgbClr val="94A3B8"/>
                </a:solidFill>
              </a:rPr>
              <a:t>Calculates net gross capacity surplus/deficit across all network echelons.</a:t>
            </a:r>
          </a:p>
        </p:txBody>
      </p:sp>
      <p:sp>
        <p:nvSpPr>
          <p:cNvPr id="17" name="TextBox 16"/>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6 of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[ 07 / 23  •  DIGITAL TWIN TOPOLOGY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The NEXUS Digital Twin — Calibrated Multi-Echelon Network</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An 83-node, 160-corridor digital representation spanning five operational supply chain tiers.</a:t>
            </a:r>
          </a:p>
        </p:txBody>
      </p:sp>
      <p:pic>
        <p:nvPicPr>
          <p:cNvPr id="5" name="Picture 4" descr="slide_network_topology.png"/>
          <p:cNvPicPr>
            <a:picLocks noChangeAspect="1"/>
          </p:cNvPicPr>
          <p:nvPr/>
        </p:nvPicPr>
        <p:blipFill>
          <a:blip r:embed="rId2"/>
          <a:stretch>
            <a:fillRect/>
          </a:stretch>
        </p:blipFill>
        <p:spPr>
          <a:xfrm>
            <a:off x="731520" y="1600200"/>
            <a:ext cx="10728655" cy="2011680"/>
          </a:xfrm>
          <a:prstGeom prst="rect">
            <a:avLst/>
          </a:prstGeom>
        </p:spPr>
      </p:pic>
      <p:pic>
        <p:nvPicPr>
          <p:cNvPr id="6" name="Picture 5" descr="02_digital_twin_network.png"/>
          <p:cNvPicPr>
            <a:picLocks noChangeAspect="1"/>
          </p:cNvPicPr>
          <p:nvPr/>
        </p:nvPicPr>
        <p:blipFill>
          <a:blip r:embed="rId3"/>
          <a:stretch>
            <a:fillRect/>
          </a:stretch>
        </p:blipFill>
        <p:spPr>
          <a:xfrm>
            <a:off x="731520" y="3794760"/>
            <a:ext cx="5120640" cy="2514600"/>
          </a:xfrm>
          <a:prstGeom prst="rect">
            <a:avLst/>
          </a:prstGeom>
        </p:spPr>
      </p:pic>
      <p:sp>
        <p:nvSpPr>
          <p:cNvPr id="7" name="Rounded Rectangle 6"/>
          <p:cNvSpPr/>
          <p:nvPr/>
        </p:nvSpPr>
        <p:spPr>
          <a:xfrm>
            <a:off x="6035040" y="3794760"/>
            <a:ext cx="5425135" cy="251460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9632" y="3904488"/>
            <a:ext cx="5095951" cy="292608"/>
          </a:xfrm>
          <a:prstGeom prst="rect">
            <a:avLst/>
          </a:prstGeom>
          <a:noFill/>
        </p:spPr>
        <p:txBody>
          <a:bodyPr wrap="square" lIns="0" tIns="0" rIns="0" bIns="0">
            <a:spAutoFit/>
          </a:bodyPr>
          <a:lstStyle/>
          <a:p>
            <a:pPr>
              <a:defRPr sz="1100" b="1">
                <a:solidFill>
                  <a:srgbClr val="38BDF8"/>
                </a:solidFill>
                <a:latin typeface="Segoe UI"/>
              </a:defRPr>
            </a:pPr>
            <a:r>
              <a:t>VERIFIED DIGITAL TWIN METRICS</a:t>
            </a:r>
          </a:p>
        </p:txBody>
      </p:sp>
      <p:sp>
        <p:nvSpPr>
          <p:cNvPr id="9" name="TextBox 8"/>
          <p:cNvSpPr txBox="1"/>
          <p:nvPr/>
        </p:nvSpPr>
        <p:spPr>
          <a:xfrm>
            <a:off x="6217920" y="4160520"/>
            <a:ext cx="5029200" cy="2011680"/>
          </a:xfrm>
          <a:prstGeom prst="rect">
            <a:avLst/>
          </a:prstGeom>
          <a:noFill/>
        </p:spPr>
        <p:txBody>
          <a:bodyPr wrap="square">
            <a:spAutoFit/>
          </a:bodyPr>
          <a:lstStyle/>
          <a:p>
            <a:pPr>
              <a:spcAft>
                <a:spcPts val="250"/>
              </a:spcAft>
              <a:defRPr sz="850">
                <a:latin typeface="Segoe UI"/>
              </a:defRPr>
            </a:pPr>
            <a:r>
              <a:rPr b="1">
                <a:solidFill>
                  <a:srgbClr val="FFFFFF"/>
                </a:solidFill>
              </a:rPr>
              <a:t>• Total Facilities: </a:t>
            </a:r>
            <a:r>
              <a:rPr>
                <a:solidFill>
                  <a:srgbClr val="94A3B8"/>
                </a:solidFill>
              </a:rPr>
              <a:t>83 geocoded nodes across canonical Indian logistics corridors.</a:t>
            </a:r>
          </a:p>
          <a:p>
            <a:pPr>
              <a:spcAft>
                <a:spcPts val="250"/>
              </a:spcAft>
              <a:defRPr sz="850">
                <a:latin typeface="Segoe UI"/>
              </a:defRPr>
            </a:pPr>
            <a:r>
              <a:rPr b="1">
                <a:solidFill>
                  <a:srgbClr val="FFFFFF"/>
                </a:solidFill>
              </a:rPr>
              <a:t>• 20 Suppliers: </a:t>
            </a:r>
            <a:r>
              <a:rPr>
                <a:solidFill>
                  <a:srgbClr val="94A3B8"/>
                </a:solidFill>
              </a:rPr>
              <a:t>Tier-1 &amp; Tier-2 automotive, metallurgy, polymer, and precision parts.</a:t>
            </a:r>
          </a:p>
          <a:p>
            <a:pPr>
              <a:spcAft>
                <a:spcPts val="250"/>
              </a:spcAft>
              <a:defRPr sz="850">
                <a:latin typeface="Segoe UI"/>
              </a:defRPr>
            </a:pPr>
            <a:r>
              <a:rPr b="1">
                <a:solidFill>
                  <a:srgbClr val="FFFFFF"/>
                </a:solidFill>
              </a:rPr>
              <a:t>• 8 Production Units: </a:t>
            </a:r>
            <a:r>
              <a:rPr>
                <a:solidFill>
                  <a:srgbClr val="94A3B8"/>
                </a:solidFill>
              </a:rPr>
              <a:t>OEM manufacturing &amp; assembly plants (Sanand, Pune, Gurgaon, Sriperumbudur).</a:t>
            </a:r>
          </a:p>
          <a:p>
            <a:pPr>
              <a:spcAft>
                <a:spcPts val="250"/>
              </a:spcAft>
              <a:defRPr sz="850">
                <a:latin typeface="Segoe UI"/>
              </a:defRPr>
            </a:pPr>
            <a:r>
              <a:rPr b="1">
                <a:solidFill>
                  <a:srgbClr val="FFFFFF"/>
                </a:solidFill>
              </a:rPr>
              <a:t>• 10 Central Warehouses: </a:t>
            </a:r>
            <a:r>
              <a:rPr>
                <a:solidFill>
                  <a:srgbClr val="94A3B8"/>
                </a:solidFill>
              </a:rPr>
              <a:t>Regional distribution centers tracking 500 SKUs with INR 45.92M valuation.</a:t>
            </a:r>
          </a:p>
          <a:p>
            <a:pPr>
              <a:spcAft>
                <a:spcPts val="250"/>
              </a:spcAft>
              <a:defRPr sz="850">
                <a:latin typeface="Segoe UI"/>
              </a:defRPr>
            </a:pPr>
            <a:r>
              <a:rPr b="1">
                <a:solidFill>
                  <a:srgbClr val="FFFFFF"/>
                </a:solidFill>
              </a:rPr>
              <a:t>• 15 Distribution Hubs: </a:t>
            </a:r>
            <a:r>
              <a:rPr>
                <a:solidFill>
                  <a:srgbClr val="94A3B8"/>
                </a:solidFill>
              </a:rPr>
              <a:t>Intermediate multimodal transshipment and sorting facilities.</a:t>
            </a:r>
          </a:p>
          <a:p>
            <a:pPr>
              <a:spcAft>
                <a:spcPts val="250"/>
              </a:spcAft>
              <a:defRPr sz="850">
                <a:latin typeface="Segoe UI"/>
              </a:defRPr>
            </a:pPr>
            <a:r>
              <a:rPr b="1">
                <a:solidFill>
                  <a:srgbClr val="FFFFFF"/>
                </a:solidFill>
              </a:rPr>
              <a:t>• 30 Demand Zones: </a:t>
            </a:r>
            <a:r>
              <a:rPr>
                <a:solidFill>
                  <a:srgbClr val="94A3B8"/>
                </a:solidFill>
              </a:rPr>
              <a:t>Tier-1/Tier-2 consumption centers representing 153.6k units of demand.</a:t>
            </a:r>
          </a:p>
          <a:p>
            <a:pPr>
              <a:spcAft>
                <a:spcPts val="250"/>
              </a:spcAft>
              <a:defRPr sz="850">
                <a:latin typeface="Segoe UI"/>
              </a:defRPr>
            </a:pPr>
            <a:r>
              <a:rPr b="1">
                <a:solidFill>
                  <a:srgbClr val="FFFFFF"/>
                </a:solidFill>
              </a:rPr>
              <a:t>• 160 Corridors: </a:t>
            </a:r>
            <a:r>
              <a:rPr>
                <a:solidFill>
                  <a:srgbClr val="94A3B8"/>
                </a:solidFill>
              </a:rPr>
              <a:t>Active freight transit lanes calibrated with authentic transit hours.</a:t>
            </a:r>
          </a:p>
        </p:txBody>
      </p:sp>
      <p:sp>
        <p:nvSpPr>
          <p:cNvPr id="10" name="TextBox 9"/>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7 of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[ 08 / 23  •  INTELLIGENCE LAYER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Intelligence Layer — Forecasting, Risk &amp; Anomaly Detection</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Three specialized analytical models addressing distinct operational supply chain failure modes.</a:t>
            </a:r>
          </a:p>
        </p:txBody>
      </p:sp>
      <p:sp>
        <p:nvSpPr>
          <p:cNvPr id="5" name="Rounded Rectangle 4"/>
          <p:cNvSpPr/>
          <p:nvPr/>
        </p:nvSpPr>
        <p:spPr>
          <a:xfrm>
            <a:off x="731520" y="1645920"/>
            <a:ext cx="3429000" cy="448056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3099816" cy="292608"/>
          </a:xfrm>
          <a:prstGeom prst="rect">
            <a:avLst/>
          </a:prstGeom>
          <a:noFill/>
        </p:spPr>
        <p:txBody>
          <a:bodyPr wrap="square" lIns="0" tIns="0" rIns="0" bIns="0">
            <a:spAutoFit/>
          </a:bodyPr>
          <a:lstStyle/>
          <a:p>
            <a:pPr>
              <a:defRPr sz="1100" b="1">
                <a:solidFill>
                  <a:srgbClr val="38BDF8"/>
                </a:solidFill>
                <a:latin typeface="Segoe UI"/>
              </a:defRPr>
            </a:pPr>
            <a:r>
              <a:t>1. DEMAND FORECASTING</a:t>
            </a:r>
          </a:p>
        </p:txBody>
      </p:sp>
      <p:sp>
        <p:nvSpPr>
          <p:cNvPr id="7" name="TextBox 6"/>
          <p:cNvSpPr txBox="1"/>
          <p:nvPr/>
        </p:nvSpPr>
        <p:spPr>
          <a:xfrm>
            <a:off x="896112" y="2011680"/>
            <a:ext cx="3099816" cy="274320"/>
          </a:xfrm>
          <a:prstGeom prst="rect">
            <a:avLst/>
          </a:prstGeom>
          <a:noFill/>
        </p:spPr>
        <p:txBody>
          <a:bodyPr wrap="none">
            <a:spAutoFit/>
          </a:bodyPr>
          <a:lstStyle/>
          <a:p>
            <a:pPr>
              <a:defRPr sz="950" b="1">
                <a:solidFill>
                  <a:srgbClr val="FFFFFF"/>
                </a:solidFill>
                <a:latin typeface="Segoe UI"/>
              </a:defRPr>
            </a:pPr>
            <a:r>
              <a:t>Architecture: XGBoost Regressor</a:t>
            </a:r>
          </a:p>
        </p:txBody>
      </p:sp>
      <p:sp>
        <p:nvSpPr>
          <p:cNvPr id="8" name="TextBox 7"/>
          <p:cNvSpPr txBox="1"/>
          <p:nvPr/>
        </p:nvSpPr>
        <p:spPr>
          <a:xfrm>
            <a:off x="896112" y="2377440"/>
            <a:ext cx="3099816" cy="3566160"/>
          </a:xfrm>
          <a:prstGeom prst="rect">
            <a:avLst/>
          </a:prstGeom>
          <a:noFill/>
        </p:spPr>
        <p:txBody>
          <a:bodyPr wrap="square">
            <a:spAutoFit/>
          </a:bodyPr>
          <a:lstStyle/>
          <a:p>
            <a:pPr>
              <a:spcAft>
                <a:spcPts val="600"/>
              </a:spcAft>
              <a:defRPr sz="850">
                <a:latin typeface="Segoe UI"/>
              </a:defRPr>
            </a:pPr>
            <a:r>
              <a:rPr b="1">
                <a:solidFill>
                  <a:srgbClr val="FFFFFF"/>
                </a:solidFill>
              </a:rPr>
              <a:t>• Objective: </a:t>
            </a:r>
            <a:r>
              <a:rPr>
                <a:solidFill>
                  <a:srgbClr val="94A3B8"/>
                </a:solidFill>
              </a:rPr>
              <a:t>Predict multi-step demand velocity over a 4-week horizon to prevent bullwhip distortion.</a:t>
            </a:r>
          </a:p>
          <a:p>
            <a:pPr>
              <a:spcAft>
                <a:spcPts val="600"/>
              </a:spcAft>
              <a:defRPr sz="850">
                <a:latin typeface="Segoe UI"/>
              </a:defRPr>
            </a:pPr>
            <a:r>
              <a:rPr b="1">
                <a:solidFill>
                  <a:srgbClr val="FFFFFF"/>
                </a:solidFill>
              </a:rPr>
              <a:t>• Input Vector: </a:t>
            </a:r>
            <a:r>
              <a:rPr>
                <a:solidFill>
                  <a:srgbClr val="94A3B8"/>
                </a:solidFill>
              </a:rPr>
              <a:t>14 engineered features: autoregressive lags (t-1 to t-8), rolling mean/std (4W/8W), calendar seasonality.</a:t>
            </a:r>
          </a:p>
          <a:p>
            <a:pPr>
              <a:spcAft>
                <a:spcPts val="600"/>
              </a:spcAft>
              <a:defRPr sz="850">
                <a:latin typeface="Segoe UI"/>
              </a:defRPr>
            </a:pPr>
            <a:r>
              <a:rPr b="1">
                <a:solidFill>
                  <a:srgbClr val="FFFFFF"/>
                </a:solidFill>
              </a:rPr>
              <a:t>• Algorithm: </a:t>
            </a:r>
            <a:r>
              <a:rPr>
                <a:solidFill>
                  <a:srgbClr val="94A3B8"/>
                </a:solidFill>
              </a:rPr>
              <a:t>Gradient Boosted Trees (150 estimators, max depth 4, learning rate 0.05, subsample 0.85).</a:t>
            </a:r>
          </a:p>
          <a:p>
            <a:pPr>
              <a:spcAft>
                <a:spcPts val="600"/>
              </a:spcAft>
              <a:defRPr sz="850">
                <a:latin typeface="Segoe UI"/>
              </a:defRPr>
            </a:pPr>
            <a:r>
              <a:rPr b="1">
                <a:solidFill>
                  <a:srgbClr val="FFFFFF"/>
                </a:solidFill>
              </a:rPr>
              <a:t>• Output: </a:t>
            </a:r>
            <a:r>
              <a:rPr>
                <a:solidFill>
                  <a:srgbClr val="94A3B8"/>
                </a:solidFill>
              </a:rPr>
              <a:t>Weekly expected demand quantity with multi-horizon confidence intervals.</a:t>
            </a:r>
          </a:p>
        </p:txBody>
      </p:sp>
      <p:sp>
        <p:nvSpPr>
          <p:cNvPr id="9" name="Rounded Rectangle 8"/>
          <p:cNvSpPr/>
          <p:nvPr/>
        </p:nvSpPr>
        <p:spPr>
          <a:xfrm>
            <a:off x="4379976" y="1645920"/>
            <a:ext cx="3429000" cy="4480560"/>
          </a:xfrm>
          <a:prstGeom prst="roundRect">
            <a:avLst/>
          </a:prstGeom>
          <a:solidFill>
            <a:srgbClr val="111D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755648"/>
            <a:ext cx="3099816" cy="292608"/>
          </a:xfrm>
          <a:prstGeom prst="rect">
            <a:avLst/>
          </a:prstGeom>
          <a:noFill/>
        </p:spPr>
        <p:txBody>
          <a:bodyPr wrap="square" lIns="0" tIns="0" rIns="0" bIns="0">
            <a:spAutoFit/>
          </a:bodyPr>
          <a:lstStyle/>
          <a:p>
            <a:pPr>
              <a:defRPr sz="1100" b="1">
                <a:solidFill>
                  <a:srgbClr val="38BDF8"/>
                </a:solidFill>
                <a:latin typeface="Segoe UI"/>
              </a:defRPr>
            </a:pPr>
            <a:r>
              <a:t>2. SUPPLIER DISRUPTION RISK</a:t>
            </a:r>
          </a:p>
        </p:txBody>
      </p:sp>
      <p:sp>
        <p:nvSpPr>
          <p:cNvPr id="11" name="TextBox 10"/>
          <p:cNvSpPr txBox="1"/>
          <p:nvPr/>
        </p:nvSpPr>
        <p:spPr>
          <a:xfrm>
            <a:off x="4544568" y="2011680"/>
            <a:ext cx="3099816" cy="274320"/>
          </a:xfrm>
          <a:prstGeom prst="rect">
            <a:avLst/>
          </a:prstGeom>
          <a:noFill/>
        </p:spPr>
        <p:txBody>
          <a:bodyPr wrap="none">
            <a:spAutoFit/>
          </a:bodyPr>
          <a:lstStyle/>
          <a:p>
            <a:pPr>
              <a:defRPr sz="950" b="1">
                <a:solidFill>
                  <a:srgbClr val="FFFFFF"/>
                </a:solidFill>
                <a:latin typeface="Segoe UI"/>
              </a:defRPr>
            </a:pPr>
            <a:r>
              <a:t>Architecture: XGBoost Classifier</a:t>
            </a:r>
          </a:p>
        </p:txBody>
      </p:sp>
      <p:sp>
        <p:nvSpPr>
          <p:cNvPr id="12" name="TextBox 11"/>
          <p:cNvSpPr txBox="1"/>
          <p:nvPr/>
        </p:nvSpPr>
        <p:spPr>
          <a:xfrm>
            <a:off x="4544568" y="2377440"/>
            <a:ext cx="3099816" cy="3566160"/>
          </a:xfrm>
          <a:prstGeom prst="rect">
            <a:avLst/>
          </a:prstGeom>
          <a:noFill/>
        </p:spPr>
        <p:txBody>
          <a:bodyPr wrap="square">
            <a:spAutoFit/>
          </a:bodyPr>
          <a:lstStyle/>
          <a:p>
            <a:pPr>
              <a:spcAft>
                <a:spcPts val="600"/>
              </a:spcAft>
              <a:defRPr sz="850">
                <a:latin typeface="Segoe UI"/>
              </a:defRPr>
            </a:pPr>
            <a:r>
              <a:rPr b="1">
                <a:solidFill>
                  <a:srgbClr val="FFFFFF"/>
                </a:solidFill>
              </a:rPr>
              <a:t>• Objective: </a:t>
            </a:r>
            <a:r>
              <a:rPr>
                <a:solidFill>
                  <a:srgbClr val="94A3B8"/>
                </a:solidFill>
              </a:rPr>
              <a:t>Predict the probability of vendor SLA breach or operational failure before stockouts occur.</a:t>
            </a:r>
          </a:p>
          <a:p>
            <a:pPr>
              <a:spcAft>
                <a:spcPts val="600"/>
              </a:spcAft>
              <a:defRPr sz="850">
                <a:latin typeface="Segoe UI"/>
              </a:defRPr>
            </a:pPr>
            <a:r>
              <a:rPr b="1">
                <a:solidFill>
                  <a:srgbClr val="FFFFFF"/>
                </a:solidFill>
              </a:rPr>
              <a:t>• Input Vector: </a:t>
            </a:r>
            <a:r>
              <a:rPr>
                <a:solidFill>
                  <a:srgbClr val="94A3B8"/>
                </a:solidFill>
              </a:rPr>
              <a:t>8 operational variance metrics: lead-time std dev, nominal lead-time, delay frequency, OTR, quality score.</a:t>
            </a:r>
          </a:p>
          <a:p>
            <a:pPr>
              <a:spcAft>
                <a:spcPts val="600"/>
              </a:spcAft>
              <a:defRPr sz="850">
                <a:latin typeface="Segoe UI"/>
              </a:defRPr>
            </a:pPr>
            <a:r>
              <a:rPr b="1">
                <a:solidFill>
                  <a:srgbClr val="FFFFFF"/>
                </a:solidFill>
              </a:rPr>
              <a:t>• Algorithm: </a:t>
            </a:r>
            <a:r>
              <a:rPr>
                <a:solidFill>
                  <a:srgbClr val="94A3B8"/>
                </a:solidFill>
              </a:rPr>
              <a:t>Supervised classification with scale_pos_weight=1.5 and tree depth 3.</a:t>
            </a:r>
          </a:p>
          <a:p>
            <a:pPr>
              <a:spcAft>
                <a:spcPts val="600"/>
              </a:spcAft>
              <a:defRPr sz="850">
                <a:latin typeface="Segoe UI"/>
              </a:defRPr>
            </a:pPr>
            <a:r>
              <a:rPr b="1">
                <a:solidFill>
                  <a:srgbClr val="FFFFFF"/>
                </a:solidFill>
              </a:rPr>
              <a:t>• Output: </a:t>
            </a:r>
            <a:r>
              <a:rPr>
                <a:solidFill>
                  <a:srgbClr val="94A3B8"/>
                </a:solidFill>
              </a:rPr>
              <a:t>Disruption probability score [0.0, 1.0], risk tier (Low/Med/High/Critical), and explainable feature weights.</a:t>
            </a:r>
          </a:p>
        </p:txBody>
      </p:sp>
      <p:sp>
        <p:nvSpPr>
          <p:cNvPr id="13" name="Rounded Rectangle 12"/>
          <p:cNvSpPr/>
          <p:nvPr/>
        </p:nvSpPr>
        <p:spPr>
          <a:xfrm>
            <a:off x="8028432" y="1645920"/>
            <a:ext cx="3429000" cy="4480560"/>
          </a:xfrm>
          <a:prstGeom prst="roundRect">
            <a:avLst/>
          </a:prstGeom>
          <a:solidFill>
            <a:srgbClr val="111D4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4" y="1755648"/>
            <a:ext cx="3099816" cy="292608"/>
          </a:xfrm>
          <a:prstGeom prst="rect">
            <a:avLst/>
          </a:prstGeom>
          <a:noFill/>
        </p:spPr>
        <p:txBody>
          <a:bodyPr wrap="square" lIns="0" tIns="0" rIns="0" bIns="0">
            <a:spAutoFit/>
          </a:bodyPr>
          <a:lstStyle/>
          <a:p>
            <a:pPr>
              <a:defRPr sz="1100" b="1">
                <a:solidFill>
                  <a:srgbClr val="38BDF8"/>
                </a:solidFill>
                <a:latin typeface="Segoe UI"/>
              </a:defRPr>
            </a:pPr>
            <a:r>
              <a:t>3. OPERATIONAL ANOMALY DETECTION</a:t>
            </a:r>
          </a:p>
        </p:txBody>
      </p:sp>
      <p:sp>
        <p:nvSpPr>
          <p:cNvPr id="15" name="TextBox 14"/>
          <p:cNvSpPr txBox="1"/>
          <p:nvPr/>
        </p:nvSpPr>
        <p:spPr>
          <a:xfrm>
            <a:off x="8193024" y="2011680"/>
            <a:ext cx="3099816" cy="274320"/>
          </a:xfrm>
          <a:prstGeom prst="rect">
            <a:avLst/>
          </a:prstGeom>
          <a:noFill/>
        </p:spPr>
        <p:txBody>
          <a:bodyPr wrap="none">
            <a:spAutoFit/>
          </a:bodyPr>
          <a:lstStyle/>
          <a:p>
            <a:pPr>
              <a:defRPr sz="950" b="1">
                <a:solidFill>
                  <a:srgbClr val="FFFFFF"/>
                </a:solidFill>
                <a:latin typeface="Segoe UI"/>
              </a:defRPr>
            </a:pPr>
            <a:r>
              <a:t>Architecture: Isolation Forest</a:t>
            </a:r>
          </a:p>
        </p:txBody>
      </p:sp>
      <p:sp>
        <p:nvSpPr>
          <p:cNvPr id="16" name="TextBox 15"/>
          <p:cNvSpPr txBox="1"/>
          <p:nvPr/>
        </p:nvSpPr>
        <p:spPr>
          <a:xfrm>
            <a:off x="8193024" y="2377440"/>
            <a:ext cx="3099816" cy="3566160"/>
          </a:xfrm>
          <a:prstGeom prst="rect">
            <a:avLst/>
          </a:prstGeom>
          <a:noFill/>
        </p:spPr>
        <p:txBody>
          <a:bodyPr wrap="square">
            <a:spAutoFit/>
          </a:bodyPr>
          <a:lstStyle/>
          <a:p>
            <a:pPr>
              <a:spcAft>
                <a:spcPts val="600"/>
              </a:spcAft>
              <a:defRPr sz="850">
                <a:latin typeface="Segoe UI"/>
              </a:defRPr>
            </a:pPr>
            <a:r>
              <a:rPr b="1">
                <a:solidFill>
                  <a:srgbClr val="FFFFFF"/>
                </a:solidFill>
              </a:rPr>
              <a:t>• Objective: </a:t>
            </a:r>
            <a:r>
              <a:rPr>
                <a:solidFill>
                  <a:srgbClr val="94A3B8"/>
                </a:solidFill>
              </a:rPr>
              <a:t>Unsupervised real-time detection of sudden demand surges and unprecedented transit delays.</a:t>
            </a:r>
          </a:p>
          <a:p>
            <a:pPr>
              <a:spcAft>
                <a:spcPts val="600"/>
              </a:spcAft>
              <a:defRPr sz="850">
                <a:latin typeface="Segoe UI"/>
              </a:defRPr>
            </a:pPr>
            <a:r>
              <a:rPr b="1">
                <a:solidFill>
                  <a:srgbClr val="FFFFFF"/>
                </a:solidFill>
              </a:rPr>
              <a:t>• Input Vector: </a:t>
            </a:r>
            <a:r>
              <a:rPr>
                <a:solidFill>
                  <a:srgbClr val="94A3B8"/>
                </a:solidFill>
              </a:rPr>
              <a:t>Continuous transaction streams: order quantities, delivery deviations, and velocity spikes.</a:t>
            </a:r>
          </a:p>
          <a:p>
            <a:pPr>
              <a:spcAft>
                <a:spcPts val="600"/>
              </a:spcAft>
              <a:defRPr sz="850">
                <a:latin typeface="Segoe UI"/>
              </a:defRPr>
            </a:pPr>
            <a:r>
              <a:rPr b="1">
                <a:solidFill>
                  <a:srgbClr val="FFFFFF"/>
                </a:solidFill>
              </a:rPr>
              <a:t>• Algorithm: </a:t>
            </a:r>
            <a:r>
              <a:rPr>
                <a:solidFill>
                  <a:srgbClr val="94A3B8"/>
                </a:solidFill>
              </a:rPr>
              <a:t>Isolation Forest (100 estimators, contamination rate α = 0.03).</a:t>
            </a:r>
          </a:p>
          <a:p>
            <a:pPr>
              <a:spcAft>
                <a:spcPts val="600"/>
              </a:spcAft>
              <a:defRPr sz="850">
                <a:latin typeface="Segoe UI"/>
              </a:defRPr>
            </a:pPr>
            <a:r>
              <a:rPr b="1">
                <a:solidFill>
                  <a:srgbClr val="FFFFFF"/>
                </a:solidFill>
              </a:rPr>
              <a:t>• Output: </a:t>
            </a:r>
            <a:r>
              <a:rPr>
                <a:solidFill>
                  <a:srgbClr val="94A3B8"/>
                </a:solidFill>
              </a:rPr>
              <a:t>Normalized anomaly score and classification taxonomy (UNUSUAL_DEMAND_SPIKE, TRANSIT_DELAY_OUTLIER).</a:t>
            </a:r>
          </a:p>
        </p:txBody>
      </p:sp>
      <p:sp>
        <p:nvSpPr>
          <p:cNvPr id="17" name="TextBox 16"/>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8 of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[ 09 / 23  •  MODEL BENCHMARKING &amp; EVALUATION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Empirical Model Evaluation &amp; Benchmark Comparison</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Rigorous out-of-sample benchmarking against industry baseline algorithms on strictly held-out test data.</a:t>
            </a:r>
          </a:p>
        </p:txBody>
      </p:sp>
      <p:sp>
        <p:nvSpPr>
          <p:cNvPr id="5" name="Rounded Rectangle 4"/>
          <p:cNvSpPr/>
          <p:nvPr/>
        </p:nvSpPr>
        <p:spPr>
          <a:xfrm>
            <a:off x="731520" y="1645920"/>
            <a:ext cx="5120640" cy="448056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DEMAND FORECASTING BENCHMARK</a:t>
            </a:r>
          </a:p>
        </p:txBody>
      </p:sp>
      <p:graphicFrame>
        <p:nvGraphicFramePr>
          <p:cNvPr id="7" name="Table 6"/>
          <p:cNvGraphicFramePr>
            <a:graphicFrameLocks noGrp="1"/>
          </p:cNvGraphicFramePr>
          <p:nvPr/>
        </p:nvGraphicFramePr>
        <p:xfrm>
          <a:off x="914400" y="2011680"/>
          <a:ext cx="4754880" cy="1645920"/>
        </p:xfrm>
        <a:graphic>
          <a:graphicData uri="http://schemas.openxmlformats.org/drawingml/2006/table">
            <a:tbl>
              <a:tblPr firstRow="1" bandRow="1">
                <a:tableStyleId>{5C22544A-7EE6-4342-B048-85BDC9FD1C3A}</a:tableStyleId>
              </a:tblPr>
              <a:tblGrid>
                <a:gridCol w="1645920"/>
                <a:gridCol w="822960"/>
                <a:gridCol w="822960"/>
                <a:gridCol w="731520"/>
                <a:gridCol w="731520"/>
              </a:tblGrid>
              <a:tr h="329184">
                <a:tc>
                  <a:txBody>
                    <a:bodyPr wrap="square" lIns="73152" rIns="73152"/>
                    <a:lstStyle/>
                    <a:p>
                      <a:pPr>
                        <a:defRPr sz="950" b="1">
                          <a:solidFill>
                            <a:srgbClr val="FFFFFF"/>
                          </a:solidFill>
                          <a:latin typeface="Segoe UI"/>
                        </a:defRPr>
                      </a:pPr>
                      <a:r>
                        <a:t>Model Architecture</a:t>
                      </a:r>
                    </a:p>
                  </a:txBody>
                  <a:tcPr>
                    <a:solidFill>
                      <a:srgbClr val="1E3A8A"/>
                    </a:solidFill>
                  </a:tcPr>
                </a:tc>
                <a:tc>
                  <a:txBody>
                    <a:bodyPr wrap="square" lIns="73152" rIns="73152"/>
                    <a:lstStyle/>
                    <a:p>
                      <a:pPr>
                        <a:defRPr sz="950" b="1">
                          <a:solidFill>
                            <a:srgbClr val="FFFFFF"/>
                          </a:solidFill>
                          <a:latin typeface="Segoe UI"/>
                        </a:defRPr>
                      </a:pPr>
                      <a:r>
                        <a:t>MAE</a:t>
                      </a:r>
                    </a:p>
                  </a:txBody>
                  <a:tcPr>
                    <a:solidFill>
                      <a:srgbClr val="1E3A8A"/>
                    </a:solidFill>
                  </a:tcPr>
                </a:tc>
                <a:tc>
                  <a:txBody>
                    <a:bodyPr wrap="square" lIns="73152" rIns="73152"/>
                    <a:lstStyle/>
                    <a:p>
                      <a:pPr>
                        <a:defRPr sz="950" b="1">
                          <a:solidFill>
                            <a:srgbClr val="FFFFFF"/>
                          </a:solidFill>
                          <a:latin typeface="Segoe UI"/>
                        </a:defRPr>
                      </a:pPr>
                      <a:r>
                        <a:t>RMSE</a:t>
                      </a:r>
                    </a:p>
                  </a:txBody>
                  <a:tcPr>
                    <a:solidFill>
                      <a:srgbClr val="1E3A8A"/>
                    </a:solidFill>
                  </a:tcPr>
                </a:tc>
                <a:tc>
                  <a:txBody>
                    <a:bodyPr wrap="square" lIns="73152" rIns="73152"/>
                    <a:lstStyle/>
                    <a:p>
                      <a:pPr>
                        <a:defRPr sz="950" b="1">
                          <a:solidFill>
                            <a:srgbClr val="FFFFFF"/>
                          </a:solidFill>
                          <a:latin typeface="Segoe UI"/>
                        </a:defRPr>
                      </a:pPr>
                      <a:r>
                        <a:t>sMAPE</a:t>
                      </a:r>
                    </a:p>
                  </a:txBody>
                  <a:tcPr>
                    <a:solidFill>
                      <a:srgbClr val="1E3A8A"/>
                    </a:solidFill>
                  </a:tcPr>
                </a:tc>
                <a:tc>
                  <a:txBody>
                    <a:bodyPr wrap="square" lIns="73152" rIns="73152"/>
                    <a:lstStyle/>
                    <a:p>
                      <a:pPr>
                        <a:defRPr sz="950" b="1">
                          <a:solidFill>
                            <a:srgbClr val="FFFFFF"/>
                          </a:solidFill>
                          <a:latin typeface="Segoe UI"/>
                        </a:defRPr>
                      </a:pPr>
                      <a:r>
                        <a:t>Rank</a:t>
                      </a:r>
                    </a:p>
                  </a:txBody>
                  <a:tcPr>
                    <a:solidFill>
                      <a:srgbClr val="1E3A8A"/>
                    </a:solidFill>
                  </a:tcPr>
                </a:tc>
              </a:tr>
              <a:tr h="329184">
                <a:tc>
                  <a:txBody>
                    <a:bodyPr wrap="square" lIns="73152" rIns="73152" tIns="36576" bIns="36576"/>
                    <a:lstStyle/>
                    <a:p>
                      <a:pPr>
                        <a:defRPr sz="850">
                          <a:solidFill>
                            <a:srgbClr val="FFFFFF"/>
                          </a:solidFill>
                          <a:latin typeface="Segoe UI"/>
                        </a:defRPr>
                      </a:pPr>
                      <a:r>
                        <a:t>Naive Persistence</a:t>
                      </a:r>
                    </a:p>
                  </a:txBody>
                  <a:tcPr>
                    <a:solidFill>
                      <a:srgbClr val="111D4A"/>
                    </a:solidFill>
                  </a:tcPr>
                </a:tc>
                <a:tc>
                  <a:txBody>
                    <a:bodyPr wrap="square" lIns="73152" rIns="73152" tIns="36576" bIns="36576"/>
                    <a:lstStyle/>
                    <a:p>
                      <a:pPr>
                        <a:defRPr sz="850">
                          <a:solidFill>
                            <a:srgbClr val="94A3B8"/>
                          </a:solidFill>
                          <a:latin typeface="Segoe UI"/>
                        </a:defRPr>
                      </a:pPr>
                      <a:r>
                        <a:t>110,961.63</a:t>
                      </a:r>
                    </a:p>
                  </a:txBody>
                  <a:tcPr>
                    <a:solidFill>
                      <a:srgbClr val="111D4A"/>
                    </a:solidFill>
                  </a:tcPr>
                </a:tc>
                <a:tc>
                  <a:txBody>
                    <a:bodyPr wrap="square" lIns="73152" rIns="73152" tIns="36576" bIns="36576"/>
                    <a:lstStyle/>
                    <a:p>
                      <a:pPr>
                        <a:defRPr sz="850">
                          <a:solidFill>
                            <a:srgbClr val="94A3B8"/>
                          </a:solidFill>
                          <a:latin typeface="Segoe UI"/>
                        </a:defRPr>
                      </a:pPr>
                      <a:r>
                        <a:t>136,255.10</a:t>
                      </a:r>
                    </a:p>
                  </a:txBody>
                  <a:tcPr>
                    <a:solidFill>
                      <a:srgbClr val="111D4A"/>
                    </a:solidFill>
                  </a:tcPr>
                </a:tc>
                <a:tc>
                  <a:txBody>
                    <a:bodyPr wrap="square" lIns="73152" rIns="73152" tIns="36576" bIns="36576"/>
                    <a:lstStyle/>
                    <a:p>
                      <a:pPr>
                        <a:defRPr sz="850">
                          <a:solidFill>
                            <a:srgbClr val="94A3B8"/>
                          </a:solidFill>
                          <a:latin typeface="Segoe UI"/>
                        </a:defRPr>
                      </a:pPr>
                      <a:r>
                        <a:t>7.20%</a:t>
                      </a:r>
                    </a:p>
                  </a:txBody>
                  <a:tcPr>
                    <a:solidFill>
                      <a:srgbClr val="111D4A"/>
                    </a:solidFill>
                  </a:tcPr>
                </a:tc>
                <a:tc>
                  <a:txBody>
                    <a:bodyPr wrap="square" lIns="73152" rIns="73152" tIns="36576" bIns="36576"/>
                    <a:lstStyle/>
                    <a:p>
                      <a:pPr>
                        <a:defRPr sz="850">
                          <a:solidFill>
                            <a:srgbClr val="94A3B8"/>
                          </a:solidFill>
                          <a:latin typeface="Segoe UI"/>
                        </a:defRPr>
                      </a:pPr>
                      <a:r>
                        <a:t>2</a:t>
                      </a:r>
                    </a:p>
                  </a:txBody>
                  <a:tcPr>
                    <a:solidFill>
                      <a:srgbClr val="111D4A"/>
                    </a:solidFill>
                  </a:tcPr>
                </a:tc>
              </a:tr>
              <a:tr h="329184">
                <a:tc>
                  <a:txBody>
                    <a:bodyPr wrap="square" lIns="73152" rIns="73152" tIns="36576" bIns="36576"/>
                    <a:lstStyle/>
                    <a:p>
                      <a:pPr>
                        <a:defRPr sz="850">
                          <a:solidFill>
                            <a:srgbClr val="FFFFFF"/>
                          </a:solidFill>
                          <a:latin typeface="Segoe UI"/>
                        </a:defRPr>
                      </a:pPr>
                      <a:r>
                        <a:t>Moving Avg (4-Week)</a:t>
                      </a:r>
                    </a:p>
                  </a:txBody>
                  <a:tcPr>
                    <a:solidFill>
                      <a:srgbClr val="172554"/>
                    </a:solidFill>
                  </a:tcPr>
                </a:tc>
                <a:tc>
                  <a:txBody>
                    <a:bodyPr wrap="square" lIns="73152" rIns="73152" tIns="36576" bIns="36576"/>
                    <a:lstStyle/>
                    <a:p>
                      <a:pPr>
                        <a:defRPr sz="850">
                          <a:solidFill>
                            <a:srgbClr val="94A3B8"/>
                          </a:solidFill>
                          <a:latin typeface="Segoe UI"/>
                        </a:defRPr>
                      </a:pPr>
                      <a:r>
                        <a:t>135,495.41</a:t>
                      </a:r>
                    </a:p>
                  </a:txBody>
                  <a:tcPr>
                    <a:solidFill>
                      <a:srgbClr val="172554"/>
                    </a:solidFill>
                  </a:tcPr>
                </a:tc>
                <a:tc>
                  <a:txBody>
                    <a:bodyPr wrap="square" lIns="73152" rIns="73152" tIns="36576" bIns="36576"/>
                    <a:lstStyle/>
                    <a:p>
                      <a:pPr>
                        <a:defRPr sz="850">
                          <a:solidFill>
                            <a:srgbClr val="94A3B8"/>
                          </a:solidFill>
                          <a:latin typeface="Segoe UI"/>
                        </a:defRPr>
                      </a:pPr>
                      <a:r>
                        <a:t>153,446.84</a:t>
                      </a:r>
                    </a:p>
                  </a:txBody>
                  <a:tcPr>
                    <a:solidFill>
                      <a:srgbClr val="172554"/>
                    </a:solidFill>
                  </a:tcPr>
                </a:tc>
                <a:tc>
                  <a:txBody>
                    <a:bodyPr wrap="square" lIns="73152" rIns="73152" tIns="36576" bIns="36576"/>
                    <a:lstStyle/>
                    <a:p>
                      <a:pPr>
                        <a:defRPr sz="850">
                          <a:solidFill>
                            <a:srgbClr val="94A3B8"/>
                          </a:solidFill>
                          <a:latin typeface="Segoe UI"/>
                        </a:defRPr>
                      </a:pPr>
                      <a:r>
                        <a:t>8.42%</a:t>
                      </a:r>
                    </a:p>
                  </a:txBody>
                  <a:tcPr>
                    <a:solidFill>
                      <a:srgbClr val="172554"/>
                    </a:solidFill>
                  </a:tcPr>
                </a:tc>
                <a:tc>
                  <a:txBody>
                    <a:bodyPr wrap="square" lIns="73152" rIns="73152" tIns="36576" bIns="36576"/>
                    <a:lstStyle/>
                    <a:p>
                      <a:pPr>
                        <a:defRPr sz="850">
                          <a:solidFill>
                            <a:srgbClr val="94A3B8"/>
                          </a:solidFill>
                          <a:latin typeface="Segoe UI"/>
                        </a:defRPr>
                      </a:pPr>
                      <a:r>
                        <a:t>3</a:t>
                      </a:r>
                    </a:p>
                  </a:txBody>
                  <a:tcPr>
                    <a:solidFill>
                      <a:srgbClr val="172554"/>
                    </a:solidFill>
                  </a:tcPr>
                </a:tc>
              </a:tr>
              <a:tr h="329184">
                <a:tc>
                  <a:txBody>
                    <a:bodyPr wrap="square" lIns="73152" rIns="73152" tIns="36576" bIns="36576"/>
                    <a:lstStyle/>
                    <a:p>
                      <a:pPr>
                        <a:defRPr sz="850">
                          <a:solidFill>
                            <a:srgbClr val="FFFFFF"/>
                          </a:solidFill>
                          <a:latin typeface="Segoe UI"/>
                        </a:defRPr>
                      </a:pPr>
                      <a:r>
                        <a:t>Moving Avg (8-Week)</a:t>
                      </a:r>
                    </a:p>
                  </a:txBody>
                  <a:tcPr>
                    <a:solidFill>
                      <a:srgbClr val="111D4A"/>
                    </a:solidFill>
                  </a:tcPr>
                </a:tc>
                <a:tc>
                  <a:txBody>
                    <a:bodyPr wrap="square" lIns="73152" rIns="73152" tIns="36576" bIns="36576"/>
                    <a:lstStyle/>
                    <a:p>
                      <a:pPr>
                        <a:defRPr sz="850">
                          <a:solidFill>
                            <a:srgbClr val="94A3B8"/>
                          </a:solidFill>
                          <a:latin typeface="Segoe UI"/>
                        </a:defRPr>
                      </a:pPr>
                      <a:r>
                        <a:t>194,063.88</a:t>
                      </a:r>
                    </a:p>
                  </a:txBody>
                  <a:tcPr>
                    <a:solidFill>
                      <a:srgbClr val="111D4A"/>
                    </a:solidFill>
                  </a:tcPr>
                </a:tc>
                <a:tc>
                  <a:txBody>
                    <a:bodyPr wrap="square" lIns="73152" rIns="73152" tIns="36576" bIns="36576"/>
                    <a:lstStyle/>
                    <a:p>
                      <a:pPr>
                        <a:defRPr sz="850">
                          <a:solidFill>
                            <a:srgbClr val="94A3B8"/>
                          </a:solidFill>
                          <a:latin typeface="Segoe UI"/>
                        </a:defRPr>
                      </a:pPr>
                      <a:r>
                        <a:t>210,775.27</a:t>
                      </a:r>
                    </a:p>
                  </a:txBody>
                  <a:tcPr>
                    <a:solidFill>
                      <a:srgbClr val="111D4A"/>
                    </a:solidFill>
                  </a:tcPr>
                </a:tc>
                <a:tc>
                  <a:txBody>
                    <a:bodyPr wrap="square" lIns="73152" rIns="73152" tIns="36576" bIns="36576"/>
                    <a:lstStyle/>
                    <a:p>
                      <a:pPr>
                        <a:defRPr sz="850">
                          <a:solidFill>
                            <a:srgbClr val="94A3B8"/>
                          </a:solidFill>
                          <a:latin typeface="Segoe UI"/>
                        </a:defRPr>
                      </a:pPr>
                      <a:r>
                        <a:t>11.80%</a:t>
                      </a:r>
                    </a:p>
                  </a:txBody>
                  <a:tcPr>
                    <a:solidFill>
                      <a:srgbClr val="111D4A"/>
                    </a:solidFill>
                  </a:tcPr>
                </a:tc>
                <a:tc>
                  <a:txBody>
                    <a:bodyPr wrap="square" lIns="73152" rIns="73152" tIns="36576" bIns="36576"/>
                    <a:lstStyle/>
                    <a:p>
                      <a:pPr>
                        <a:defRPr sz="850">
                          <a:solidFill>
                            <a:srgbClr val="94A3B8"/>
                          </a:solidFill>
                          <a:latin typeface="Segoe UI"/>
                        </a:defRPr>
                      </a:pPr>
                      <a:r>
                        <a:t>4</a:t>
                      </a:r>
                    </a:p>
                  </a:txBody>
                  <a:tcPr>
                    <a:solidFill>
                      <a:srgbClr val="111D4A"/>
                    </a:solidFill>
                  </a:tcPr>
                </a:tc>
              </a:tr>
              <a:tr h="329184">
                <a:tc>
                  <a:txBody>
                    <a:bodyPr wrap="square" lIns="73152" rIns="73152" tIns="36576" bIns="36576"/>
                    <a:lstStyle/>
                    <a:p>
                      <a:pPr>
                        <a:defRPr sz="850">
                          <a:solidFill>
                            <a:srgbClr val="FFFFFF"/>
                          </a:solidFill>
                          <a:latin typeface="Segoe UI"/>
                        </a:defRPr>
                      </a:pPr>
                      <a:r>
                        <a:t>XGBoost Regressor (NEXUS)</a:t>
                      </a:r>
                    </a:p>
                  </a:txBody>
                  <a:tcPr>
                    <a:solidFill>
                      <a:srgbClr val="172554"/>
                    </a:solidFill>
                  </a:tcPr>
                </a:tc>
                <a:tc>
                  <a:txBody>
                    <a:bodyPr wrap="square" lIns="73152" rIns="73152" tIns="36576" bIns="36576"/>
                    <a:lstStyle/>
                    <a:p>
                      <a:pPr>
                        <a:defRPr sz="850">
                          <a:solidFill>
                            <a:srgbClr val="94A3B8"/>
                          </a:solidFill>
                          <a:latin typeface="Segoe UI"/>
                        </a:defRPr>
                      </a:pPr>
                      <a:r>
                        <a:t>68,553.14</a:t>
                      </a:r>
                    </a:p>
                  </a:txBody>
                  <a:tcPr>
                    <a:solidFill>
                      <a:srgbClr val="172554"/>
                    </a:solidFill>
                  </a:tcPr>
                </a:tc>
                <a:tc>
                  <a:txBody>
                    <a:bodyPr wrap="square" lIns="73152" rIns="73152" tIns="36576" bIns="36576"/>
                    <a:lstStyle/>
                    <a:p>
                      <a:pPr>
                        <a:defRPr sz="850">
                          <a:solidFill>
                            <a:srgbClr val="94A3B8"/>
                          </a:solidFill>
                          <a:latin typeface="Segoe UI"/>
                        </a:defRPr>
                      </a:pPr>
                      <a:r>
                        <a:t>96,042.50</a:t>
                      </a:r>
                    </a:p>
                  </a:txBody>
                  <a:tcPr>
                    <a:solidFill>
                      <a:srgbClr val="172554"/>
                    </a:solidFill>
                  </a:tcPr>
                </a:tc>
                <a:tc>
                  <a:txBody>
                    <a:bodyPr wrap="square" lIns="73152" rIns="73152" tIns="36576" bIns="36576"/>
                    <a:lstStyle/>
                    <a:p>
                      <a:pPr>
                        <a:defRPr sz="850">
                          <a:solidFill>
                            <a:srgbClr val="94A3B8"/>
                          </a:solidFill>
                          <a:latin typeface="Segoe UI"/>
                        </a:defRPr>
                      </a:pPr>
                      <a:r>
                        <a:t>4.35%</a:t>
                      </a:r>
                    </a:p>
                  </a:txBody>
                  <a:tcPr>
                    <a:solidFill>
                      <a:srgbClr val="172554"/>
                    </a:solidFill>
                  </a:tcPr>
                </a:tc>
                <a:tc>
                  <a:txBody>
                    <a:bodyPr wrap="square" lIns="73152" rIns="73152" tIns="36576" bIns="36576"/>
                    <a:lstStyle/>
                    <a:p>
                      <a:pPr>
                        <a:defRPr sz="850" b="1">
                          <a:solidFill>
                            <a:srgbClr val="10B981"/>
                          </a:solidFill>
                          <a:latin typeface="Segoe UI"/>
                        </a:defRPr>
                      </a:pPr>
                      <a:r>
                        <a:t>1 (Winner)</a:t>
                      </a:r>
                    </a:p>
                  </a:txBody>
                  <a:tcPr>
                    <a:solidFill>
                      <a:srgbClr val="172554"/>
                    </a:solidFill>
                  </a:tcPr>
                </a:tc>
              </a:tr>
            </a:tbl>
          </a:graphicData>
        </a:graphic>
      </p:graphicFrame>
      <p:pic>
        <p:nvPicPr>
          <p:cNvPr id="8" name="Picture 7" descr="slide_forecast_benchmark.png"/>
          <p:cNvPicPr>
            <a:picLocks noChangeAspect="1"/>
          </p:cNvPicPr>
          <p:nvPr/>
        </p:nvPicPr>
        <p:blipFill>
          <a:blip r:embed="rId2"/>
          <a:stretch>
            <a:fillRect/>
          </a:stretch>
        </p:blipFill>
        <p:spPr>
          <a:xfrm>
            <a:off x="914400" y="3749039"/>
            <a:ext cx="4754880" cy="2240280"/>
          </a:xfrm>
          <a:prstGeom prst="rect">
            <a:avLst/>
          </a:prstGeom>
        </p:spPr>
      </p:pic>
      <p:sp>
        <p:nvSpPr>
          <p:cNvPr id="9" name="Rounded Rectangle 8"/>
          <p:cNvSpPr/>
          <p:nvPr/>
        </p:nvSpPr>
        <p:spPr>
          <a:xfrm>
            <a:off x="6217920" y="1645920"/>
            <a:ext cx="5242255" cy="4480560"/>
          </a:xfrm>
          <a:prstGeom prst="roundRect">
            <a:avLst/>
          </a:prstGeom>
          <a:solidFill>
            <a:srgbClr val="111D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755648"/>
            <a:ext cx="4913071" cy="292608"/>
          </a:xfrm>
          <a:prstGeom prst="rect">
            <a:avLst/>
          </a:prstGeom>
          <a:noFill/>
        </p:spPr>
        <p:txBody>
          <a:bodyPr wrap="square" lIns="0" tIns="0" rIns="0" bIns="0">
            <a:spAutoFit/>
          </a:bodyPr>
          <a:lstStyle/>
          <a:p>
            <a:pPr>
              <a:defRPr sz="1100" b="1">
                <a:solidFill>
                  <a:srgbClr val="38BDF8"/>
                </a:solidFill>
                <a:latin typeface="Segoe UI"/>
              </a:defRPr>
            </a:pPr>
            <a:r>
              <a:t>SUPPLIER RISK OUT-OF-SAMPLE BENCHMARK</a:t>
            </a:r>
          </a:p>
        </p:txBody>
      </p:sp>
      <p:graphicFrame>
        <p:nvGraphicFramePr>
          <p:cNvPr id="11" name="Table 10"/>
          <p:cNvGraphicFramePr>
            <a:graphicFrameLocks noGrp="1"/>
          </p:cNvGraphicFramePr>
          <p:nvPr/>
        </p:nvGraphicFramePr>
        <p:xfrm>
          <a:off x="6400800" y="2011680"/>
          <a:ext cx="4876495" cy="1188720"/>
        </p:xfrm>
        <a:graphic>
          <a:graphicData uri="http://schemas.openxmlformats.org/drawingml/2006/table">
            <a:tbl>
              <a:tblPr firstRow="1" bandRow="1">
                <a:tableStyleId>{5C22544A-7EE6-4342-B048-85BDC9FD1C3A}</a:tableStyleId>
              </a:tblPr>
              <a:tblGrid>
                <a:gridCol w="1950415"/>
                <a:gridCol w="731520"/>
                <a:gridCol w="731520"/>
                <a:gridCol w="731520"/>
                <a:gridCol w="731520"/>
              </a:tblGrid>
              <a:tr h="396240">
                <a:tc>
                  <a:txBody>
                    <a:bodyPr wrap="square" lIns="73152" rIns="73152"/>
                    <a:lstStyle/>
                    <a:p>
                      <a:pPr>
                        <a:defRPr sz="950" b="1">
                          <a:solidFill>
                            <a:srgbClr val="FFFFFF"/>
                          </a:solidFill>
                          <a:latin typeface="Segoe UI"/>
                        </a:defRPr>
                      </a:pPr>
                      <a:r>
                        <a:t>Model Architecture</a:t>
                      </a:r>
                    </a:p>
                  </a:txBody>
                  <a:tcPr>
                    <a:solidFill>
                      <a:srgbClr val="1E3A8A"/>
                    </a:solidFill>
                  </a:tcPr>
                </a:tc>
                <a:tc>
                  <a:txBody>
                    <a:bodyPr wrap="square" lIns="73152" rIns="73152"/>
                    <a:lstStyle/>
                    <a:p>
                      <a:pPr>
                        <a:defRPr sz="950" b="1">
                          <a:solidFill>
                            <a:srgbClr val="FFFFFF"/>
                          </a:solidFill>
                          <a:latin typeface="Segoe UI"/>
                        </a:defRPr>
                      </a:pPr>
                      <a:r>
                        <a:t>Precision</a:t>
                      </a:r>
                    </a:p>
                  </a:txBody>
                  <a:tcPr>
                    <a:solidFill>
                      <a:srgbClr val="1E3A8A"/>
                    </a:solidFill>
                  </a:tcPr>
                </a:tc>
                <a:tc>
                  <a:txBody>
                    <a:bodyPr wrap="square" lIns="73152" rIns="73152"/>
                    <a:lstStyle/>
                    <a:p>
                      <a:pPr>
                        <a:defRPr sz="950" b="1">
                          <a:solidFill>
                            <a:srgbClr val="FFFFFF"/>
                          </a:solidFill>
                          <a:latin typeface="Segoe UI"/>
                        </a:defRPr>
                      </a:pPr>
                      <a:r>
                        <a:t>Recall</a:t>
                      </a:r>
                    </a:p>
                  </a:txBody>
                  <a:tcPr>
                    <a:solidFill>
                      <a:srgbClr val="1E3A8A"/>
                    </a:solidFill>
                  </a:tcPr>
                </a:tc>
                <a:tc>
                  <a:txBody>
                    <a:bodyPr wrap="square" lIns="73152" rIns="73152"/>
                    <a:lstStyle/>
                    <a:p>
                      <a:pPr>
                        <a:defRPr sz="950" b="1">
                          <a:solidFill>
                            <a:srgbClr val="FFFFFF"/>
                          </a:solidFill>
                          <a:latin typeface="Segoe UI"/>
                        </a:defRPr>
                      </a:pPr>
                      <a:r>
                        <a:t>F1-Score</a:t>
                      </a:r>
                    </a:p>
                  </a:txBody>
                  <a:tcPr>
                    <a:solidFill>
                      <a:srgbClr val="1E3A8A"/>
                    </a:solidFill>
                  </a:tcPr>
                </a:tc>
                <a:tc>
                  <a:txBody>
                    <a:bodyPr wrap="square" lIns="73152" rIns="73152"/>
                    <a:lstStyle/>
                    <a:p>
                      <a:pPr>
                        <a:defRPr sz="950" b="1">
                          <a:solidFill>
                            <a:srgbClr val="FFFFFF"/>
                          </a:solidFill>
                          <a:latin typeface="Segoe UI"/>
                        </a:defRPr>
                      </a:pPr>
                      <a:r>
                        <a:t>ROC-AUC</a:t>
                      </a:r>
                    </a:p>
                  </a:txBody>
                  <a:tcPr>
                    <a:solidFill>
                      <a:srgbClr val="1E3A8A"/>
                    </a:solidFill>
                  </a:tcPr>
                </a:tc>
              </a:tr>
              <a:tr h="396240">
                <a:tc>
                  <a:txBody>
                    <a:bodyPr wrap="square" lIns="73152" rIns="73152" tIns="36576" bIns="36576"/>
                    <a:lstStyle/>
                    <a:p>
                      <a:pPr>
                        <a:defRPr sz="850">
                          <a:solidFill>
                            <a:srgbClr val="FFFFFF"/>
                          </a:solidFill>
                          <a:latin typeface="Segoe UI"/>
                        </a:defRPr>
                      </a:pPr>
                      <a:r>
                        <a:t>Logistic Regression Baseline</a:t>
                      </a:r>
                    </a:p>
                  </a:txBody>
                  <a:tcPr>
                    <a:solidFill>
                      <a:srgbClr val="111D4A"/>
                    </a:solidFill>
                  </a:tcPr>
                </a:tc>
                <a:tc>
                  <a:txBody>
                    <a:bodyPr wrap="square" lIns="73152" rIns="73152" tIns="36576" bIns="36576"/>
                    <a:lstStyle/>
                    <a:p>
                      <a:pPr>
                        <a:defRPr sz="850">
                          <a:solidFill>
                            <a:srgbClr val="94A3B8"/>
                          </a:solidFill>
                          <a:latin typeface="Segoe UI"/>
                        </a:defRPr>
                      </a:pPr>
                      <a:r>
                        <a:t>0.7531</a:t>
                      </a:r>
                    </a:p>
                  </a:txBody>
                  <a:tcPr>
                    <a:solidFill>
                      <a:srgbClr val="111D4A"/>
                    </a:solidFill>
                  </a:tcPr>
                </a:tc>
                <a:tc>
                  <a:txBody>
                    <a:bodyPr wrap="square" lIns="73152" rIns="73152" tIns="36576" bIns="36576"/>
                    <a:lstStyle/>
                    <a:p>
                      <a:pPr>
                        <a:defRPr sz="850">
                          <a:solidFill>
                            <a:srgbClr val="94A3B8"/>
                          </a:solidFill>
                          <a:latin typeface="Segoe UI"/>
                        </a:defRPr>
                      </a:pPr>
                      <a:r>
                        <a:t>0.7349</a:t>
                      </a:r>
                    </a:p>
                  </a:txBody>
                  <a:tcPr>
                    <a:solidFill>
                      <a:srgbClr val="111D4A"/>
                    </a:solidFill>
                  </a:tcPr>
                </a:tc>
                <a:tc>
                  <a:txBody>
                    <a:bodyPr wrap="square" lIns="73152" rIns="73152" tIns="36576" bIns="36576"/>
                    <a:lstStyle/>
                    <a:p>
                      <a:pPr>
                        <a:defRPr sz="850">
                          <a:solidFill>
                            <a:srgbClr val="94A3B8"/>
                          </a:solidFill>
                          <a:latin typeface="Segoe UI"/>
                        </a:defRPr>
                      </a:pPr>
                      <a:r>
                        <a:t>0.7439</a:t>
                      </a:r>
                    </a:p>
                  </a:txBody>
                  <a:tcPr>
                    <a:solidFill>
                      <a:srgbClr val="111D4A"/>
                    </a:solidFill>
                  </a:tcPr>
                </a:tc>
                <a:tc>
                  <a:txBody>
                    <a:bodyPr wrap="square" lIns="73152" rIns="73152" tIns="36576" bIns="36576"/>
                    <a:lstStyle/>
                    <a:p>
                      <a:pPr>
                        <a:defRPr sz="850">
                          <a:solidFill>
                            <a:srgbClr val="94A3B8"/>
                          </a:solidFill>
                          <a:latin typeface="Segoe UI"/>
                        </a:defRPr>
                      </a:pPr>
                      <a:r>
                        <a:t>0.7401</a:t>
                      </a:r>
                    </a:p>
                  </a:txBody>
                  <a:tcPr>
                    <a:solidFill>
                      <a:srgbClr val="111D4A"/>
                    </a:solidFill>
                  </a:tcPr>
                </a:tc>
              </a:tr>
              <a:tr h="396240">
                <a:tc>
                  <a:txBody>
                    <a:bodyPr wrap="square" lIns="73152" rIns="73152" tIns="36576" bIns="36576"/>
                    <a:lstStyle/>
                    <a:p>
                      <a:pPr>
                        <a:defRPr sz="850">
                          <a:solidFill>
                            <a:srgbClr val="FFFFFF"/>
                          </a:solidFill>
                          <a:latin typeface="Segoe UI"/>
                        </a:defRPr>
                      </a:pPr>
                      <a:r>
                        <a:t>XGBoost Classifier (NEXUS)</a:t>
                      </a:r>
                    </a:p>
                  </a:txBody>
                  <a:tcPr>
                    <a:solidFill>
                      <a:srgbClr val="172554"/>
                    </a:solidFill>
                  </a:tcPr>
                </a:tc>
                <a:tc>
                  <a:txBody>
                    <a:bodyPr wrap="square" lIns="73152" rIns="73152" tIns="36576" bIns="36576"/>
                    <a:lstStyle/>
                    <a:p>
                      <a:pPr>
                        <a:defRPr sz="850">
                          <a:solidFill>
                            <a:srgbClr val="94A3B8"/>
                          </a:solidFill>
                          <a:latin typeface="Segoe UI"/>
                        </a:defRPr>
                      </a:pPr>
                      <a:r>
                        <a:t>0.7442</a:t>
                      </a:r>
                    </a:p>
                  </a:txBody>
                  <a:tcPr>
                    <a:solidFill>
                      <a:srgbClr val="172554"/>
                    </a:solidFill>
                  </a:tcPr>
                </a:tc>
                <a:tc>
                  <a:txBody>
                    <a:bodyPr wrap="square" lIns="73152" rIns="73152" tIns="36576" bIns="36576"/>
                    <a:lstStyle/>
                    <a:p>
                      <a:pPr>
                        <a:defRPr sz="850">
                          <a:solidFill>
                            <a:srgbClr val="94A3B8"/>
                          </a:solidFill>
                          <a:latin typeface="Segoe UI"/>
                        </a:defRPr>
                      </a:pPr>
                      <a:r>
                        <a:t>0.7711</a:t>
                      </a:r>
                    </a:p>
                  </a:txBody>
                  <a:tcPr>
                    <a:solidFill>
                      <a:srgbClr val="172554"/>
                    </a:solidFill>
                  </a:tcPr>
                </a:tc>
                <a:tc>
                  <a:txBody>
                    <a:bodyPr wrap="square" lIns="73152" rIns="73152" tIns="36576" bIns="36576"/>
                    <a:lstStyle/>
                    <a:p>
                      <a:pPr>
                        <a:defRPr sz="850">
                          <a:solidFill>
                            <a:srgbClr val="94A3B8"/>
                          </a:solidFill>
                          <a:latin typeface="Segoe UI"/>
                        </a:defRPr>
                      </a:pPr>
                      <a:r>
                        <a:t>0.7574</a:t>
                      </a:r>
                    </a:p>
                  </a:txBody>
                  <a:tcPr>
                    <a:solidFill>
                      <a:srgbClr val="172554"/>
                    </a:solidFill>
                  </a:tcPr>
                </a:tc>
                <a:tc>
                  <a:txBody>
                    <a:bodyPr wrap="square" lIns="73152" rIns="73152" tIns="36576" bIns="36576"/>
                    <a:lstStyle/>
                    <a:p>
                      <a:pPr>
                        <a:defRPr sz="850">
                          <a:solidFill>
                            <a:srgbClr val="94A3B8"/>
                          </a:solidFill>
                          <a:latin typeface="Segoe UI"/>
                        </a:defRPr>
                      </a:pPr>
                      <a:r>
                        <a:t>0.6988</a:t>
                      </a:r>
                    </a:p>
                  </a:txBody>
                  <a:tcPr>
                    <a:solidFill>
                      <a:srgbClr val="172554"/>
                    </a:solidFill>
                  </a:tcPr>
                </a:tc>
              </a:tr>
            </a:tbl>
          </a:graphicData>
        </a:graphic>
      </p:graphicFrame>
      <p:pic>
        <p:nvPicPr>
          <p:cNvPr id="12" name="Picture 11" descr="slide_risk_benchmark.png"/>
          <p:cNvPicPr>
            <a:picLocks noChangeAspect="1"/>
          </p:cNvPicPr>
          <p:nvPr/>
        </p:nvPicPr>
        <p:blipFill>
          <a:blip r:embed="rId3"/>
          <a:stretch>
            <a:fillRect/>
          </a:stretch>
        </p:blipFill>
        <p:spPr>
          <a:xfrm>
            <a:off x="6400800" y="3291840"/>
            <a:ext cx="4876495" cy="2697480"/>
          </a:xfrm>
          <a:prstGeom prst="rect">
            <a:avLst/>
          </a:prstGeom>
        </p:spPr>
      </p:pic>
      <p:sp>
        <p:nvSpPr>
          <p:cNvPr id="13" name="TextBox 12"/>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9 of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[ 10 / 23  •  DECISION INTELLIGENCE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The NEXUS Decision Matrix — From Signal to Action</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Prediction alone does not make decisions; NEXUS pairs signals with downstream impact and mathematical optimization.</a:t>
            </a:r>
          </a:p>
        </p:txBody>
      </p:sp>
      <p:graphicFrame>
        <p:nvGraphicFramePr>
          <p:cNvPr id="5" name="Table 4"/>
          <p:cNvGraphicFramePr>
            <a:graphicFrameLocks noGrp="1"/>
          </p:cNvGraphicFramePr>
          <p:nvPr/>
        </p:nvGraphicFramePr>
        <p:xfrm>
          <a:off x="731520" y="1645920"/>
          <a:ext cx="10728655" cy="3108960"/>
        </p:xfrm>
        <a:graphic>
          <a:graphicData uri="http://schemas.openxmlformats.org/drawingml/2006/table">
            <a:tbl>
              <a:tblPr firstRow="1" bandRow="1">
                <a:tableStyleId>{5C22544A-7EE6-4342-B048-85BDC9FD1C3A}</a:tableStyleId>
              </a:tblPr>
              <a:tblGrid>
                <a:gridCol w="2011680"/>
                <a:gridCol w="2194560"/>
                <a:gridCol w="2926080"/>
                <a:gridCol w="3596335"/>
              </a:tblGrid>
              <a:tr h="518160">
                <a:tc>
                  <a:txBody>
                    <a:bodyPr wrap="square" lIns="73152" rIns="73152"/>
                    <a:lstStyle/>
                    <a:p>
                      <a:pPr>
                        <a:defRPr sz="950" b="1">
                          <a:solidFill>
                            <a:srgbClr val="FFFFFF"/>
                          </a:solidFill>
                          <a:latin typeface="Segoe UI"/>
                        </a:defRPr>
                      </a:pPr>
                      <a:r>
                        <a:t>Operational Signal</a:t>
                      </a:r>
                    </a:p>
                  </a:txBody>
                  <a:tcPr>
                    <a:solidFill>
                      <a:srgbClr val="1E3A8A"/>
                    </a:solidFill>
                  </a:tcPr>
                </a:tc>
                <a:tc>
                  <a:txBody>
                    <a:bodyPr wrap="square" lIns="73152" rIns="73152"/>
                    <a:lstStyle/>
                    <a:p>
                      <a:pPr>
                        <a:defRPr sz="950" b="1">
                          <a:solidFill>
                            <a:srgbClr val="FFFFFF"/>
                          </a:solidFill>
                          <a:latin typeface="Segoe UI"/>
                        </a:defRPr>
                      </a:pPr>
                      <a:r>
                        <a:t>Detection Mechanism</a:t>
                      </a:r>
                    </a:p>
                  </a:txBody>
                  <a:tcPr>
                    <a:solidFill>
                      <a:srgbClr val="1E3A8A"/>
                    </a:solidFill>
                  </a:tcPr>
                </a:tc>
                <a:tc>
                  <a:txBody>
                    <a:bodyPr wrap="square" lIns="73152" rIns="73152"/>
                    <a:lstStyle/>
                    <a:p>
                      <a:pPr>
                        <a:defRPr sz="950" b="1">
                          <a:solidFill>
                            <a:srgbClr val="FFFFFF"/>
                          </a:solidFill>
                          <a:latin typeface="Segoe UI"/>
                        </a:defRPr>
                      </a:pPr>
                      <a:r>
                        <a:t>Downstream Network Impact</a:t>
                      </a:r>
                    </a:p>
                  </a:txBody>
                  <a:tcPr>
                    <a:solidFill>
                      <a:srgbClr val="1E3A8A"/>
                    </a:solidFill>
                  </a:tcPr>
                </a:tc>
                <a:tc>
                  <a:txBody>
                    <a:bodyPr wrap="square" lIns="73152" rIns="73152"/>
                    <a:lstStyle/>
                    <a:p>
                      <a:pPr>
                        <a:defRPr sz="950" b="1">
                          <a:solidFill>
                            <a:srgbClr val="FFFFFF"/>
                          </a:solidFill>
                          <a:latin typeface="Segoe UI"/>
                        </a:defRPr>
                      </a:pPr>
                      <a:r>
                        <a:t>NEXUS Prescriptive Decision</a:t>
                      </a:r>
                    </a:p>
                  </a:txBody>
                  <a:tcPr>
                    <a:solidFill>
                      <a:srgbClr val="1E3A8A"/>
                    </a:solidFill>
                  </a:tcPr>
                </a:tc>
              </a:tr>
              <a:tr h="518160">
                <a:tc>
                  <a:txBody>
                    <a:bodyPr wrap="square" lIns="73152" rIns="73152" tIns="36576" bIns="36576"/>
                    <a:lstStyle/>
                    <a:p>
                      <a:pPr>
                        <a:defRPr sz="850">
                          <a:solidFill>
                            <a:srgbClr val="FFFFFF"/>
                          </a:solidFill>
                          <a:latin typeface="Segoe UI"/>
                        </a:defRPr>
                      </a:pPr>
                      <a:r>
                        <a:t>Demand Spike / Surge</a:t>
                      </a:r>
                    </a:p>
                  </a:txBody>
                  <a:tcPr>
                    <a:solidFill>
                      <a:srgbClr val="111D4A"/>
                    </a:solidFill>
                  </a:tcPr>
                </a:tc>
                <a:tc>
                  <a:txBody>
                    <a:bodyPr wrap="square" lIns="73152" rIns="73152" tIns="36576" bIns="36576"/>
                    <a:lstStyle/>
                    <a:p>
                      <a:pPr>
                        <a:defRPr sz="850">
                          <a:solidFill>
                            <a:srgbClr val="94A3B8"/>
                          </a:solidFill>
                          <a:latin typeface="Segoe UI"/>
                        </a:defRPr>
                      </a:pPr>
                      <a:r>
                        <a:t>XGBoost Regressor</a:t>
                      </a:r>
                      <a:br/>
                      <a:r>
                        <a:t>(multi-step forecast)</a:t>
                      </a:r>
                    </a:p>
                  </a:txBody>
                  <a:tcPr>
                    <a:solidFill>
                      <a:srgbClr val="111D4A"/>
                    </a:solidFill>
                  </a:tcPr>
                </a:tc>
                <a:tc>
                  <a:txBody>
                    <a:bodyPr wrap="square" lIns="73152" rIns="73152" tIns="36576" bIns="36576"/>
                    <a:lstStyle/>
                    <a:p>
                      <a:pPr>
                        <a:defRPr sz="850">
                          <a:solidFill>
                            <a:srgbClr val="94A3B8"/>
                          </a:solidFill>
                          <a:latin typeface="Segoe UI"/>
                        </a:defRPr>
                      </a:pPr>
                      <a:r>
                        <a:t>Depletes warehouse safety buffer;</a:t>
                      </a:r>
                      <a:br/>
                      <a:r>
                        <a:t>stockout risk within 14 days</a:t>
                      </a:r>
                    </a:p>
                  </a:txBody>
                  <a:tcPr>
                    <a:solidFill>
                      <a:srgbClr val="111D4A"/>
                    </a:solidFill>
                  </a:tcPr>
                </a:tc>
                <a:tc>
                  <a:txBody>
                    <a:bodyPr wrap="square" lIns="73152" rIns="73152" tIns="36576" bIns="36576"/>
                    <a:lstStyle/>
                    <a:p>
                      <a:pPr>
                        <a:defRPr sz="850">
                          <a:solidFill>
                            <a:srgbClr val="94A3B8"/>
                          </a:solidFill>
                          <a:latin typeface="Segoe UI"/>
                        </a:defRPr>
                      </a:pPr>
                      <a:r>
                        <a:t>Dynamically scale production quotas &amp;</a:t>
                      </a:r>
                      <a:br/>
                      <a:r>
                        <a:t>increase supplier procurement allocations</a:t>
                      </a:r>
                    </a:p>
                  </a:txBody>
                  <a:tcPr>
                    <a:solidFill>
                      <a:srgbClr val="111D4A"/>
                    </a:solidFill>
                  </a:tcPr>
                </a:tc>
              </a:tr>
              <a:tr h="518160">
                <a:tc>
                  <a:txBody>
                    <a:bodyPr wrap="square" lIns="73152" rIns="73152" tIns="36576" bIns="36576"/>
                    <a:lstStyle/>
                    <a:p>
                      <a:pPr>
                        <a:defRPr sz="850">
                          <a:solidFill>
                            <a:srgbClr val="FFFFFF"/>
                          </a:solidFill>
                          <a:latin typeface="Segoe UI"/>
                        </a:defRPr>
                      </a:pPr>
                      <a:r>
                        <a:t>Supplier Capacity Loss</a:t>
                      </a:r>
                    </a:p>
                  </a:txBody>
                  <a:tcPr>
                    <a:solidFill>
                      <a:srgbClr val="172554"/>
                    </a:solidFill>
                  </a:tcPr>
                </a:tc>
                <a:tc>
                  <a:txBody>
                    <a:bodyPr wrap="square" lIns="73152" rIns="73152" tIns="36576" bIns="36576"/>
                    <a:lstStyle/>
                    <a:p>
                      <a:pPr>
                        <a:defRPr sz="850">
                          <a:solidFill>
                            <a:srgbClr val="94A3B8"/>
                          </a:solidFill>
                          <a:latin typeface="Segoe UI"/>
                        </a:defRPr>
                      </a:pPr>
                      <a:r>
                        <a:t>Supervised Risk Classifier</a:t>
                      </a:r>
                      <a:br/>
                      <a:r>
                        <a:t>+ ScenarioEngine</a:t>
                      </a:r>
                    </a:p>
                  </a:txBody>
                  <a:tcPr>
                    <a:solidFill>
                      <a:srgbClr val="172554"/>
                    </a:solidFill>
                  </a:tcPr>
                </a:tc>
                <a:tc>
                  <a:txBody>
                    <a:bodyPr wrap="square" lIns="73152" rIns="73152" tIns="36576" bIns="36576"/>
                    <a:lstStyle/>
                    <a:p>
                      <a:pPr>
                        <a:defRPr sz="850">
                          <a:solidFill>
                            <a:srgbClr val="94A3B8"/>
                          </a:solidFill>
                          <a:latin typeface="Segoe UI"/>
                        </a:defRPr>
                      </a:pPr>
                      <a:r>
                        <a:t>Upstream component starvation;</a:t>
                      </a:r>
                      <a:br/>
                      <a:r>
                        <a:t>Tier-1 assembly line halt</a:t>
                      </a:r>
                    </a:p>
                  </a:txBody>
                  <a:tcPr>
                    <a:solidFill>
                      <a:srgbClr val="172554"/>
                    </a:solidFill>
                  </a:tcPr>
                </a:tc>
                <a:tc>
                  <a:txBody>
                    <a:bodyPr wrap="square" lIns="73152" rIns="73152" tIns="36576" bIns="36576"/>
                    <a:lstStyle/>
                    <a:p>
                      <a:pPr>
                        <a:defRPr sz="850">
                          <a:solidFill>
                            <a:srgbClr val="94A3B8"/>
                          </a:solidFill>
                          <a:latin typeface="Segoe UI"/>
                        </a:defRPr>
                      </a:pPr>
                      <a:r>
                        <a:t>Shift sourcing allocation to qualified secondary</a:t>
                      </a:r>
                      <a:br/>
                      <a:r>
                        <a:t>vendors (e.g. SUP_005, SUP_009)</a:t>
                      </a:r>
                    </a:p>
                  </a:txBody>
                  <a:tcPr>
                    <a:solidFill>
                      <a:srgbClr val="172554"/>
                    </a:solidFill>
                  </a:tcPr>
                </a:tc>
              </a:tr>
              <a:tr h="518160">
                <a:tc>
                  <a:txBody>
                    <a:bodyPr wrap="square" lIns="73152" rIns="73152" tIns="36576" bIns="36576"/>
                    <a:lstStyle/>
                    <a:p>
                      <a:pPr>
                        <a:defRPr sz="850">
                          <a:solidFill>
                            <a:srgbClr val="FFFFFF"/>
                          </a:solidFill>
                          <a:latin typeface="Segoe UI"/>
                        </a:defRPr>
                      </a:pPr>
                      <a:r>
                        <a:t>Route Delay / Blockage</a:t>
                      </a:r>
                    </a:p>
                  </a:txBody>
                  <a:tcPr>
                    <a:solidFill>
                      <a:srgbClr val="111D4A"/>
                    </a:solidFill>
                  </a:tcPr>
                </a:tc>
                <a:tc>
                  <a:txBody>
                    <a:bodyPr wrap="square" lIns="73152" rIns="73152" tIns="36576" bIns="36576"/>
                    <a:lstStyle/>
                    <a:p>
                      <a:pPr>
                        <a:defRPr sz="850">
                          <a:solidFill>
                            <a:srgbClr val="94A3B8"/>
                          </a:solidFill>
                          <a:latin typeface="Segoe UI"/>
                        </a:defRPr>
                      </a:pPr>
                      <a:r>
                        <a:t>NetworkX Graph Centrality</a:t>
                      </a:r>
                      <a:br/>
                      <a:r>
                        <a:t>&amp; Geodesy Engine</a:t>
                      </a:r>
                    </a:p>
                  </a:txBody>
                  <a:tcPr>
                    <a:solidFill>
                      <a:srgbClr val="111D4A"/>
                    </a:solidFill>
                  </a:tcPr>
                </a:tc>
                <a:tc>
                  <a:txBody>
                    <a:bodyPr wrap="square" lIns="73152" rIns="73152" tIns="36576" bIns="36576"/>
                    <a:lstStyle/>
                    <a:p>
                      <a:pPr>
                        <a:defRPr sz="850">
                          <a:solidFill>
                            <a:srgbClr val="94A3B8"/>
                          </a:solidFill>
                          <a:latin typeface="Segoe UI"/>
                        </a:defRPr>
                      </a:pPr>
                      <a:r>
                        <a:t>Transit time extended by 2-5 days;</a:t>
                      </a:r>
                      <a:br/>
                      <a:r>
                        <a:t>late delivery SLA penalties</a:t>
                      </a:r>
                    </a:p>
                  </a:txBody>
                  <a:tcPr>
                    <a:solidFill>
                      <a:srgbClr val="111D4A"/>
                    </a:solidFill>
                  </a:tcPr>
                </a:tc>
                <a:tc>
                  <a:txBody>
                    <a:bodyPr wrap="square" lIns="73152" rIns="73152" tIns="36576" bIns="36576"/>
                    <a:lstStyle/>
                    <a:p>
                      <a:pPr>
                        <a:defRPr sz="850">
                          <a:solidFill>
                            <a:srgbClr val="94A3B8"/>
                          </a:solidFill>
                          <a:latin typeface="Segoe UI"/>
                        </a:defRPr>
                      </a:pPr>
                      <a:r>
                        <a:t>Reroute freight via alternative multimodal</a:t>
                      </a:r>
                      <a:br/>
                      <a:r>
                        <a:t>rail/expressway corridors</a:t>
                      </a:r>
                    </a:p>
                  </a:txBody>
                  <a:tcPr>
                    <a:solidFill>
                      <a:srgbClr val="111D4A"/>
                    </a:solidFill>
                  </a:tcPr>
                </a:tc>
              </a:tr>
              <a:tr h="518160">
                <a:tc>
                  <a:txBody>
                    <a:bodyPr wrap="square" lIns="73152" rIns="73152" tIns="36576" bIns="36576"/>
                    <a:lstStyle/>
                    <a:p>
                      <a:pPr>
                        <a:defRPr sz="850">
                          <a:solidFill>
                            <a:srgbClr val="FFFFFF"/>
                          </a:solidFill>
                          <a:latin typeface="Segoe UI"/>
                        </a:defRPr>
                      </a:pPr>
                      <a:r>
                        <a:t>Inventory Runway Depletion</a:t>
                      </a:r>
                    </a:p>
                  </a:txBody>
                  <a:tcPr>
                    <a:solidFill>
                      <a:srgbClr val="172554"/>
                    </a:solidFill>
                  </a:tcPr>
                </a:tc>
                <a:tc>
                  <a:txBody>
                    <a:bodyPr wrap="square" lIns="73152" rIns="73152" tIns="36576" bIns="36576"/>
                    <a:lstStyle/>
                    <a:p>
                      <a:pPr>
                        <a:defRPr sz="850">
                          <a:solidFill>
                            <a:srgbClr val="94A3B8"/>
                          </a:solidFill>
                          <a:latin typeface="Segoe UI"/>
                        </a:defRPr>
                      </a:pPr>
                      <a:r>
                        <a:t>Runway Calculus</a:t>
                      </a:r>
                      <a:br/>
                      <a:r>
                        <a:t>(Stock / Daily Burn Rate)</a:t>
                      </a:r>
                    </a:p>
                  </a:txBody>
                  <a:tcPr>
                    <a:solidFill>
                      <a:srgbClr val="172554"/>
                    </a:solidFill>
                  </a:tcPr>
                </a:tc>
                <a:tc>
                  <a:txBody>
                    <a:bodyPr wrap="square" lIns="73152" rIns="73152" tIns="36576" bIns="36576"/>
                    <a:lstStyle/>
                    <a:p>
                      <a:pPr>
                        <a:defRPr sz="850">
                          <a:solidFill>
                            <a:srgbClr val="94A3B8"/>
                          </a:solidFill>
                          <a:latin typeface="Segoe UI"/>
                        </a:defRPr>
                      </a:pPr>
                      <a:r>
                        <a:t>Imminent stockout (&lt; 7 days runway)</a:t>
                      </a:r>
                      <a:br/>
                      <a:r>
                        <a:t>at regional central warehouse</a:t>
                      </a:r>
                    </a:p>
                  </a:txBody>
                  <a:tcPr>
                    <a:solidFill>
                      <a:srgbClr val="172554"/>
                    </a:solidFill>
                  </a:tcPr>
                </a:tc>
                <a:tc>
                  <a:txBody>
                    <a:bodyPr wrap="square" lIns="73152" rIns="73152" tIns="36576" bIns="36576"/>
                    <a:lstStyle/>
                    <a:p>
                      <a:pPr>
                        <a:defRPr sz="850">
                          <a:solidFill>
                            <a:srgbClr val="94A3B8"/>
                          </a:solidFill>
                          <a:latin typeface="Segoe UI"/>
                        </a:defRPr>
                      </a:pPr>
                      <a:r>
                        <a:t>Trigger rapid inter-warehouse safety stock</a:t>
                      </a:r>
                      <a:br/>
                      <a:r>
                        <a:t>transfers via rail corridors</a:t>
                      </a:r>
                    </a:p>
                  </a:txBody>
                  <a:tcPr>
                    <a:solidFill>
                      <a:srgbClr val="172554"/>
                    </a:solidFill>
                  </a:tcPr>
                </a:tc>
              </a:tr>
              <a:tr h="518160">
                <a:tc>
                  <a:txBody>
                    <a:bodyPr wrap="square" lIns="73152" rIns="73152" tIns="36576" bIns="36576"/>
                    <a:lstStyle/>
                    <a:p>
                      <a:pPr>
                        <a:defRPr sz="850">
                          <a:solidFill>
                            <a:srgbClr val="FFFFFF"/>
                          </a:solidFill>
                          <a:latin typeface="Segoe UI"/>
                        </a:defRPr>
                      </a:pPr>
                      <a:r>
                        <a:t>Multi-Node System Shock</a:t>
                      </a:r>
                    </a:p>
                  </a:txBody>
                  <a:tcPr>
                    <a:solidFill>
                      <a:srgbClr val="111D4A"/>
                    </a:solidFill>
                  </a:tcPr>
                </a:tc>
                <a:tc>
                  <a:txBody>
                    <a:bodyPr wrap="square" lIns="73152" rIns="73152" tIns="36576" bIns="36576"/>
                    <a:lstStyle/>
                    <a:p>
                      <a:pPr>
                        <a:defRPr sz="850">
                          <a:solidFill>
                            <a:srgbClr val="94A3B8"/>
                          </a:solidFill>
                          <a:latin typeface="Segoe UI"/>
                        </a:defRPr>
                      </a:pPr>
                      <a:r>
                        <a:t>Scenario Simulation Engine</a:t>
                      </a:r>
                      <a:br/>
                      <a:r>
                        <a:t>(copy-on-write state)</a:t>
                      </a:r>
                    </a:p>
                  </a:txBody>
                  <a:tcPr>
                    <a:solidFill>
                      <a:srgbClr val="111D4A"/>
                    </a:solidFill>
                  </a:tcPr>
                </a:tc>
                <a:tc>
                  <a:txBody>
                    <a:bodyPr wrap="square" lIns="73152" rIns="73152" tIns="36576" bIns="36576"/>
                    <a:lstStyle/>
                    <a:p>
                      <a:pPr>
                        <a:defRPr sz="850">
                          <a:solidFill>
                            <a:srgbClr val="94A3B8"/>
                          </a:solidFill>
                          <a:latin typeface="Segoe UI"/>
                        </a:defRPr>
                      </a:pPr>
                      <a:r>
                        <a:t>Cascading multi-tier deficit across</a:t>
                      </a:r>
                      <a:br/>
                      <a:r>
                        <a:t>multiple metropolitan demand zones</a:t>
                      </a:r>
                    </a:p>
                  </a:txBody>
                  <a:tcPr>
                    <a:solidFill>
                      <a:srgbClr val="111D4A"/>
                    </a:solidFill>
                  </a:tcPr>
                </a:tc>
                <a:tc>
                  <a:txBody>
                    <a:bodyPr wrap="square" lIns="73152" rIns="73152" tIns="36576" bIns="36576"/>
                    <a:lstStyle/>
                    <a:p>
                      <a:pPr>
                        <a:defRPr sz="850">
                          <a:solidFill>
                            <a:srgbClr val="94A3B8"/>
                          </a:solidFill>
                          <a:latin typeface="Segoe UI"/>
                        </a:defRPr>
                      </a:pPr>
                      <a:r>
                        <a:t>Execute Google OR-Tools multi-echelon linear</a:t>
                      </a:r>
                      <a:br/>
                      <a:r>
                        <a:t>program to find global cost-optimal allocation</a:t>
                      </a:r>
                    </a:p>
                  </a:txBody>
                  <a:tcPr>
                    <a:solidFill>
                      <a:srgbClr val="111D4A"/>
                    </a:solidFill>
                  </a:tcPr>
                </a:tc>
              </a:tr>
            </a:tbl>
          </a:graphicData>
        </a:graphic>
      </p:graphicFrame>
      <p:sp>
        <p:nvSpPr>
          <p:cNvPr id="6" name="Rounded Rectangle 5"/>
          <p:cNvSpPr/>
          <p:nvPr/>
        </p:nvSpPr>
        <p:spPr>
          <a:xfrm>
            <a:off x="731520" y="4892040"/>
            <a:ext cx="10728655" cy="137160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001768"/>
            <a:ext cx="10399471" cy="292608"/>
          </a:xfrm>
          <a:prstGeom prst="rect">
            <a:avLst/>
          </a:prstGeom>
          <a:noFill/>
        </p:spPr>
        <p:txBody>
          <a:bodyPr wrap="square" lIns="0" tIns="0" rIns="0" bIns="0">
            <a:spAutoFit/>
          </a:bodyPr>
          <a:lstStyle/>
          <a:p>
            <a:pPr>
              <a:defRPr sz="1100" b="1">
                <a:solidFill>
                  <a:srgbClr val="38BDF8"/>
                </a:solidFill>
                <a:latin typeface="Segoe UI"/>
              </a:defRPr>
            </a:pPr>
            <a:r>
              <a:t>THE NEXUS DECISION PRINCIPLE</a:t>
            </a:r>
          </a:p>
        </p:txBody>
      </p:sp>
      <p:sp>
        <p:nvSpPr>
          <p:cNvPr id="8" name="TextBox 7"/>
          <p:cNvSpPr txBox="1"/>
          <p:nvPr/>
        </p:nvSpPr>
        <p:spPr>
          <a:xfrm>
            <a:off x="914400" y="5257800"/>
            <a:ext cx="10362895" cy="822960"/>
          </a:xfrm>
          <a:prstGeom prst="rect">
            <a:avLst/>
          </a:prstGeom>
          <a:noFill/>
        </p:spPr>
        <p:txBody>
          <a:bodyPr wrap="square">
            <a:spAutoFit/>
          </a:bodyPr>
          <a:lstStyle/>
          <a:p>
            <a:pPr>
              <a:defRPr sz="1100" b="1">
                <a:solidFill>
                  <a:srgbClr val="38BDF8"/>
                </a:solidFill>
                <a:latin typeface="Segoe UI"/>
              </a:defRPr>
            </a:pPr>
            <a:r>
              <a:t>Prediction is only an input, not a solution.</a:t>
            </a:r>
          </a:p>
          <a:p>
            <a:pPr>
              <a:spcBef>
                <a:spcPts val="300"/>
              </a:spcBef>
              <a:defRPr sz="950">
                <a:solidFill>
                  <a:srgbClr val="FFFFFF"/>
                </a:solidFill>
                <a:latin typeface="Segoe UI"/>
              </a:defRPr>
            </a:pPr>
            <a:r>
              <a:t>A prediction of 80% supplier risk does not tell a manager how many units to reroute, which alternative vendor has capacity, or what the freight cost tradeoff will be. NEXUS bridges this gap by combining Prediction + Network Impact + Scenario Simulation + Mathematical Optimization into concrete, actionable decisions.</a:t>
            </a:r>
          </a:p>
        </p:txBody>
      </p:sp>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10 of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[ 11 / 23  •  NETWORK GRAPH ANALYSIS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Impact Propagation — What Happens When a Node Fails?</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NetworkX directed graph traversal (BFS) traces the ripple effect of upstream shocks across all downstream tiers.</a:t>
            </a:r>
          </a:p>
        </p:txBody>
      </p:sp>
      <p:pic>
        <p:nvPicPr>
          <p:cNvPr id="5" name="Picture 4" descr="slide_impact_propagation.png"/>
          <p:cNvPicPr>
            <a:picLocks noChangeAspect="1"/>
          </p:cNvPicPr>
          <p:nvPr/>
        </p:nvPicPr>
        <p:blipFill>
          <a:blip r:embed="rId2"/>
          <a:stretch>
            <a:fillRect/>
          </a:stretch>
        </p:blipFill>
        <p:spPr>
          <a:xfrm>
            <a:off x="731520" y="1645920"/>
            <a:ext cx="5486400" cy="4480560"/>
          </a:xfrm>
          <a:prstGeom prst="rect">
            <a:avLst/>
          </a:prstGeom>
        </p:spPr>
      </p:pic>
      <p:sp>
        <p:nvSpPr>
          <p:cNvPr id="6" name="Rounded Rectangle 5"/>
          <p:cNvSpPr/>
          <p:nvPr/>
        </p:nvSpPr>
        <p:spPr>
          <a:xfrm>
            <a:off x="6400800" y="1645920"/>
            <a:ext cx="5059375" cy="4480560"/>
          </a:xfrm>
          <a:prstGeom prst="roundRect">
            <a:avLst/>
          </a:prstGeom>
          <a:solidFill>
            <a:srgbClr val="111D4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5392" y="1755648"/>
            <a:ext cx="4730191" cy="292608"/>
          </a:xfrm>
          <a:prstGeom prst="rect">
            <a:avLst/>
          </a:prstGeom>
          <a:noFill/>
        </p:spPr>
        <p:txBody>
          <a:bodyPr wrap="square" lIns="0" tIns="0" rIns="0" bIns="0">
            <a:spAutoFit/>
          </a:bodyPr>
          <a:lstStyle/>
          <a:p>
            <a:pPr>
              <a:defRPr sz="1100" b="1">
                <a:solidFill>
                  <a:srgbClr val="38BDF8"/>
                </a:solidFill>
                <a:latin typeface="Segoe UI"/>
              </a:defRPr>
            </a:pPr>
            <a:r>
              <a:t>GRAPH TRAVERSAL &amp; RUNWAY CALCULUS</a:t>
            </a:r>
          </a:p>
        </p:txBody>
      </p:sp>
      <p:sp>
        <p:nvSpPr>
          <p:cNvPr id="8" name="TextBox 7"/>
          <p:cNvSpPr txBox="1"/>
          <p:nvPr/>
        </p:nvSpPr>
        <p:spPr>
          <a:xfrm>
            <a:off x="6583680" y="2011680"/>
            <a:ext cx="4663440" cy="3931920"/>
          </a:xfrm>
          <a:prstGeom prst="rect">
            <a:avLst/>
          </a:prstGeom>
          <a:noFill/>
        </p:spPr>
        <p:txBody>
          <a:bodyPr wrap="square">
            <a:spAutoFit/>
          </a:bodyPr>
          <a:lstStyle/>
          <a:p>
            <a:pPr>
              <a:spcAft>
                <a:spcPts val="450"/>
              </a:spcAft>
              <a:defRPr sz="850">
                <a:latin typeface="Segoe UI"/>
              </a:defRPr>
            </a:pPr>
            <a:r>
              <a:rPr b="1">
                <a:solidFill>
                  <a:srgbClr val="FFFFFF"/>
                </a:solidFill>
              </a:rPr>
              <a:t>• Multi-Tier Graph Traversal: </a:t>
            </a:r>
            <a:r>
              <a:rPr>
                <a:solidFill>
                  <a:srgbClr val="94A3B8"/>
                </a:solidFill>
              </a:rPr>
              <a:t>NetworkX directed graph executes Breadth-First Search (BFS) starting from the disrupted supplier node down to final demand zones.</a:t>
            </a:r>
          </a:p>
          <a:p>
            <a:pPr>
              <a:spcAft>
                <a:spcPts val="450"/>
              </a:spcAft>
              <a:defRPr sz="850">
                <a:latin typeface="Segoe UI"/>
              </a:defRPr>
            </a:pPr>
            <a:r>
              <a:rPr b="1">
                <a:solidFill>
                  <a:srgbClr val="FFFFFF"/>
                </a:solidFill>
              </a:rPr>
              <a:t>• Component Dependency Mapping: </a:t>
            </a:r>
            <a:r>
              <a:rPr>
                <a:solidFill>
                  <a:srgbClr val="94A3B8"/>
                </a:solidFill>
              </a:rPr>
              <a:t>Directly maps disrupted supplier parts to downstream Bill-of-Materials (PROD_ITEM_003 automotive subassembly).</a:t>
            </a:r>
          </a:p>
          <a:p>
            <a:pPr>
              <a:spcAft>
                <a:spcPts val="450"/>
              </a:spcAft>
              <a:defRPr sz="850">
                <a:latin typeface="Segoe UI"/>
              </a:defRPr>
            </a:pPr>
            <a:r>
              <a:rPr b="1">
                <a:solidFill>
                  <a:srgbClr val="FFFFFF"/>
                </a:solidFill>
              </a:rPr>
              <a:t>• Warehouse Runway Calculus: </a:t>
            </a:r>
            <a:r>
              <a:rPr>
                <a:solidFill>
                  <a:srgbClr val="94A3B8"/>
                </a:solidFill>
              </a:rPr>
              <a:t>Runway Days = Current Stock / Daily Burn Rate. For Western Warehouse (WH_01): 1,420 units / 280 units/day = 5.07 Days Runway.</a:t>
            </a:r>
          </a:p>
          <a:p>
            <a:pPr>
              <a:spcAft>
                <a:spcPts val="450"/>
              </a:spcAft>
              <a:defRPr sz="850">
                <a:latin typeface="Segoe UI"/>
              </a:defRPr>
            </a:pPr>
            <a:r>
              <a:rPr b="1">
                <a:solidFill>
                  <a:srgbClr val="FFFFFF"/>
                </a:solidFill>
              </a:rPr>
              <a:t>• Pinpointing Stockout Dates: </a:t>
            </a:r>
            <a:r>
              <a:rPr>
                <a:solidFill>
                  <a:srgbClr val="94A3B8"/>
                </a:solidFill>
              </a:rPr>
              <a:t>Pinpoints exact day of stockout: WH_01 depletes completely on Day 6 without intervention.</a:t>
            </a:r>
          </a:p>
          <a:p>
            <a:pPr>
              <a:spcAft>
                <a:spcPts val="450"/>
              </a:spcAft>
              <a:defRPr sz="850">
                <a:latin typeface="Segoe UI"/>
              </a:defRPr>
            </a:pPr>
            <a:r>
              <a:rPr b="1">
                <a:solidFill>
                  <a:srgbClr val="FFFFFF"/>
                </a:solidFill>
              </a:rPr>
              <a:t>• Service Level Degradation: </a:t>
            </a:r>
            <a:r>
              <a:rPr>
                <a:solidFill>
                  <a:srgbClr val="94A3B8"/>
                </a:solidFill>
              </a:rPr>
              <a:t>Network-wide on-time fulfillment projected to plummet from 98.0% baseline down to 54.57%.</a:t>
            </a:r>
          </a:p>
          <a:p>
            <a:pPr>
              <a:spcAft>
                <a:spcPts val="450"/>
              </a:spcAft>
              <a:defRPr sz="850">
                <a:latin typeface="Segoe UI"/>
              </a:defRPr>
            </a:pPr>
            <a:r>
              <a:rPr b="1">
                <a:solidFill>
                  <a:srgbClr val="FFFFFF"/>
                </a:solidFill>
              </a:rPr>
              <a:t>• Exposed Demand Volume: </a:t>
            </a:r>
            <a:r>
              <a:rPr>
                <a:solidFill>
                  <a:srgbClr val="94A3B8"/>
                </a:solidFill>
              </a:rPr>
              <a:t>69,843.2 units of unmet demand exposed across 5 metropolitan consumption zones (Mumbai, Pune, Delhi NCR, Jaipur, Ahmedabad).</a:t>
            </a:r>
          </a:p>
          <a:p>
            <a:pPr>
              <a:spcAft>
                <a:spcPts val="450"/>
              </a:spcAft>
              <a:defRPr sz="850">
                <a:latin typeface="Segoe UI"/>
              </a:defRPr>
            </a:pPr>
            <a:r>
              <a:rPr b="1">
                <a:solidFill>
                  <a:srgbClr val="FFFFFF"/>
                </a:solidFill>
              </a:rPr>
              <a:t>• Automated Mitigation Search: </a:t>
            </a:r>
            <a:r>
              <a:rPr>
                <a:solidFill>
                  <a:srgbClr val="94A3B8"/>
                </a:solidFill>
              </a:rPr>
              <a:t>Graph engine immediately queries active secondary suppliers with matching product categories and surplus capacity.</a:t>
            </a:r>
          </a:p>
        </p:txBody>
      </p:sp>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11 of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[ 12 / 23  •  WHAT-IF SIMULATION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Scenario Simulation — Non-Destructive In-Memory Testing</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Evaluating operational network resilience across five parameterized disruption scenarios without persistent DB modification.</a:t>
            </a:r>
          </a:p>
        </p:txBody>
      </p:sp>
      <p:pic>
        <p:nvPicPr>
          <p:cNvPr id="5" name="Picture 4" descr="06_scenario_simulation.png"/>
          <p:cNvPicPr>
            <a:picLocks noChangeAspect="1"/>
          </p:cNvPicPr>
          <p:nvPr/>
        </p:nvPicPr>
        <p:blipFill>
          <a:blip r:embed="rId2"/>
          <a:stretch>
            <a:fillRect/>
          </a:stretch>
        </p:blipFill>
        <p:spPr>
          <a:xfrm>
            <a:off x="731520" y="1645920"/>
            <a:ext cx="5303520" cy="4480560"/>
          </a:xfrm>
          <a:prstGeom prst="rect">
            <a:avLst/>
          </a:prstGeom>
        </p:spPr>
      </p:pic>
      <p:sp>
        <p:nvSpPr>
          <p:cNvPr id="6" name="Rounded Rectangle 5"/>
          <p:cNvSpPr/>
          <p:nvPr/>
        </p:nvSpPr>
        <p:spPr>
          <a:xfrm>
            <a:off x="6217920" y="1645920"/>
            <a:ext cx="5242255" cy="448056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755648"/>
            <a:ext cx="4913071" cy="292608"/>
          </a:xfrm>
          <a:prstGeom prst="rect">
            <a:avLst/>
          </a:prstGeom>
          <a:noFill/>
        </p:spPr>
        <p:txBody>
          <a:bodyPr wrap="square" lIns="0" tIns="0" rIns="0" bIns="0">
            <a:spAutoFit/>
          </a:bodyPr>
          <a:lstStyle/>
          <a:p>
            <a:pPr>
              <a:defRPr sz="1100" b="1">
                <a:solidFill>
                  <a:srgbClr val="38BDF8"/>
                </a:solidFill>
                <a:latin typeface="Segoe UI"/>
              </a:defRPr>
            </a:pPr>
            <a:r>
              <a:t>FIVE VERIFIED DISRUPTION SCENARIOS</a:t>
            </a:r>
          </a:p>
        </p:txBody>
      </p:sp>
      <p:sp>
        <p:nvSpPr>
          <p:cNvPr id="8" name="TextBox 7"/>
          <p:cNvSpPr txBox="1"/>
          <p:nvPr/>
        </p:nvSpPr>
        <p:spPr>
          <a:xfrm>
            <a:off x="6400800" y="2011680"/>
            <a:ext cx="4846320" cy="3931920"/>
          </a:xfrm>
          <a:prstGeom prst="rect">
            <a:avLst/>
          </a:prstGeom>
          <a:noFill/>
        </p:spPr>
        <p:txBody>
          <a:bodyPr wrap="square">
            <a:spAutoFit/>
          </a:bodyPr>
          <a:lstStyle/>
          <a:p>
            <a:pPr>
              <a:spcAft>
                <a:spcPts val="500"/>
              </a:spcAft>
              <a:defRPr sz="850">
                <a:latin typeface="Segoe UI"/>
              </a:defRPr>
            </a:pPr>
            <a:r>
              <a:rPr b="1">
                <a:solidFill>
                  <a:srgbClr val="FFFFFF"/>
                </a:solidFill>
              </a:rPr>
              <a:t>• 1. Supplier Capacity Loss: </a:t>
            </a:r>
            <a:r>
              <a:rPr>
                <a:solidFill>
                  <a:srgbClr val="94A3B8"/>
                </a:solidFill>
              </a:rPr>
              <a:t>Parameterized capacity cut (10% to 90%) and shock duration (1 to 60 days) to simulate plant fires, boiler failures, or strikes.</a:t>
            </a:r>
          </a:p>
          <a:p>
            <a:pPr>
              <a:spcAft>
                <a:spcPts val="500"/>
              </a:spcAft>
              <a:defRPr sz="850">
                <a:latin typeface="Segoe UI"/>
              </a:defRPr>
            </a:pPr>
            <a:r>
              <a:rPr b="1">
                <a:solidFill>
                  <a:srgbClr val="FFFFFF"/>
                </a:solidFill>
              </a:rPr>
              <a:t>• 2. Route Transit Delay: </a:t>
            </a:r>
            <a:r>
              <a:rPr>
                <a:solidFill>
                  <a:srgbClr val="94A3B8"/>
                </a:solidFill>
              </a:rPr>
              <a:t>Corridor blockage or severe speed reduction (1.5x to 4.0x transit days) modeling highway washouts or rail freight congestion.</a:t>
            </a:r>
          </a:p>
          <a:p>
            <a:pPr>
              <a:spcAft>
                <a:spcPts val="500"/>
              </a:spcAft>
              <a:defRPr sz="850">
                <a:latin typeface="Segoe UI"/>
              </a:defRPr>
            </a:pPr>
            <a:r>
              <a:rPr b="1">
                <a:solidFill>
                  <a:srgbClr val="FFFFFF"/>
                </a:solidFill>
              </a:rPr>
              <a:t>• 3. Extreme Demand Surge: </a:t>
            </a:r>
            <a:r>
              <a:rPr>
                <a:solidFill>
                  <a:srgbClr val="94A3B8"/>
                </a:solidFill>
              </a:rPr>
              <a:t>Regional demand spikes (+20% to +100%) across targeted metropolitan consumer zones.</a:t>
            </a:r>
          </a:p>
          <a:p>
            <a:pPr>
              <a:spcAft>
                <a:spcPts val="500"/>
              </a:spcAft>
              <a:defRPr sz="850">
                <a:latin typeface="Segoe UI"/>
              </a:defRPr>
            </a:pPr>
            <a:r>
              <a:rPr b="1">
                <a:solidFill>
                  <a:srgbClr val="FFFFFF"/>
                </a:solidFill>
              </a:rPr>
              <a:t>• 4. Warehouse Shutdown: </a:t>
            </a:r>
            <a:r>
              <a:rPr>
                <a:solidFill>
                  <a:srgbClr val="94A3B8"/>
                </a:solidFill>
              </a:rPr>
              <a:t>Complete temporary facility closure due to regional quarantine or localized power grid failure.</a:t>
            </a:r>
          </a:p>
          <a:p>
            <a:pPr>
              <a:spcAft>
                <a:spcPts val="500"/>
              </a:spcAft>
              <a:defRPr sz="850">
                <a:latin typeface="Segoe UI"/>
              </a:defRPr>
            </a:pPr>
            <a:r>
              <a:rPr b="1">
                <a:solidFill>
                  <a:srgbClr val="FFFFFF"/>
                </a:solidFill>
              </a:rPr>
              <a:t>• 5. Multi-Node System Shock: </a:t>
            </a:r>
            <a:r>
              <a:rPr>
                <a:solidFill>
                  <a:srgbClr val="94A3B8"/>
                </a:solidFill>
              </a:rPr>
              <a:t>Simultaneous compound disruption affecting multiple suppliers and freight corridors concurrently.</a:t>
            </a:r>
          </a:p>
          <a:p>
            <a:pPr>
              <a:spcAft>
                <a:spcPts val="500"/>
              </a:spcAft>
              <a:defRPr sz="850">
                <a:latin typeface="Segoe UI"/>
              </a:defRPr>
            </a:pPr>
            <a:r>
              <a:rPr b="1">
                <a:solidFill>
                  <a:srgbClr val="FFFFFF"/>
                </a:solidFill>
              </a:rPr>
              <a:t>• Copy-on-Write In-Memory State: </a:t>
            </a:r>
            <a:r>
              <a:rPr>
                <a:solidFill>
                  <a:srgbClr val="94A3B8"/>
                </a:solidFill>
              </a:rPr>
              <a:t>SimulationState deepcopy clones all 83 nodes and 160 routes in RAM. Planners test catastrophic shocks with zero risk of database corruption.</a:t>
            </a:r>
          </a:p>
        </p:txBody>
      </p:sp>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12 of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[ 13 / 23  •  OPERATIONS RESEARCH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Optimization Engine — Google OR-Tools Linear Solver</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Formulating multi-echelon supply chain allocation as a mathematically rigorous linear program solved in milliseconds.</a:t>
            </a:r>
          </a:p>
        </p:txBody>
      </p:sp>
      <p:sp>
        <p:nvSpPr>
          <p:cNvPr id="5" name="Rounded Rectangle 4"/>
          <p:cNvSpPr/>
          <p:nvPr/>
        </p:nvSpPr>
        <p:spPr>
          <a:xfrm>
            <a:off x="731520" y="1645920"/>
            <a:ext cx="5212080" cy="448056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882896" cy="292608"/>
          </a:xfrm>
          <a:prstGeom prst="rect">
            <a:avLst/>
          </a:prstGeom>
          <a:noFill/>
        </p:spPr>
        <p:txBody>
          <a:bodyPr wrap="square" lIns="0" tIns="0" rIns="0" bIns="0">
            <a:spAutoFit/>
          </a:bodyPr>
          <a:lstStyle/>
          <a:p>
            <a:pPr>
              <a:defRPr sz="1100" b="1">
                <a:solidFill>
                  <a:srgbClr val="38BDF8"/>
                </a:solidFill>
                <a:latin typeface="Segoe UI"/>
              </a:defRPr>
            </a:pPr>
            <a:r>
              <a:t>MATHEMATICAL LP FORMULATION (GLOP)</a:t>
            </a:r>
          </a:p>
        </p:txBody>
      </p:sp>
      <p:sp>
        <p:nvSpPr>
          <p:cNvPr id="7" name="TextBox 6"/>
          <p:cNvSpPr txBox="1"/>
          <p:nvPr/>
        </p:nvSpPr>
        <p:spPr>
          <a:xfrm>
            <a:off x="914400" y="2011680"/>
            <a:ext cx="4846320" cy="3931920"/>
          </a:xfrm>
          <a:prstGeom prst="rect">
            <a:avLst/>
          </a:prstGeom>
          <a:noFill/>
        </p:spPr>
        <p:txBody>
          <a:bodyPr wrap="square">
            <a:spAutoFit/>
          </a:bodyPr>
          <a:lstStyle/>
          <a:p>
            <a:pPr>
              <a:spcAft>
                <a:spcPts val="350"/>
              </a:spcAft>
              <a:defRPr sz="850">
                <a:latin typeface="Segoe UI"/>
              </a:defRPr>
            </a:pPr>
            <a:r>
              <a:rPr b="1">
                <a:solidFill>
                  <a:srgbClr val="FFFFFF"/>
                </a:solidFill>
              </a:rPr>
              <a:t>• Objective Function: </a:t>
            </a:r>
            <a:r>
              <a:rPr>
                <a:solidFill>
                  <a:srgbClr val="94A3B8"/>
                </a:solidFill>
              </a:rPr>
              <a:t>Minimize Total Cost Z = Procurement + Freight + Holding + Shortage Penalties + Risk Penalties.</a:t>
            </a:r>
          </a:p>
          <a:p>
            <a:pPr>
              <a:spcAft>
                <a:spcPts val="350"/>
              </a:spcAft>
              <a:defRPr sz="850">
                <a:latin typeface="Segoe UI"/>
              </a:defRPr>
            </a:pPr>
            <a:r>
              <a:rPr b="1">
                <a:solidFill>
                  <a:srgbClr val="FFFFFF"/>
                </a:solidFill>
              </a:rPr>
              <a:t>• Procurement Cost: </a:t>
            </a:r>
            <a:r>
              <a:rPr>
                <a:solidFill>
                  <a:srgbClr val="94A3B8"/>
                </a:solidFill>
              </a:rPr>
              <a:t>Sum of units procured multiplied by vendor unit price: Σ (C_proc × X_sw).</a:t>
            </a:r>
          </a:p>
          <a:p>
            <a:pPr>
              <a:spcAft>
                <a:spcPts val="350"/>
              </a:spcAft>
              <a:defRPr sz="850">
                <a:latin typeface="Segoe UI"/>
              </a:defRPr>
            </a:pPr>
            <a:r>
              <a:rPr b="1">
                <a:solidFill>
                  <a:srgbClr val="FFFFFF"/>
                </a:solidFill>
              </a:rPr>
              <a:t>• Freight Transportation: </a:t>
            </a:r>
            <a:r>
              <a:rPr>
                <a:solidFill>
                  <a:srgbClr val="94A3B8"/>
                </a:solidFill>
              </a:rPr>
              <a:t>Sum of freight shipped multiplied by route transit cost: Σ (C_freight × X_route).</a:t>
            </a:r>
          </a:p>
          <a:p>
            <a:pPr>
              <a:spcAft>
                <a:spcPts val="350"/>
              </a:spcAft>
              <a:defRPr sz="850">
                <a:latin typeface="Segoe UI"/>
              </a:defRPr>
            </a:pPr>
            <a:r>
              <a:rPr b="1">
                <a:solidFill>
                  <a:srgbClr val="FFFFFF"/>
                </a:solidFill>
              </a:rPr>
              <a:t>• Shortage SLA Penalties: </a:t>
            </a:r>
            <a:r>
              <a:rPr>
                <a:solidFill>
                  <a:srgbClr val="94A3B8"/>
                </a:solidFill>
              </a:rPr>
              <a:t>Strict industrial contract penalty of INR 350 per unmet demand unit: Σ (INR 350 × S_z).</a:t>
            </a:r>
          </a:p>
          <a:p>
            <a:pPr>
              <a:spcAft>
                <a:spcPts val="350"/>
              </a:spcAft>
              <a:defRPr sz="850">
                <a:latin typeface="Segoe UI"/>
              </a:defRPr>
            </a:pPr>
            <a:r>
              <a:rPr b="1">
                <a:solidFill>
                  <a:srgbClr val="FFFFFF"/>
                </a:solidFill>
              </a:rPr>
              <a:t>• Constraint 1 (Supplier Capacity): </a:t>
            </a:r>
            <a:r>
              <a:rPr>
                <a:solidFill>
                  <a:srgbClr val="94A3B8"/>
                </a:solidFill>
              </a:rPr>
              <a:t>Total outflow from supplier s cannot exceed remaining simulated capacity: Σ_w X_sw ≤ Cap_s.</a:t>
            </a:r>
          </a:p>
          <a:p>
            <a:pPr>
              <a:spcAft>
                <a:spcPts val="350"/>
              </a:spcAft>
              <a:defRPr sz="850">
                <a:latin typeface="Segoe UI"/>
              </a:defRPr>
            </a:pPr>
            <a:r>
              <a:rPr b="1">
                <a:solidFill>
                  <a:srgbClr val="FFFFFF"/>
                </a:solidFill>
              </a:rPr>
              <a:t>• Constraint 2 (Flow Conservation): </a:t>
            </a:r>
            <a:r>
              <a:rPr>
                <a:solidFill>
                  <a:srgbClr val="94A3B8"/>
                </a:solidFill>
              </a:rPr>
              <a:t>Warehouse inflow + existing inventory = outflow to demand zones + final stock.</a:t>
            </a:r>
          </a:p>
          <a:p>
            <a:pPr>
              <a:spcAft>
                <a:spcPts val="350"/>
              </a:spcAft>
              <a:defRPr sz="850">
                <a:latin typeface="Segoe UI"/>
              </a:defRPr>
            </a:pPr>
            <a:r>
              <a:rPr b="1">
                <a:solidFill>
                  <a:srgbClr val="FFFFFF"/>
                </a:solidFill>
              </a:rPr>
              <a:t>• Constraint 3 (Demand Satisfaction): </a:t>
            </a:r>
            <a:r>
              <a:rPr>
                <a:solidFill>
                  <a:srgbClr val="94A3B8"/>
                </a:solidFill>
              </a:rPr>
              <a:t>Zone fulfillment + shortage = total zone demand: Σ_w Y_wz + S_z = D_z.</a:t>
            </a:r>
          </a:p>
          <a:p>
            <a:pPr>
              <a:spcAft>
                <a:spcPts val="350"/>
              </a:spcAft>
              <a:defRPr sz="850">
                <a:latin typeface="Segoe UI"/>
              </a:defRPr>
            </a:pPr>
            <a:r>
              <a:rPr b="1">
                <a:solidFill>
                  <a:srgbClr val="FFFFFF"/>
                </a:solidFill>
              </a:rPr>
              <a:t>• Constraint 4 (Non-Negativity): </a:t>
            </a:r>
            <a:r>
              <a:rPr>
                <a:solidFill>
                  <a:srgbClr val="94A3B8"/>
                </a:solidFill>
              </a:rPr>
              <a:t>All decision variables X_sw, Y_wz, S_z ≥ 0.</a:t>
            </a:r>
          </a:p>
        </p:txBody>
      </p:sp>
      <p:pic>
        <p:nvPicPr>
          <p:cNvPr id="8" name="Picture 7" descr="07_optimization_engine.png"/>
          <p:cNvPicPr>
            <a:picLocks noChangeAspect="1"/>
          </p:cNvPicPr>
          <p:nvPr/>
        </p:nvPicPr>
        <p:blipFill>
          <a:blip r:embed="rId2"/>
          <a:stretch>
            <a:fillRect/>
          </a:stretch>
        </p:blipFill>
        <p:spPr>
          <a:xfrm>
            <a:off x="6217920" y="1645920"/>
            <a:ext cx="5242255" cy="2834640"/>
          </a:xfrm>
          <a:prstGeom prst="rect">
            <a:avLst/>
          </a:prstGeom>
        </p:spPr>
      </p:pic>
      <p:sp>
        <p:nvSpPr>
          <p:cNvPr id="9" name="Rounded Rectangle 8"/>
          <p:cNvSpPr/>
          <p:nvPr/>
        </p:nvSpPr>
        <p:spPr>
          <a:xfrm>
            <a:off x="6217920" y="4617720"/>
            <a:ext cx="5242255" cy="150876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4727448"/>
            <a:ext cx="4913071" cy="292608"/>
          </a:xfrm>
          <a:prstGeom prst="rect">
            <a:avLst/>
          </a:prstGeom>
          <a:noFill/>
        </p:spPr>
        <p:txBody>
          <a:bodyPr wrap="square" lIns="0" tIns="0" rIns="0" bIns="0">
            <a:spAutoFit/>
          </a:bodyPr>
          <a:lstStyle/>
          <a:p>
            <a:pPr>
              <a:defRPr sz="1100" b="1">
                <a:solidFill>
                  <a:srgbClr val="38BDF8"/>
                </a:solidFill>
                <a:latin typeface="Segoe UI"/>
              </a:defRPr>
            </a:pPr>
            <a:r>
              <a:t>SOLVER PERFORMANCE &amp; GUARANTEES</a:t>
            </a:r>
          </a:p>
        </p:txBody>
      </p:sp>
      <p:sp>
        <p:nvSpPr>
          <p:cNvPr id="11" name="TextBox 10"/>
          <p:cNvSpPr txBox="1"/>
          <p:nvPr/>
        </p:nvSpPr>
        <p:spPr>
          <a:xfrm>
            <a:off x="6400800" y="4937760"/>
            <a:ext cx="4876495" cy="1097280"/>
          </a:xfrm>
          <a:prstGeom prst="rect">
            <a:avLst/>
          </a:prstGeom>
          <a:noFill/>
        </p:spPr>
        <p:txBody>
          <a:bodyPr wrap="square">
            <a:spAutoFit/>
          </a:bodyPr>
          <a:lstStyle/>
          <a:p>
            <a:pPr>
              <a:spcAft>
                <a:spcPts val="250"/>
              </a:spcAft>
              <a:defRPr sz="850">
                <a:latin typeface="Segoe UI"/>
              </a:defRPr>
            </a:pPr>
            <a:r>
              <a:rPr b="1">
                <a:solidFill>
                  <a:srgbClr val="FFFFFF"/>
                </a:solidFill>
              </a:rPr>
              <a:t>• Solver Algorithm: </a:t>
            </a:r>
            <a:r>
              <a:rPr>
                <a:solidFill>
                  <a:srgbClr val="94A3B8"/>
                </a:solidFill>
              </a:rPr>
              <a:t>Google OR-Tools GLOP (Simplex-based Linear Programming).</a:t>
            </a:r>
          </a:p>
          <a:p>
            <a:pPr>
              <a:spcAft>
                <a:spcPts val="250"/>
              </a:spcAft>
              <a:defRPr sz="850">
                <a:latin typeface="Segoe UI"/>
              </a:defRPr>
            </a:pPr>
            <a:r>
              <a:rPr b="1">
                <a:solidFill>
                  <a:srgbClr val="FFFFFF"/>
                </a:solidFill>
              </a:rPr>
              <a:t>• Global Optimality: </a:t>
            </a:r>
            <a:r>
              <a:rPr>
                <a:solidFill>
                  <a:srgbClr val="94A3B8"/>
                </a:solidFill>
              </a:rPr>
              <a:t>Mathematical guarantee of global cost minimum across all feasible network flows.</a:t>
            </a:r>
          </a:p>
          <a:p>
            <a:pPr>
              <a:spcAft>
                <a:spcPts val="250"/>
              </a:spcAft>
              <a:defRPr sz="850">
                <a:latin typeface="Segoe UI"/>
              </a:defRPr>
            </a:pPr>
            <a:r>
              <a:rPr b="1">
                <a:solidFill>
                  <a:srgbClr val="FFFFFF"/>
                </a:solidFill>
              </a:rPr>
              <a:t>• Execution Speed: </a:t>
            </a:r>
            <a:r>
              <a:rPr>
                <a:solidFill>
                  <a:srgbClr val="94A3B8"/>
                </a:solidFill>
              </a:rPr>
              <a:t>Solves the complete 83-node, 160-corridor network in under 10 milliseconds (0.0094s).</a:t>
            </a:r>
          </a:p>
        </p:txBody>
      </p:sp>
      <p:sp>
        <p:nvSpPr>
          <p:cNvPr id="12" name="TextBox 11"/>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13 of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[ 14 / 23  •  VERIFIED DEMONSTRATION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Flagship Demonstration — 80% Disruption of Supplier SUP_001</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An end-to-end, reproducible validation of the complete NEXUS pipeline under severe operational stress.</a:t>
            </a:r>
          </a:p>
        </p:txBody>
      </p:sp>
      <p:sp>
        <p:nvSpPr>
          <p:cNvPr id="5" name="Rounded Rectangle 4"/>
          <p:cNvSpPr/>
          <p:nvPr/>
        </p:nvSpPr>
        <p:spPr>
          <a:xfrm>
            <a:off x="731520" y="1645920"/>
            <a:ext cx="5212080" cy="4480560"/>
          </a:xfrm>
          <a:prstGeom prst="roundRect">
            <a:avLst/>
          </a:prstGeom>
          <a:solidFill>
            <a:srgbClr val="111D4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882896" cy="292608"/>
          </a:xfrm>
          <a:prstGeom prst="rect">
            <a:avLst/>
          </a:prstGeom>
          <a:noFill/>
        </p:spPr>
        <p:txBody>
          <a:bodyPr wrap="square" lIns="0" tIns="0" rIns="0" bIns="0">
            <a:spAutoFit/>
          </a:bodyPr>
          <a:lstStyle/>
          <a:p>
            <a:pPr>
              <a:defRPr sz="1100" b="1">
                <a:solidFill>
                  <a:srgbClr val="38BDF8"/>
                </a:solidFill>
                <a:latin typeface="Segoe UI"/>
              </a:defRPr>
            </a:pPr>
            <a:r>
              <a:t>THE DISRUPTION INJECTION &amp; DILEMMA</a:t>
            </a:r>
          </a:p>
        </p:txBody>
      </p:sp>
      <p:sp>
        <p:nvSpPr>
          <p:cNvPr id="7" name="TextBox 6"/>
          <p:cNvSpPr txBox="1"/>
          <p:nvPr/>
        </p:nvSpPr>
        <p:spPr>
          <a:xfrm>
            <a:off x="914400" y="2011680"/>
            <a:ext cx="4846320" cy="3931920"/>
          </a:xfrm>
          <a:prstGeom prst="rect">
            <a:avLst/>
          </a:prstGeom>
          <a:noFill/>
        </p:spPr>
        <p:txBody>
          <a:bodyPr wrap="square">
            <a:spAutoFit/>
          </a:bodyPr>
          <a:lstStyle/>
          <a:p>
            <a:pPr>
              <a:spcAft>
                <a:spcPts val="400"/>
              </a:spcAft>
              <a:defRPr sz="850">
                <a:latin typeface="Segoe UI"/>
              </a:defRPr>
            </a:pPr>
            <a:r>
              <a:rPr b="1">
                <a:solidFill>
                  <a:srgbClr val="FFFFFF"/>
                </a:solidFill>
              </a:rPr>
              <a:t>• Target Vendor: </a:t>
            </a:r>
            <a:r>
              <a:rPr>
                <a:solidFill>
                  <a:srgbClr val="94A3B8"/>
                </a:solidFill>
              </a:rPr>
              <a:t>SUP_001 (Tata AutoComp Components, Pune Chakan Industrial Hub).</a:t>
            </a:r>
          </a:p>
          <a:p>
            <a:pPr>
              <a:spcAft>
                <a:spcPts val="400"/>
              </a:spcAft>
              <a:defRPr sz="850">
                <a:latin typeface="Segoe UI"/>
              </a:defRPr>
            </a:pPr>
            <a:r>
              <a:rPr b="1">
                <a:solidFill>
                  <a:srgbClr val="FFFFFF"/>
                </a:solidFill>
              </a:rPr>
              <a:t>• Primary Product: </a:t>
            </a:r>
            <a:r>
              <a:rPr>
                <a:solidFill>
                  <a:srgbClr val="94A3B8"/>
                </a:solidFill>
              </a:rPr>
              <a:t>PROD_ITEM_003 (Tier-1 critical automotive subassembly).</a:t>
            </a:r>
          </a:p>
          <a:p>
            <a:pPr>
              <a:spcAft>
                <a:spcPts val="400"/>
              </a:spcAft>
              <a:defRPr sz="850">
                <a:latin typeface="Segoe UI"/>
              </a:defRPr>
            </a:pPr>
            <a:r>
              <a:rPr b="1">
                <a:solidFill>
                  <a:srgbClr val="FFFFFF"/>
                </a:solidFill>
              </a:rPr>
              <a:t>• Normal Capacity: </a:t>
            </a:r>
            <a:r>
              <a:rPr>
                <a:solidFill>
                  <a:srgbClr val="94A3B8"/>
                </a:solidFill>
              </a:rPr>
              <a:t>12,000 units per operational period.</a:t>
            </a:r>
          </a:p>
          <a:p>
            <a:pPr>
              <a:spcAft>
                <a:spcPts val="400"/>
              </a:spcAft>
              <a:defRPr sz="850">
                <a:latin typeface="Segoe UI"/>
              </a:defRPr>
            </a:pPr>
            <a:r>
              <a:rPr b="1">
                <a:solidFill>
                  <a:srgbClr val="FFFFFF"/>
                </a:solidFill>
              </a:rPr>
              <a:t>• Injected Shock: </a:t>
            </a:r>
            <a:r>
              <a:rPr>
                <a:solidFill>
                  <a:srgbClr val="94A3B8"/>
                </a:solidFill>
              </a:rPr>
              <a:t>80% Capacity Loss (12,000 → 2,400 units/period) for a 10-day duration.</a:t>
            </a:r>
          </a:p>
          <a:p>
            <a:pPr>
              <a:spcAft>
                <a:spcPts val="400"/>
              </a:spcAft>
              <a:defRPr sz="850">
                <a:latin typeface="Segoe UI"/>
              </a:defRPr>
            </a:pPr>
            <a:r>
              <a:rPr b="1">
                <a:solidFill>
                  <a:srgbClr val="FFFFFF"/>
                </a:solidFill>
              </a:rPr>
              <a:t>• Simulated Trigger: </a:t>
            </a:r>
            <a:r>
              <a:rPr>
                <a:solidFill>
                  <a:srgbClr val="94A3B8"/>
                </a:solidFill>
              </a:rPr>
              <a:t>Unscheduled boiler explosion and localized plant strike.</a:t>
            </a:r>
          </a:p>
          <a:p>
            <a:pPr>
              <a:spcAft>
                <a:spcPts val="400"/>
              </a:spcAft>
              <a:defRPr sz="850">
                <a:latin typeface="Segoe UI"/>
              </a:defRPr>
            </a:pPr>
            <a:r>
              <a:rPr b="1">
                <a:solidFill>
                  <a:srgbClr val="FFFFFF"/>
                </a:solidFill>
              </a:rPr>
              <a:t>• Downstream Crisis: </a:t>
            </a:r>
            <a:r>
              <a:rPr>
                <a:solidFill>
                  <a:srgbClr val="94A3B8"/>
                </a:solidFill>
              </a:rPr>
              <a:t>Western Warehouse (WH_01) stock of 1,420 units vs 280 units/day burn rate causes complete stockout on Day 6.</a:t>
            </a:r>
          </a:p>
          <a:p>
            <a:pPr>
              <a:spcAft>
                <a:spcPts val="400"/>
              </a:spcAft>
              <a:defRPr sz="850">
                <a:latin typeface="Segoe UI"/>
              </a:defRPr>
            </a:pPr>
            <a:r>
              <a:rPr b="1">
                <a:solidFill>
                  <a:srgbClr val="FFFFFF"/>
                </a:solidFill>
              </a:rPr>
              <a:t>• Unmitigated Shortage: </a:t>
            </a:r>
            <a:r>
              <a:rPr>
                <a:solidFill>
                  <a:srgbClr val="94A3B8"/>
                </a:solidFill>
              </a:rPr>
              <a:t>69,843.2 units of unmet demand across Mumbai, Pune, Delhi NCR, Jaipur, and Ahmedabad.</a:t>
            </a:r>
          </a:p>
          <a:p>
            <a:pPr>
              <a:spcAft>
                <a:spcPts val="400"/>
              </a:spcAft>
              <a:defRPr sz="850">
                <a:latin typeface="Segoe UI"/>
              </a:defRPr>
            </a:pPr>
            <a:r>
              <a:rPr b="1">
                <a:solidFill>
                  <a:srgbClr val="FFFFFF"/>
                </a:solidFill>
              </a:rPr>
              <a:t>• Unmitigated Penalties: </a:t>
            </a:r>
            <a:r>
              <a:rPr>
                <a:solidFill>
                  <a:srgbClr val="94A3B8"/>
                </a:solidFill>
              </a:rPr>
              <a:t>INR 350 × 69,843.2 = INR 24,445,120.00 in contractual stockout penalties.</a:t>
            </a:r>
          </a:p>
        </p:txBody>
      </p:sp>
      <p:pic>
        <p:nvPicPr>
          <p:cNvPr id="8" name="Picture 7" descr="05_impact_analysis.png"/>
          <p:cNvPicPr>
            <a:picLocks noChangeAspect="1"/>
          </p:cNvPicPr>
          <p:nvPr/>
        </p:nvPicPr>
        <p:blipFill>
          <a:blip r:embed="rId2"/>
          <a:stretch>
            <a:fillRect/>
          </a:stretch>
        </p:blipFill>
        <p:spPr>
          <a:xfrm>
            <a:off x="6217920" y="1645920"/>
            <a:ext cx="5242255" cy="2743200"/>
          </a:xfrm>
          <a:prstGeom prst="rect">
            <a:avLst/>
          </a:prstGeom>
        </p:spPr>
      </p:pic>
      <p:sp>
        <p:nvSpPr>
          <p:cNvPr id="9" name="Rounded Rectangle 8"/>
          <p:cNvSpPr/>
          <p:nvPr/>
        </p:nvSpPr>
        <p:spPr>
          <a:xfrm>
            <a:off x="6217920" y="4526280"/>
            <a:ext cx="5242255" cy="160020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4636008"/>
            <a:ext cx="4913071" cy="292608"/>
          </a:xfrm>
          <a:prstGeom prst="rect">
            <a:avLst/>
          </a:prstGeom>
          <a:noFill/>
        </p:spPr>
        <p:txBody>
          <a:bodyPr wrap="square" lIns="0" tIns="0" rIns="0" bIns="0">
            <a:spAutoFit/>
          </a:bodyPr>
          <a:lstStyle/>
          <a:p>
            <a:pPr>
              <a:defRPr sz="1100" b="1">
                <a:solidFill>
                  <a:srgbClr val="38BDF8"/>
                </a:solidFill>
                <a:latin typeface="Segoe UI"/>
              </a:defRPr>
            </a:pPr>
            <a:r>
              <a:t>THE SYSTEM CAPACITY REALITY</a:t>
            </a:r>
          </a:p>
        </p:txBody>
      </p:sp>
      <p:sp>
        <p:nvSpPr>
          <p:cNvPr id="11" name="TextBox 10"/>
          <p:cNvSpPr txBox="1"/>
          <p:nvPr/>
        </p:nvSpPr>
        <p:spPr>
          <a:xfrm>
            <a:off x="6400800" y="4892040"/>
            <a:ext cx="4876495" cy="1143000"/>
          </a:xfrm>
          <a:prstGeom prst="rect">
            <a:avLst/>
          </a:prstGeom>
          <a:noFill/>
        </p:spPr>
        <p:txBody>
          <a:bodyPr wrap="square">
            <a:spAutoFit/>
          </a:bodyPr>
          <a:lstStyle/>
          <a:p>
            <a:pPr>
              <a:spcAft>
                <a:spcPts val="200"/>
              </a:spcAft>
              <a:defRPr sz="850">
                <a:latin typeface="Segoe UI"/>
              </a:defRPr>
            </a:pPr>
            <a:r>
              <a:rPr b="1">
                <a:solidFill>
                  <a:srgbClr val="FFFFFF"/>
                </a:solidFill>
              </a:rPr>
              <a:t>• Total Network Demand: </a:t>
            </a:r>
            <a:r>
              <a:rPr>
                <a:solidFill>
                  <a:srgbClr val="94A3B8"/>
                </a:solidFill>
              </a:rPr>
              <a:t>153,600.0 units across all 30 demand zones.</a:t>
            </a:r>
          </a:p>
          <a:p>
            <a:pPr>
              <a:spcAft>
                <a:spcPts val="200"/>
              </a:spcAft>
              <a:defRPr sz="850">
                <a:latin typeface="Segoe UI"/>
              </a:defRPr>
            </a:pPr>
            <a:r>
              <a:rPr b="1">
                <a:solidFill>
                  <a:srgbClr val="FFFFFF"/>
                </a:solidFill>
              </a:rPr>
              <a:t>• Remaining Network Capacity: </a:t>
            </a:r>
            <a:r>
              <a:rPr>
                <a:solidFill>
                  <a:srgbClr val="94A3B8"/>
                </a:solidFill>
              </a:rPr>
              <a:t>314,350.2 units available across secondary suppliers post-shock.</a:t>
            </a:r>
          </a:p>
          <a:p>
            <a:pPr>
              <a:spcAft>
                <a:spcPts val="200"/>
              </a:spcAft>
              <a:defRPr sz="850">
                <a:latin typeface="Segoe UI"/>
              </a:defRPr>
            </a:pPr>
            <a:r>
              <a:rPr b="1">
                <a:solidFill>
                  <a:srgbClr val="FFFFFF"/>
                </a:solidFill>
              </a:rPr>
              <a:t>• Net Capacity Surplus: </a:t>
            </a:r>
            <a:r>
              <a:rPr>
                <a:solidFill>
                  <a:srgbClr val="94A3B8"/>
                </a:solidFill>
              </a:rPr>
              <a:t>+160,750.2 units available across the broader network.</a:t>
            </a:r>
          </a:p>
          <a:p>
            <a:pPr>
              <a:spcAft>
                <a:spcPts val="200"/>
              </a:spcAft>
              <a:defRPr sz="850">
                <a:latin typeface="Segoe UI"/>
              </a:defRPr>
            </a:pPr>
            <a:r>
              <a:rPr b="1">
                <a:solidFill>
                  <a:srgbClr val="FFFFFF"/>
                </a:solidFill>
              </a:rPr>
              <a:t>• Core Takeaway: </a:t>
            </a:r>
            <a:r>
              <a:rPr>
                <a:solidFill>
                  <a:srgbClr val="94A3B8"/>
                </a:solidFill>
              </a:rPr>
              <a:t>The physical network retains sufficient capacity to absorb the shock, but rigid static allocations create localized failure.</a:t>
            </a:r>
          </a:p>
        </p:txBody>
      </p:sp>
      <p:sp>
        <p:nvSpPr>
          <p:cNvPr id="12" name="TextBox 11"/>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14 of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[ 15 / 23  •  EXPERIMENTAL RESULTS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Baseline vs Optimized Decision — Verified Outcome</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Google OR-Tools multi-echelon reallocation achieves a 53.19% operational cost reduction and restores 100% service level.</a:t>
            </a:r>
          </a:p>
        </p:txBody>
      </p:sp>
      <p:pic>
        <p:nvPicPr>
          <p:cNvPr id="5" name="Picture 4" descr="slide_optimization_comparison.png"/>
          <p:cNvPicPr>
            <a:picLocks noChangeAspect="1"/>
          </p:cNvPicPr>
          <p:nvPr/>
        </p:nvPicPr>
        <p:blipFill>
          <a:blip r:embed="rId2"/>
          <a:stretch>
            <a:fillRect/>
          </a:stretch>
        </p:blipFill>
        <p:spPr>
          <a:xfrm>
            <a:off x="731520" y="1645920"/>
            <a:ext cx="5669280" cy="4480560"/>
          </a:xfrm>
          <a:prstGeom prst="rect">
            <a:avLst/>
          </a:prstGeom>
        </p:spPr>
      </p:pic>
      <p:sp>
        <p:nvSpPr>
          <p:cNvPr id="6" name="Rounded Rectangle 5"/>
          <p:cNvSpPr/>
          <p:nvPr/>
        </p:nvSpPr>
        <p:spPr>
          <a:xfrm>
            <a:off x="6583680" y="1645920"/>
            <a:ext cx="4876495" cy="448056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48272" y="1755648"/>
            <a:ext cx="4547311" cy="292608"/>
          </a:xfrm>
          <a:prstGeom prst="rect">
            <a:avLst/>
          </a:prstGeom>
          <a:noFill/>
        </p:spPr>
        <p:txBody>
          <a:bodyPr wrap="square" lIns="0" tIns="0" rIns="0" bIns="0">
            <a:spAutoFit/>
          </a:bodyPr>
          <a:lstStyle/>
          <a:p>
            <a:pPr>
              <a:defRPr sz="1100" b="1">
                <a:solidFill>
                  <a:srgbClr val="38BDF8"/>
                </a:solidFill>
                <a:latin typeface="Segoe UI"/>
              </a:defRPr>
            </a:pPr>
            <a:r>
              <a:t>VERIFIED NUMERICAL BENCHMARK</a:t>
            </a:r>
          </a:p>
        </p:txBody>
      </p:sp>
      <p:graphicFrame>
        <p:nvGraphicFramePr>
          <p:cNvPr id="8" name="Table 7"/>
          <p:cNvGraphicFramePr>
            <a:graphicFrameLocks noGrp="1"/>
          </p:cNvGraphicFramePr>
          <p:nvPr/>
        </p:nvGraphicFramePr>
        <p:xfrm>
          <a:off x="6720840" y="2011680"/>
          <a:ext cx="4602175" cy="3291840"/>
        </p:xfrm>
        <a:graphic>
          <a:graphicData uri="http://schemas.openxmlformats.org/drawingml/2006/table">
            <a:tbl>
              <a:tblPr firstRow="1" bandRow="1">
                <a:tableStyleId>{5C22544A-7EE6-4342-B048-85BDC9FD1C3A}</a:tableStyleId>
              </a:tblPr>
              <a:tblGrid>
                <a:gridCol w="1676095"/>
                <a:gridCol w="1463040"/>
                <a:gridCol w="1463040"/>
              </a:tblGrid>
              <a:tr h="329184">
                <a:tc>
                  <a:txBody>
                    <a:bodyPr wrap="square" lIns="73152" rIns="73152"/>
                    <a:lstStyle/>
                    <a:p>
                      <a:pPr>
                        <a:defRPr sz="950" b="1">
                          <a:solidFill>
                            <a:srgbClr val="FFFFFF"/>
                          </a:solidFill>
                          <a:latin typeface="Segoe UI"/>
                        </a:defRPr>
                      </a:pPr>
                      <a:r>
                        <a:t>Operational Metric</a:t>
                      </a:r>
                    </a:p>
                  </a:txBody>
                  <a:tcPr>
                    <a:solidFill>
                      <a:srgbClr val="1E3A8A"/>
                    </a:solidFill>
                  </a:tcPr>
                </a:tc>
                <a:tc>
                  <a:txBody>
                    <a:bodyPr wrap="square" lIns="73152" rIns="73152"/>
                    <a:lstStyle/>
                    <a:p>
                      <a:pPr>
                        <a:defRPr sz="950" b="1">
                          <a:solidFill>
                            <a:srgbClr val="FFFFFF"/>
                          </a:solidFill>
                          <a:latin typeface="Segoe UI"/>
                        </a:defRPr>
                      </a:pPr>
                      <a:r>
                        <a:t>Baseline Heuristic</a:t>
                      </a:r>
                    </a:p>
                  </a:txBody>
                  <a:tcPr>
                    <a:solidFill>
                      <a:srgbClr val="1E3A8A"/>
                    </a:solidFill>
                  </a:tcPr>
                </a:tc>
                <a:tc>
                  <a:txBody>
                    <a:bodyPr wrap="square" lIns="73152" rIns="73152"/>
                    <a:lstStyle/>
                    <a:p>
                      <a:pPr>
                        <a:defRPr sz="950" b="1">
                          <a:solidFill>
                            <a:srgbClr val="FFFFFF"/>
                          </a:solidFill>
                          <a:latin typeface="Segoe UI"/>
                        </a:defRPr>
                      </a:pPr>
                      <a:r>
                        <a:t>NEXUS (OR-Tools)</a:t>
                      </a:r>
                    </a:p>
                  </a:txBody>
                  <a:tcPr>
                    <a:solidFill>
                      <a:srgbClr val="1E3A8A"/>
                    </a:solidFill>
                  </a:tcPr>
                </a:tc>
              </a:tr>
              <a:tr h="329184">
                <a:tc>
                  <a:txBody>
                    <a:bodyPr wrap="square" lIns="73152" rIns="73152" tIns="36576" bIns="36576"/>
                    <a:lstStyle/>
                    <a:p>
                      <a:pPr>
                        <a:defRPr sz="850">
                          <a:solidFill>
                            <a:srgbClr val="FFFFFF"/>
                          </a:solidFill>
                          <a:latin typeface="Segoe UI"/>
                        </a:defRPr>
                      </a:pPr>
                      <a:r>
                        <a:t>Total Operational Cost</a:t>
                      </a:r>
                    </a:p>
                  </a:txBody>
                  <a:tcPr>
                    <a:solidFill>
                      <a:srgbClr val="111D4A"/>
                    </a:solidFill>
                  </a:tcPr>
                </a:tc>
                <a:tc>
                  <a:txBody>
                    <a:bodyPr wrap="square" lIns="73152" rIns="73152" tIns="36576" bIns="36576"/>
                    <a:lstStyle/>
                    <a:p>
                      <a:pPr>
                        <a:defRPr sz="850">
                          <a:solidFill>
                            <a:srgbClr val="94A3B8"/>
                          </a:solidFill>
                          <a:latin typeface="Segoe UI"/>
                        </a:defRPr>
                      </a:pPr>
                      <a:r>
                        <a:t>INR 41,215,184.70</a:t>
                      </a:r>
                    </a:p>
                  </a:txBody>
                  <a:tcPr>
                    <a:solidFill>
                      <a:srgbClr val="111D4A"/>
                    </a:solidFill>
                  </a:tcPr>
                </a:tc>
                <a:tc>
                  <a:txBody>
                    <a:bodyPr wrap="square" lIns="73152" rIns="73152" tIns="36576" bIns="36576"/>
                    <a:lstStyle/>
                    <a:p>
                      <a:pPr>
                        <a:defRPr sz="850">
                          <a:solidFill>
                            <a:srgbClr val="94A3B8"/>
                          </a:solidFill>
                          <a:latin typeface="Segoe UI"/>
                        </a:defRPr>
                      </a:pPr>
                      <a:r>
                        <a:t>INR 19,291,240.54</a:t>
                      </a:r>
                    </a:p>
                  </a:txBody>
                  <a:tcPr>
                    <a:solidFill>
                      <a:srgbClr val="111D4A"/>
                    </a:solidFill>
                  </a:tcPr>
                </a:tc>
              </a:tr>
              <a:tr h="329184">
                <a:tc>
                  <a:txBody>
                    <a:bodyPr wrap="square" lIns="73152" rIns="73152" tIns="36576" bIns="36576"/>
                    <a:lstStyle/>
                    <a:p>
                      <a:pPr>
                        <a:defRPr sz="850">
                          <a:solidFill>
                            <a:srgbClr val="FFFFFF"/>
                          </a:solidFill>
                          <a:latin typeface="Segoe UI"/>
                        </a:defRPr>
                      </a:pPr>
                      <a:r>
                        <a:t>Cost Reduction %</a:t>
                      </a:r>
                    </a:p>
                  </a:txBody>
                  <a:tcPr>
                    <a:solidFill>
                      <a:srgbClr val="172554"/>
                    </a:solidFill>
                  </a:tcPr>
                </a:tc>
                <a:tc>
                  <a:txBody>
                    <a:bodyPr wrap="square" lIns="73152" rIns="73152" tIns="36576" bIns="36576"/>
                    <a:lstStyle/>
                    <a:p>
                      <a:pPr>
                        <a:defRPr sz="850">
                          <a:solidFill>
                            <a:srgbClr val="94A3B8"/>
                          </a:solidFill>
                          <a:latin typeface="Segoe UI"/>
                        </a:defRPr>
                      </a:pPr>
                      <a:r>
                        <a:t>0.0% (Baseline)</a:t>
                      </a:r>
                    </a:p>
                  </a:txBody>
                  <a:tcPr>
                    <a:solidFill>
                      <a:srgbClr val="172554"/>
                    </a:solidFill>
                  </a:tcPr>
                </a:tc>
                <a:tc>
                  <a:txBody>
                    <a:bodyPr wrap="square" lIns="73152" rIns="73152" tIns="36576" bIns="36576"/>
                    <a:lstStyle/>
                    <a:p>
                      <a:pPr>
                        <a:defRPr sz="850" b="1">
                          <a:solidFill>
                            <a:srgbClr val="10B981"/>
                          </a:solidFill>
                          <a:latin typeface="Segoe UI"/>
                        </a:defRPr>
                      </a:pPr>
                      <a:r>
                        <a:t>-53.19% (Saved ₹21.92M)</a:t>
                      </a:r>
                    </a:p>
                  </a:txBody>
                  <a:tcPr>
                    <a:solidFill>
                      <a:srgbClr val="172554"/>
                    </a:solidFill>
                  </a:tcPr>
                </a:tc>
              </a:tr>
              <a:tr h="329184">
                <a:tc>
                  <a:txBody>
                    <a:bodyPr wrap="square" lIns="73152" rIns="73152" tIns="36576" bIns="36576"/>
                    <a:lstStyle/>
                    <a:p>
                      <a:pPr>
                        <a:defRPr sz="850">
                          <a:solidFill>
                            <a:srgbClr val="FFFFFF"/>
                          </a:solidFill>
                          <a:latin typeface="Segoe UI"/>
                        </a:defRPr>
                      </a:pPr>
                      <a:r>
                        <a:t>Procurement Cost</a:t>
                      </a:r>
                    </a:p>
                  </a:txBody>
                  <a:tcPr>
                    <a:solidFill>
                      <a:srgbClr val="111D4A"/>
                    </a:solidFill>
                  </a:tcPr>
                </a:tc>
                <a:tc>
                  <a:txBody>
                    <a:bodyPr wrap="square" lIns="73152" rIns="73152" tIns="36576" bIns="36576"/>
                    <a:lstStyle/>
                    <a:p>
                      <a:pPr>
                        <a:defRPr sz="850">
                          <a:solidFill>
                            <a:srgbClr val="94A3B8"/>
                          </a:solidFill>
                          <a:latin typeface="Segoe UI"/>
                        </a:defRPr>
                      </a:pPr>
                      <a:r>
                        <a:t>INR 12,410,250.00</a:t>
                      </a:r>
                    </a:p>
                  </a:txBody>
                  <a:tcPr>
                    <a:solidFill>
                      <a:srgbClr val="111D4A"/>
                    </a:solidFill>
                  </a:tcPr>
                </a:tc>
                <a:tc>
                  <a:txBody>
                    <a:bodyPr wrap="square" lIns="73152" rIns="73152" tIns="36576" bIns="36576"/>
                    <a:lstStyle/>
                    <a:p>
                      <a:pPr>
                        <a:defRPr sz="850">
                          <a:solidFill>
                            <a:srgbClr val="94A3B8"/>
                          </a:solidFill>
                          <a:latin typeface="Segoe UI"/>
                        </a:defRPr>
                      </a:pPr>
                      <a:r>
                        <a:t>INR 15,820,140.54</a:t>
                      </a:r>
                    </a:p>
                  </a:txBody>
                  <a:tcPr>
                    <a:solidFill>
                      <a:srgbClr val="111D4A"/>
                    </a:solidFill>
                  </a:tcPr>
                </a:tc>
              </a:tr>
              <a:tr h="329184">
                <a:tc>
                  <a:txBody>
                    <a:bodyPr wrap="square" lIns="73152" rIns="73152" tIns="36576" bIns="36576"/>
                    <a:lstStyle/>
                    <a:p>
                      <a:pPr>
                        <a:defRPr sz="850">
                          <a:solidFill>
                            <a:srgbClr val="FFFFFF"/>
                          </a:solidFill>
                          <a:latin typeface="Segoe UI"/>
                        </a:defRPr>
                      </a:pPr>
                      <a:r>
                        <a:t>Freight Transit Cost</a:t>
                      </a:r>
                    </a:p>
                  </a:txBody>
                  <a:tcPr>
                    <a:solidFill>
                      <a:srgbClr val="172554"/>
                    </a:solidFill>
                  </a:tcPr>
                </a:tc>
                <a:tc>
                  <a:txBody>
                    <a:bodyPr wrap="square" lIns="73152" rIns="73152" tIns="36576" bIns="36576"/>
                    <a:lstStyle/>
                    <a:p>
                      <a:pPr>
                        <a:defRPr sz="850">
                          <a:solidFill>
                            <a:srgbClr val="94A3B8"/>
                          </a:solidFill>
                          <a:latin typeface="Segoe UI"/>
                        </a:defRPr>
                      </a:pPr>
                      <a:r>
                        <a:t>INR 1,845,220.00</a:t>
                      </a:r>
                    </a:p>
                  </a:txBody>
                  <a:tcPr>
                    <a:solidFill>
                      <a:srgbClr val="172554"/>
                    </a:solidFill>
                  </a:tcPr>
                </a:tc>
                <a:tc>
                  <a:txBody>
                    <a:bodyPr wrap="square" lIns="73152" rIns="73152" tIns="36576" bIns="36576"/>
                    <a:lstStyle/>
                    <a:p>
                      <a:pPr>
                        <a:defRPr sz="850" b="1">
                          <a:solidFill>
                            <a:srgbClr val="10B981"/>
                          </a:solidFill>
                          <a:latin typeface="Segoe UI"/>
                        </a:defRPr>
                      </a:pPr>
                      <a:r>
                        <a:t>INR 3,471,100.00</a:t>
                      </a:r>
                    </a:p>
                  </a:txBody>
                  <a:tcPr>
                    <a:solidFill>
                      <a:srgbClr val="172554"/>
                    </a:solidFill>
                  </a:tcPr>
                </a:tc>
              </a:tr>
              <a:tr h="329184">
                <a:tc>
                  <a:txBody>
                    <a:bodyPr wrap="square" lIns="73152" rIns="73152" tIns="36576" bIns="36576"/>
                    <a:lstStyle/>
                    <a:p>
                      <a:pPr>
                        <a:defRPr sz="850">
                          <a:solidFill>
                            <a:srgbClr val="FFFFFF"/>
                          </a:solidFill>
                          <a:latin typeface="Segoe UI"/>
                        </a:defRPr>
                      </a:pPr>
                      <a:r>
                        <a:t>Shortage Penalty Cost</a:t>
                      </a:r>
                    </a:p>
                  </a:txBody>
                  <a:tcPr>
                    <a:solidFill>
                      <a:srgbClr val="111D4A"/>
                    </a:solidFill>
                  </a:tcPr>
                </a:tc>
                <a:tc>
                  <a:txBody>
                    <a:bodyPr wrap="square" lIns="73152" rIns="73152" tIns="36576" bIns="36576"/>
                    <a:lstStyle/>
                    <a:p>
                      <a:pPr>
                        <a:defRPr sz="850">
                          <a:solidFill>
                            <a:srgbClr val="94A3B8"/>
                          </a:solidFill>
                          <a:latin typeface="Segoe UI"/>
                        </a:defRPr>
                      </a:pPr>
                      <a:r>
                        <a:t>INR 24,445,120.00</a:t>
                      </a:r>
                    </a:p>
                  </a:txBody>
                  <a:tcPr>
                    <a:solidFill>
                      <a:srgbClr val="111D4A"/>
                    </a:solidFill>
                  </a:tcPr>
                </a:tc>
                <a:tc>
                  <a:txBody>
                    <a:bodyPr wrap="square" lIns="73152" rIns="73152" tIns="36576" bIns="36576"/>
                    <a:lstStyle/>
                    <a:p>
                      <a:pPr>
                        <a:defRPr sz="850" b="1">
                          <a:solidFill>
                            <a:srgbClr val="10B981"/>
                          </a:solidFill>
                          <a:latin typeface="Segoe UI"/>
                        </a:defRPr>
                      </a:pPr>
                      <a:r>
                        <a:t>INR 0.00 (-100%)</a:t>
                      </a:r>
                    </a:p>
                  </a:txBody>
                  <a:tcPr>
                    <a:solidFill>
                      <a:srgbClr val="111D4A"/>
                    </a:solidFill>
                  </a:tcPr>
                </a:tc>
              </a:tr>
              <a:tr h="329184">
                <a:tc>
                  <a:txBody>
                    <a:bodyPr wrap="square" lIns="73152" rIns="73152" tIns="36576" bIns="36576"/>
                    <a:lstStyle/>
                    <a:p>
                      <a:pPr>
                        <a:defRPr sz="850">
                          <a:solidFill>
                            <a:srgbClr val="FFFFFF"/>
                          </a:solidFill>
                          <a:latin typeface="Segoe UI"/>
                        </a:defRPr>
                      </a:pPr>
                      <a:r>
                        <a:t>Holding Cost</a:t>
                      </a:r>
                    </a:p>
                  </a:txBody>
                  <a:tcPr>
                    <a:solidFill>
                      <a:srgbClr val="172554"/>
                    </a:solidFill>
                  </a:tcPr>
                </a:tc>
                <a:tc>
                  <a:txBody>
                    <a:bodyPr wrap="square" lIns="73152" rIns="73152" tIns="36576" bIns="36576"/>
                    <a:lstStyle/>
                    <a:p>
                      <a:pPr>
                        <a:defRPr sz="850">
                          <a:solidFill>
                            <a:srgbClr val="94A3B8"/>
                          </a:solidFill>
                          <a:latin typeface="Segoe UI"/>
                        </a:defRPr>
                      </a:pPr>
                      <a:r>
                        <a:t>INR 2,514,594.70</a:t>
                      </a:r>
                    </a:p>
                  </a:txBody>
                  <a:tcPr>
                    <a:solidFill>
                      <a:srgbClr val="172554"/>
                    </a:solidFill>
                  </a:tcPr>
                </a:tc>
                <a:tc>
                  <a:txBody>
                    <a:bodyPr wrap="square" lIns="73152" rIns="73152" tIns="36576" bIns="36576"/>
                    <a:lstStyle/>
                    <a:p>
                      <a:pPr>
                        <a:defRPr sz="850">
                          <a:solidFill>
                            <a:srgbClr val="94A3B8"/>
                          </a:solidFill>
                          <a:latin typeface="Segoe UI"/>
                        </a:defRPr>
                      </a:pPr>
                      <a:r>
                        <a:t>INR 0.00 (Cross-dock)</a:t>
                      </a:r>
                    </a:p>
                  </a:txBody>
                  <a:tcPr>
                    <a:solidFill>
                      <a:srgbClr val="172554"/>
                    </a:solidFill>
                  </a:tcPr>
                </a:tc>
              </a:tr>
              <a:tr h="329184">
                <a:tc>
                  <a:txBody>
                    <a:bodyPr wrap="square" lIns="73152" rIns="73152" tIns="36576" bIns="36576"/>
                    <a:lstStyle/>
                    <a:p>
                      <a:pPr>
                        <a:defRPr sz="850">
                          <a:solidFill>
                            <a:srgbClr val="FFFFFF"/>
                          </a:solidFill>
                          <a:latin typeface="Segoe UI"/>
                        </a:defRPr>
                      </a:pPr>
                      <a:r>
                        <a:t>Unmet Shortages</a:t>
                      </a:r>
                    </a:p>
                  </a:txBody>
                  <a:tcPr>
                    <a:solidFill>
                      <a:srgbClr val="111D4A"/>
                    </a:solidFill>
                  </a:tcPr>
                </a:tc>
                <a:tc>
                  <a:txBody>
                    <a:bodyPr wrap="square" lIns="73152" rIns="73152" tIns="36576" bIns="36576"/>
                    <a:lstStyle/>
                    <a:p>
                      <a:pPr>
                        <a:defRPr sz="850">
                          <a:solidFill>
                            <a:srgbClr val="94A3B8"/>
                          </a:solidFill>
                          <a:latin typeface="Segoe UI"/>
                        </a:defRPr>
                      </a:pPr>
                      <a:r>
                        <a:t>69,843.2 units</a:t>
                      </a:r>
                    </a:p>
                  </a:txBody>
                  <a:tcPr>
                    <a:solidFill>
                      <a:srgbClr val="111D4A"/>
                    </a:solidFill>
                  </a:tcPr>
                </a:tc>
                <a:tc>
                  <a:txBody>
                    <a:bodyPr wrap="square" lIns="73152" rIns="73152" tIns="36576" bIns="36576"/>
                    <a:lstStyle/>
                    <a:p>
                      <a:pPr>
                        <a:defRPr sz="850">
                          <a:solidFill>
                            <a:srgbClr val="94A3B8"/>
                          </a:solidFill>
                          <a:latin typeface="Segoe UI"/>
                        </a:defRPr>
                      </a:pPr>
                      <a:r>
                        <a:t>0.0 units (Fulfilled)</a:t>
                      </a:r>
                    </a:p>
                  </a:txBody>
                  <a:tcPr>
                    <a:solidFill>
                      <a:srgbClr val="111D4A"/>
                    </a:solidFill>
                  </a:tcPr>
                </a:tc>
              </a:tr>
              <a:tr h="329184">
                <a:tc>
                  <a:txBody>
                    <a:bodyPr wrap="square" lIns="73152" rIns="73152" tIns="36576" bIns="36576"/>
                    <a:lstStyle/>
                    <a:p>
                      <a:pPr>
                        <a:defRPr sz="850">
                          <a:solidFill>
                            <a:srgbClr val="FFFFFF"/>
                          </a:solidFill>
                          <a:latin typeface="Segoe UI"/>
                        </a:defRPr>
                      </a:pPr>
                      <a:r>
                        <a:t>Network Service Level</a:t>
                      </a:r>
                    </a:p>
                  </a:txBody>
                  <a:tcPr>
                    <a:solidFill>
                      <a:srgbClr val="172554"/>
                    </a:solidFill>
                  </a:tcPr>
                </a:tc>
                <a:tc>
                  <a:txBody>
                    <a:bodyPr wrap="square" lIns="73152" rIns="73152" tIns="36576" bIns="36576"/>
                    <a:lstStyle/>
                    <a:p>
                      <a:pPr>
                        <a:defRPr sz="850">
                          <a:solidFill>
                            <a:srgbClr val="94A3B8"/>
                          </a:solidFill>
                          <a:latin typeface="Segoe UI"/>
                        </a:defRPr>
                      </a:pPr>
                      <a:r>
                        <a:t>54.57%</a:t>
                      </a:r>
                    </a:p>
                  </a:txBody>
                  <a:tcPr>
                    <a:solidFill>
                      <a:srgbClr val="172554"/>
                    </a:solidFill>
                  </a:tcPr>
                </a:tc>
                <a:tc>
                  <a:txBody>
                    <a:bodyPr wrap="square" lIns="73152" rIns="73152" tIns="36576" bIns="36576"/>
                    <a:lstStyle/>
                    <a:p>
                      <a:pPr>
                        <a:defRPr sz="850" b="1">
                          <a:solidFill>
                            <a:srgbClr val="10B981"/>
                          </a:solidFill>
                          <a:latin typeface="Segoe UI"/>
                        </a:defRPr>
                      </a:pPr>
                      <a:r>
                        <a:t>100.00% (+45.43 pp)</a:t>
                      </a:r>
                    </a:p>
                  </a:txBody>
                  <a:tcPr>
                    <a:solidFill>
                      <a:srgbClr val="172554"/>
                    </a:solidFill>
                  </a:tcPr>
                </a:tc>
              </a:tr>
              <a:tr h="329184">
                <a:tc>
                  <a:txBody>
                    <a:bodyPr wrap="square" lIns="73152" rIns="73152" tIns="36576" bIns="36576"/>
                    <a:lstStyle/>
                    <a:p>
                      <a:pPr>
                        <a:defRPr sz="850">
                          <a:solidFill>
                            <a:srgbClr val="FFFFFF"/>
                          </a:solidFill>
                          <a:latin typeface="Segoe UI"/>
                        </a:defRPr>
                      </a:pPr>
                      <a:r>
                        <a:t>Solver Runtime</a:t>
                      </a:r>
                    </a:p>
                  </a:txBody>
                  <a:tcPr>
                    <a:solidFill>
                      <a:srgbClr val="111D4A"/>
                    </a:solidFill>
                  </a:tcPr>
                </a:tc>
                <a:tc>
                  <a:txBody>
                    <a:bodyPr wrap="square" lIns="73152" rIns="73152" tIns="36576" bIns="36576"/>
                    <a:lstStyle/>
                    <a:p>
                      <a:pPr>
                        <a:defRPr sz="850">
                          <a:solidFill>
                            <a:srgbClr val="94A3B8"/>
                          </a:solidFill>
                          <a:latin typeface="Segoe UI"/>
                        </a:defRPr>
                      </a:pPr>
                      <a:r>
                        <a:t>N/A (Rule-based)</a:t>
                      </a:r>
                    </a:p>
                  </a:txBody>
                  <a:tcPr>
                    <a:solidFill>
                      <a:srgbClr val="111D4A"/>
                    </a:solidFill>
                  </a:tcPr>
                </a:tc>
                <a:tc>
                  <a:txBody>
                    <a:bodyPr wrap="square" lIns="73152" rIns="73152" tIns="36576" bIns="36576"/>
                    <a:lstStyle/>
                    <a:p>
                      <a:pPr>
                        <a:defRPr sz="850">
                          <a:solidFill>
                            <a:srgbClr val="94A3B8"/>
                          </a:solidFill>
                          <a:latin typeface="Segoe UI"/>
                        </a:defRPr>
                      </a:pPr>
                      <a:r>
                        <a:t>0.0094 seconds</a:t>
                      </a:r>
                    </a:p>
                  </a:txBody>
                  <a:tcPr>
                    <a:solidFill>
                      <a:srgbClr val="111D4A"/>
                    </a:solidFill>
                  </a:tcPr>
                </a:tc>
              </a:tr>
            </a:tbl>
          </a:graphicData>
        </a:graphic>
      </p:graphicFrame>
      <p:sp>
        <p:nvSpPr>
          <p:cNvPr id="9" name="TextBox 8"/>
          <p:cNvSpPr txBox="1"/>
          <p:nvPr/>
        </p:nvSpPr>
        <p:spPr>
          <a:xfrm>
            <a:off x="6720840" y="5394960"/>
            <a:ext cx="4602175" cy="640080"/>
          </a:xfrm>
          <a:prstGeom prst="rect">
            <a:avLst/>
          </a:prstGeom>
          <a:noFill/>
        </p:spPr>
        <p:txBody>
          <a:bodyPr wrap="square">
            <a:spAutoFit/>
          </a:bodyPr>
          <a:lstStyle/>
          <a:p>
            <a:pPr>
              <a:defRPr sz="850" b="1">
                <a:solidFill>
                  <a:srgbClr val="F59E0B"/>
                </a:solidFill>
                <a:latin typeface="Segoe UI"/>
              </a:defRPr>
            </a:pPr>
            <a:r>
              <a:t>ACADEMIC DISCLAIMER: SIMULATED SCENARIO OUTCOME</a:t>
            </a:r>
          </a:p>
          <a:p>
            <a:pPr>
              <a:defRPr sz="750">
                <a:solidFill>
                  <a:srgbClr val="94A3B8"/>
                </a:solidFill>
                <a:latin typeface="Segoe UI"/>
              </a:defRPr>
            </a:pPr>
            <a:r>
              <a:t>These results represent mathematical model performance under this specific stress scenario and are not a universal guarantee for all possible disruption topologies.</a:t>
            </a:r>
          </a:p>
        </p:txBody>
      </p:sp>
      <p:sp>
        <p:nvSpPr>
          <p:cNvPr id="10" name="TextBox 9"/>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15 of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[ 16 / 23  •  RECOMMENDATION &amp; ACTION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Recommendation Engine — From Optimization to Action</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Converting mathematical LP allocations into plain-language executive directives and simulated ERP dispatch.</a:t>
            </a:r>
          </a:p>
        </p:txBody>
      </p:sp>
      <p:pic>
        <p:nvPicPr>
          <p:cNvPr id="5" name="Picture 4" descr="08_recommendation_center.png"/>
          <p:cNvPicPr>
            <a:picLocks noChangeAspect="1"/>
          </p:cNvPicPr>
          <p:nvPr/>
        </p:nvPicPr>
        <p:blipFill>
          <a:blip r:embed="rId2"/>
          <a:stretch>
            <a:fillRect/>
          </a:stretch>
        </p:blipFill>
        <p:spPr>
          <a:xfrm>
            <a:off x="731520" y="1645920"/>
            <a:ext cx="5303520" cy="4480560"/>
          </a:xfrm>
          <a:prstGeom prst="rect">
            <a:avLst/>
          </a:prstGeom>
        </p:spPr>
      </p:pic>
      <p:sp>
        <p:nvSpPr>
          <p:cNvPr id="6" name="Rounded Rectangle 5"/>
          <p:cNvSpPr/>
          <p:nvPr/>
        </p:nvSpPr>
        <p:spPr>
          <a:xfrm>
            <a:off x="6217920" y="1645920"/>
            <a:ext cx="5242255" cy="448056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755648"/>
            <a:ext cx="4913071" cy="292608"/>
          </a:xfrm>
          <a:prstGeom prst="rect">
            <a:avLst/>
          </a:prstGeom>
          <a:noFill/>
        </p:spPr>
        <p:txBody>
          <a:bodyPr wrap="square" lIns="0" tIns="0" rIns="0" bIns="0">
            <a:spAutoFit/>
          </a:bodyPr>
          <a:lstStyle/>
          <a:p>
            <a:pPr>
              <a:defRPr sz="1100" b="1">
                <a:solidFill>
                  <a:srgbClr val="38BDF8"/>
                </a:solidFill>
                <a:latin typeface="Segoe UI"/>
              </a:defRPr>
            </a:pPr>
            <a:r>
              <a:t>SYNTHESIZED MITIGATION DIRECTIVES</a:t>
            </a:r>
          </a:p>
        </p:txBody>
      </p:sp>
      <p:sp>
        <p:nvSpPr>
          <p:cNvPr id="8" name="TextBox 7"/>
          <p:cNvSpPr txBox="1"/>
          <p:nvPr/>
        </p:nvSpPr>
        <p:spPr>
          <a:xfrm>
            <a:off x="6400800" y="2011680"/>
            <a:ext cx="4846320" cy="3931920"/>
          </a:xfrm>
          <a:prstGeom prst="rect">
            <a:avLst/>
          </a:prstGeom>
          <a:noFill/>
        </p:spPr>
        <p:txBody>
          <a:bodyPr wrap="square">
            <a:spAutoFit/>
          </a:bodyPr>
          <a:lstStyle/>
          <a:p>
            <a:pPr>
              <a:spcAft>
                <a:spcPts val="450"/>
              </a:spcAft>
              <a:defRPr sz="850">
                <a:latin typeface="Segoe UI"/>
              </a:defRPr>
            </a:pPr>
            <a:r>
              <a:rPr b="1">
                <a:solidFill>
                  <a:srgbClr val="FFFFFF"/>
                </a:solidFill>
              </a:rPr>
              <a:t>• Directives ID: </a:t>
            </a:r>
            <a:r>
              <a:rPr>
                <a:solidFill>
                  <a:srgbClr val="94A3B8"/>
                </a:solidFill>
              </a:rPr>
              <a:t>REC_AUTO_MITIGATION_SUP001 (Action: REALLOCATE_AND_REROUTE).</a:t>
            </a:r>
          </a:p>
          <a:p>
            <a:pPr>
              <a:spcAft>
                <a:spcPts val="450"/>
              </a:spcAft>
              <a:defRPr sz="850">
                <a:latin typeface="Segoe UI"/>
              </a:defRPr>
            </a:pPr>
            <a:r>
              <a:rPr b="1">
                <a:solidFill>
                  <a:srgbClr val="FFFFFF"/>
                </a:solidFill>
              </a:rPr>
              <a:t>• Executive Rationale: </a:t>
            </a:r>
            <a:r>
              <a:rPr>
                <a:solidFill>
                  <a:srgbClr val="94A3B8"/>
                </a:solidFill>
              </a:rPr>
              <a:t>'Tata AutoComp Components (SUP_001) faces severe capacity degradation. Without intervention, baseline operations cause 69,843 units of shortage. NEXUS has formulated an optimal reallocation plan.'</a:t>
            </a:r>
          </a:p>
          <a:p>
            <a:pPr>
              <a:spcAft>
                <a:spcPts val="450"/>
              </a:spcAft>
              <a:defRPr sz="850">
                <a:latin typeface="Segoe UI"/>
              </a:defRPr>
            </a:pPr>
            <a:r>
              <a:rPr b="1">
                <a:solidFill>
                  <a:srgbClr val="FFFFFF"/>
                </a:solidFill>
              </a:rPr>
              <a:t>• Action Directive 1: </a:t>
            </a:r>
            <a:r>
              <a:rPr>
                <a:solidFill>
                  <a:srgbClr val="94A3B8"/>
                </a:solidFill>
              </a:rPr>
              <a:t>Shift 18.5% (25,000 units) of raw material procurement to SUP_005 (Tata Steel, Jamshedpur).</a:t>
            </a:r>
          </a:p>
          <a:p>
            <a:pPr>
              <a:spcAft>
                <a:spcPts val="450"/>
              </a:spcAft>
              <a:defRPr sz="850">
                <a:latin typeface="Segoe UI"/>
              </a:defRPr>
            </a:pPr>
            <a:r>
              <a:rPr b="1">
                <a:solidFill>
                  <a:srgbClr val="FFFFFF"/>
                </a:solidFill>
              </a:rPr>
              <a:t>• Action Directive 2: </a:t>
            </a:r>
            <a:r>
              <a:rPr>
                <a:solidFill>
                  <a:srgbClr val="94A3B8"/>
                </a:solidFill>
              </a:rPr>
              <a:t>Shift 12.0% (16,200 units) of component buffering to SUP_009 (Kumaon Polymer, Pantnagar).</a:t>
            </a:r>
          </a:p>
          <a:p>
            <a:pPr>
              <a:spcAft>
                <a:spcPts val="450"/>
              </a:spcAft>
              <a:defRPr sz="850">
                <a:latin typeface="Segoe UI"/>
              </a:defRPr>
            </a:pPr>
            <a:r>
              <a:rPr b="1">
                <a:solidFill>
                  <a:srgbClr val="FFFFFF"/>
                </a:solidFill>
              </a:rPr>
              <a:t>• Action Directive 3: </a:t>
            </a:r>
            <a:r>
              <a:rPr>
                <a:solidFill>
                  <a:srgbClr val="94A3B8"/>
                </a:solidFill>
              </a:rPr>
              <a:t>Rebalance safety stock at WH_01 by dispatching 1,800 units from WH_04 via North-South Rail Freight Corridor.</a:t>
            </a:r>
          </a:p>
          <a:p>
            <a:pPr>
              <a:spcAft>
                <a:spcPts val="450"/>
              </a:spcAft>
              <a:defRPr sz="850">
                <a:latin typeface="Segoe UI"/>
              </a:defRPr>
            </a:pPr>
            <a:r>
              <a:rPr b="1">
                <a:solidFill>
                  <a:srgbClr val="FFFFFF"/>
                </a:solidFill>
              </a:rPr>
              <a:t>• Plan Robustness Index: </a:t>
            </a:r>
            <a:r>
              <a:rPr>
                <a:solidFill>
                  <a:srgbClr val="94A3B8"/>
                </a:solidFill>
              </a:rPr>
              <a:t>0.98 / 1.00 (derived from LP solver status = OPTIMAL and 100% shortage mitigation).</a:t>
            </a:r>
          </a:p>
          <a:p>
            <a:pPr>
              <a:spcAft>
                <a:spcPts val="450"/>
              </a:spcAft>
              <a:defRPr sz="850">
                <a:latin typeface="Segoe UI"/>
              </a:defRPr>
            </a:pPr>
            <a:r>
              <a:rPr b="1">
                <a:solidFill>
                  <a:srgbClr val="FFFFFF"/>
                </a:solidFill>
              </a:rPr>
              <a:t>• Simulated ERP/WMS Dispatch: </a:t>
            </a:r>
            <a:r>
              <a:rPr>
                <a:solidFill>
                  <a:srgbClr val="94A3B8"/>
                </a:solidFill>
              </a:rPr>
              <a:t>Dispatched to mock WMS/ERP queue for operator demonstration (strictly labeled as simulation).</a:t>
            </a:r>
          </a:p>
        </p:txBody>
      </p:sp>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16 of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[ 17 / 23  •  USER INTERFACE &amp; CONTROL ROOM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NEXUS Frontend — Enterprise Decision Control Room</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A production-grade, dark-themed control room built with React 19, TypeScript, and Tailwind CSS.</a:t>
            </a:r>
          </a:p>
        </p:txBody>
      </p:sp>
      <p:pic>
        <p:nvPicPr>
          <p:cNvPr id="5" name="Picture 4" descr="slide_frontend_8screens_grid.png"/>
          <p:cNvPicPr>
            <a:picLocks noChangeAspect="1"/>
          </p:cNvPicPr>
          <p:nvPr/>
        </p:nvPicPr>
        <p:blipFill>
          <a:blip r:embed="rId2"/>
          <a:stretch>
            <a:fillRect/>
          </a:stretch>
        </p:blipFill>
        <p:spPr>
          <a:xfrm>
            <a:off x="731520" y="1645920"/>
            <a:ext cx="10728655" cy="3566160"/>
          </a:xfrm>
          <a:prstGeom prst="rect">
            <a:avLst/>
          </a:prstGeom>
        </p:spPr>
      </p:pic>
      <p:sp>
        <p:nvSpPr>
          <p:cNvPr id="6" name="Rounded Rectangle 5"/>
          <p:cNvSpPr/>
          <p:nvPr/>
        </p:nvSpPr>
        <p:spPr>
          <a:xfrm>
            <a:off x="731520" y="5349240"/>
            <a:ext cx="5212080" cy="96012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58968"/>
            <a:ext cx="4882896" cy="292608"/>
          </a:xfrm>
          <a:prstGeom prst="rect">
            <a:avLst/>
          </a:prstGeom>
          <a:noFill/>
        </p:spPr>
        <p:txBody>
          <a:bodyPr wrap="square" lIns="0" tIns="0" rIns="0" bIns="0">
            <a:spAutoFit/>
          </a:bodyPr>
          <a:lstStyle/>
          <a:p>
            <a:pPr>
              <a:defRPr sz="1100" b="1">
                <a:solidFill>
                  <a:srgbClr val="38BDF8"/>
                </a:solidFill>
                <a:latin typeface="Segoe UI"/>
              </a:defRPr>
            </a:pPr>
            <a:r>
              <a:t>FRONTEND ARCHITECTURE</a:t>
            </a:r>
          </a:p>
        </p:txBody>
      </p:sp>
      <p:sp>
        <p:nvSpPr>
          <p:cNvPr id="8" name="TextBox 7"/>
          <p:cNvSpPr txBox="1"/>
          <p:nvPr/>
        </p:nvSpPr>
        <p:spPr>
          <a:xfrm>
            <a:off x="914400" y="5623560"/>
            <a:ext cx="4846320" cy="640080"/>
          </a:xfrm>
          <a:prstGeom prst="rect">
            <a:avLst/>
          </a:prstGeom>
          <a:noFill/>
        </p:spPr>
        <p:txBody>
          <a:bodyPr wrap="none">
            <a:spAutoFit/>
          </a:bodyPr>
          <a:lstStyle/>
          <a:p>
            <a:pPr>
              <a:defRPr sz="950">
                <a:solidFill>
                  <a:srgbClr val="FFFFFF"/>
                </a:solidFill>
                <a:latin typeface="Segoe UI"/>
              </a:defRPr>
            </a:pPr>
            <a:r>
              <a:t>React 19  •  TypeScript 5.8  •  Vite 8.3  •  Tailwind CSS  •  Leaflet GIS  •  Recharts  •  Lucide Icons</a:t>
            </a:r>
          </a:p>
        </p:txBody>
      </p:sp>
      <p:sp>
        <p:nvSpPr>
          <p:cNvPr id="9" name="Rounded Rectangle 8"/>
          <p:cNvSpPr/>
          <p:nvPr/>
        </p:nvSpPr>
        <p:spPr>
          <a:xfrm>
            <a:off x="6217920" y="5349240"/>
            <a:ext cx="5242255" cy="9601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5458968"/>
            <a:ext cx="4913071" cy="292608"/>
          </a:xfrm>
          <a:prstGeom prst="rect">
            <a:avLst/>
          </a:prstGeom>
          <a:noFill/>
        </p:spPr>
        <p:txBody>
          <a:bodyPr wrap="square" lIns="0" tIns="0" rIns="0" bIns="0">
            <a:spAutoFit/>
          </a:bodyPr>
          <a:lstStyle/>
          <a:p>
            <a:pPr>
              <a:defRPr sz="1100" b="1">
                <a:solidFill>
                  <a:srgbClr val="38BDF8"/>
                </a:solidFill>
                <a:latin typeface="Segoe UI"/>
              </a:defRPr>
            </a:pPr>
            <a:r>
              <a:t>BUILD PERFORMANCE &amp; FOOTPRINT</a:t>
            </a:r>
          </a:p>
        </p:txBody>
      </p:sp>
      <p:sp>
        <p:nvSpPr>
          <p:cNvPr id="11" name="TextBox 10"/>
          <p:cNvSpPr txBox="1"/>
          <p:nvPr/>
        </p:nvSpPr>
        <p:spPr>
          <a:xfrm>
            <a:off x="6400800" y="5623560"/>
            <a:ext cx="4876495" cy="640080"/>
          </a:xfrm>
          <a:prstGeom prst="rect">
            <a:avLst/>
          </a:prstGeom>
          <a:noFill/>
        </p:spPr>
        <p:txBody>
          <a:bodyPr wrap="none">
            <a:spAutoFit/>
          </a:bodyPr>
          <a:lstStyle/>
          <a:p>
            <a:pPr>
              <a:defRPr sz="950">
                <a:solidFill>
                  <a:srgbClr val="FFFFFF"/>
                </a:solidFill>
                <a:latin typeface="Segoe UI"/>
              </a:defRPr>
            </a:pPr>
            <a:r>
              <a:t>Code-split bundles (React.lazy)  |  Initial bundle: ~365 kB (117 kB gzip)  |  Build time: 2.19s  |  0 errors</a:t>
            </a:r>
          </a:p>
        </p:txBody>
      </p:sp>
      <p:sp>
        <p:nvSpPr>
          <p:cNvPr id="12" name="TextBox 11"/>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17 of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[ 18 / 23  •  USER JOURNEY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One Continuous User Journey Through NEXUS</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An intuitive eight-stage progression from initial crisis visibility to mathematically verified mitigation.</a:t>
            </a:r>
          </a:p>
        </p:txBody>
      </p:sp>
      <p:sp>
        <p:nvSpPr>
          <p:cNvPr id="5" name="Rounded Rectangle 4"/>
          <p:cNvSpPr/>
          <p:nvPr/>
        </p:nvSpPr>
        <p:spPr>
          <a:xfrm>
            <a:off x="731520" y="1645920"/>
            <a:ext cx="2514600" cy="210312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783080"/>
            <a:ext cx="2295144" cy="1828800"/>
          </a:xfrm>
          <a:prstGeom prst="rect">
            <a:avLst/>
          </a:prstGeom>
          <a:noFill/>
        </p:spPr>
        <p:txBody>
          <a:bodyPr wrap="square">
            <a:spAutoFit/>
          </a:bodyPr>
          <a:lstStyle/>
          <a:p>
            <a:pPr>
              <a:defRPr sz="1100" b="1">
                <a:solidFill>
                  <a:srgbClr val="38BDF8"/>
                </a:solidFill>
                <a:latin typeface="Segoe UI"/>
              </a:defRPr>
            </a:pPr>
            <a:r>
              <a:t>1. Dashboard</a:t>
            </a:r>
          </a:p>
          <a:p>
            <a:pPr>
              <a:spcBef>
                <a:spcPts val="200"/>
              </a:spcBef>
              <a:defRPr sz="950" b="1">
                <a:solidFill>
                  <a:srgbClr val="FFFFFF"/>
                </a:solidFill>
                <a:latin typeface="Segoe UI"/>
              </a:defRPr>
            </a:pPr>
            <a:r>
              <a:t>"What is happening?"</a:t>
            </a:r>
          </a:p>
          <a:p>
            <a:pPr>
              <a:spcBef>
                <a:spcPts val="400"/>
              </a:spcBef>
              <a:defRPr sz="850">
                <a:solidFill>
                  <a:srgbClr val="94A3B8"/>
                </a:solidFill>
                <a:latin typeface="Segoe UI"/>
              </a:defRPr>
            </a:pPr>
            <a:r>
              <a:t>Alert flags an operational risk event on Tier-1 vendor SUP_001.</a:t>
            </a:r>
          </a:p>
        </p:txBody>
      </p:sp>
      <p:sp>
        <p:nvSpPr>
          <p:cNvPr id="7" name="Rounded Rectangle 6"/>
          <p:cNvSpPr/>
          <p:nvPr/>
        </p:nvSpPr>
        <p:spPr>
          <a:xfrm>
            <a:off x="3465576" y="1645920"/>
            <a:ext cx="2514600" cy="2103120"/>
          </a:xfrm>
          <a:prstGeom prst="roundRect">
            <a:avLst/>
          </a:prstGeom>
          <a:solidFill>
            <a:srgbClr val="111D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5304" y="1783080"/>
            <a:ext cx="2295144" cy="1828800"/>
          </a:xfrm>
          <a:prstGeom prst="rect">
            <a:avLst/>
          </a:prstGeom>
          <a:noFill/>
        </p:spPr>
        <p:txBody>
          <a:bodyPr wrap="square">
            <a:spAutoFit/>
          </a:bodyPr>
          <a:lstStyle/>
          <a:p>
            <a:pPr>
              <a:defRPr sz="1100" b="1">
                <a:solidFill>
                  <a:srgbClr val="06B6D4"/>
                </a:solidFill>
                <a:latin typeface="Segoe UI"/>
              </a:defRPr>
            </a:pPr>
            <a:r>
              <a:t>2. Digital Twin</a:t>
            </a:r>
          </a:p>
          <a:p>
            <a:pPr>
              <a:spcBef>
                <a:spcPts val="200"/>
              </a:spcBef>
              <a:defRPr sz="950" b="1">
                <a:solidFill>
                  <a:srgbClr val="FFFFFF"/>
                </a:solidFill>
                <a:latin typeface="Segoe UI"/>
              </a:defRPr>
            </a:pPr>
            <a:r>
              <a:t>"Where is it located?"</a:t>
            </a:r>
          </a:p>
          <a:p>
            <a:pPr>
              <a:spcBef>
                <a:spcPts val="400"/>
              </a:spcBef>
              <a:defRPr sz="850">
                <a:solidFill>
                  <a:srgbClr val="94A3B8"/>
                </a:solidFill>
                <a:latin typeface="Segoe UI"/>
              </a:defRPr>
            </a:pPr>
            <a:r>
              <a:t>Operator inspects geospatial map and zooms into the Pune industrial cluster.</a:t>
            </a:r>
          </a:p>
        </p:txBody>
      </p:sp>
      <p:sp>
        <p:nvSpPr>
          <p:cNvPr id="9" name="Rounded Rectangle 8"/>
          <p:cNvSpPr/>
          <p:nvPr/>
        </p:nvSpPr>
        <p:spPr>
          <a:xfrm>
            <a:off x="6199632" y="1645920"/>
            <a:ext cx="2514600" cy="2103120"/>
          </a:xfrm>
          <a:prstGeom prst="roundRect">
            <a:avLst/>
          </a:prstGeom>
          <a:solidFill>
            <a:srgbClr val="111D4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783080"/>
            <a:ext cx="2295144" cy="1828800"/>
          </a:xfrm>
          <a:prstGeom prst="rect">
            <a:avLst/>
          </a:prstGeom>
          <a:noFill/>
        </p:spPr>
        <p:txBody>
          <a:bodyPr wrap="square">
            <a:spAutoFit/>
          </a:bodyPr>
          <a:lstStyle/>
          <a:p>
            <a:pPr>
              <a:defRPr sz="1100" b="1">
                <a:solidFill>
                  <a:srgbClr val="818CF8"/>
                </a:solidFill>
                <a:latin typeface="Segoe UI"/>
              </a:defRPr>
            </a:pPr>
            <a:r>
              <a:t>3. Demand</a:t>
            </a:r>
          </a:p>
          <a:p>
            <a:pPr>
              <a:spcBef>
                <a:spcPts val="200"/>
              </a:spcBef>
              <a:defRPr sz="950" b="1">
                <a:solidFill>
                  <a:srgbClr val="FFFFFF"/>
                </a:solidFill>
                <a:latin typeface="Segoe UI"/>
              </a:defRPr>
            </a:pPr>
            <a:r>
              <a:t>"What will happen?"</a:t>
            </a:r>
          </a:p>
          <a:p>
            <a:pPr>
              <a:spcBef>
                <a:spcPts val="400"/>
              </a:spcBef>
              <a:defRPr sz="850">
                <a:solidFill>
                  <a:srgbClr val="94A3B8"/>
                </a:solidFill>
                <a:latin typeface="Segoe UI"/>
              </a:defRPr>
            </a:pPr>
            <a:r>
              <a:t>Forecasting models project 153k units of demand with 4-week forecast bands.</a:t>
            </a:r>
          </a:p>
        </p:txBody>
      </p:sp>
      <p:sp>
        <p:nvSpPr>
          <p:cNvPr id="11" name="Rounded Rectangle 10"/>
          <p:cNvSpPr/>
          <p:nvPr/>
        </p:nvSpPr>
        <p:spPr>
          <a:xfrm>
            <a:off x="8933688" y="1645920"/>
            <a:ext cx="2514600" cy="210312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783080"/>
            <a:ext cx="2295144" cy="1828800"/>
          </a:xfrm>
          <a:prstGeom prst="rect">
            <a:avLst/>
          </a:prstGeom>
          <a:noFill/>
        </p:spPr>
        <p:txBody>
          <a:bodyPr wrap="square">
            <a:spAutoFit/>
          </a:bodyPr>
          <a:lstStyle/>
          <a:p>
            <a:pPr>
              <a:defRPr sz="1100" b="1">
                <a:solidFill>
                  <a:srgbClr val="F59E0B"/>
                </a:solidFill>
                <a:latin typeface="Segoe UI"/>
              </a:defRPr>
            </a:pPr>
            <a:r>
              <a:t>4. Supplier Risk</a:t>
            </a:r>
          </a:p>
          <a:p>
            <a:pPr>
              <a:spcBef>
                <a:spcPts val="200"/>
              </a:spcBef>
              <a:defRPr sz="950" b="1">
                <a:solidFill>
                  <a:srgbClr val="FFFFFF"/>
                </a:solidFill>
                <a:latin typeface="Segoe UI"/>
              </a:defRPr>
            </a:pPr>
            <a:r>
              <a:t>"Who is failing &amp; why?"</a:t>
            </a:r>
          </a:p>
          <a:p>
            <a:pPr>
              <a:spcBef>
                <a:spcPts val="400"/>
              </a:spcBef>
              <a:defRPr sz="850">
                <a:solidFill>
                  <a:srgbClr val="94A3B8"/>
                </a:solidFill>
                <a:latin typeface="Segoe UI"/>
              </a:defRPr>
            </a:pPr>
            <a:r>
              <a:t>XGBoost surfaces 85% disruption probability driven by lead-time volatility.</a:t>
            </a:r>
          </a:p>
        </p:txBody>
      </p:sp>
      <p:sp>
        <p:nvSpPr>
          <p:cNvPr id="13" name="Rounded Rectangle 12"/>
          <p:cNvSpPr/>
          <p:nvPr/>
        </p:nvSpPr>
        <p:spPr>
          <a:xfrm>
            <a:off x="731520" y="3931920"/>
            <a:ext cx="2514600" cy="2103120"/>
          </a:xfrm>
          <a:prstGeom prst="roundRect">
            <a:avLst/>
          </a:prstGeom>
          <a:solidFill>
            <a:srgbClr val="111D4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4069080"/>
            <a:ext cx="2295144" cy="1828800"/>
          </a:xfrm>
          <a:prstGeom prst="rect">
            <a:avLst/>
          </a:prstGeom>
          <a:noFill/>
        </p:spPr>
        <p:txBody>
          <a:bodyPr wrap="square">
            <a:spAutoFit/>
          </a:bodyPr>
          <a:lstStyle/>
          <a:p>
            <a:pPr>
              <a:defRPr sz="1100" b="1">
                <a:solidFill>
                  <a:srgbClr val="EF4444"/>
                </a:solidFill>
                <a:latin typeface="Segoe UI"/>
              </a:defRPr>
            </a:pPr>
            <a:r>
              <a:t>5. Impact Analysis</a:t>
            </a:r>
          </a:p>
          <a:p>
            <a:pPr>
              <a:spcBef>
                <a:spcPts val="200"/>
              </a:spcBef>
              <a:defRPr sz="950" b="1">
                <a:solidFill>
                  <a:srgbClr val="FFFFFF"/>
                </a:solidFill>
                <a:latin typeface="Segoe UI"/>
              </a:defRPr>
            </a:pPr>
            <a:r>
              <a:t>"What will it affect?"</a:t>
            </a:r>
          </a:p>
          <a:p>
            <a:pPr>
              <a:spcBef>
                <a:spcPts val="400"/>
              </a:spcBef>
              <a:defRPr sz="850">
                <a:solidFill>
                  <a:srgbClr val="94A3B8"/>
                </a:solidFill>
                <a:latin typeface="Segoe UI"/>
              </a:defRPr>
            </a:pPr>
            <a:r>
              <a:t>Graph engine exposes WH_01 stockout in 5.07 days and 69.8k units at risk.</a:t>
            </a:r>
          </a:p>
        </p:txBody>
      </p:sp>
      <p:sp>
        <p:nvSpPr>
          <p:cNvPr id="15" name="Rounded Rectangle 14"/>
          <p:cNvSpPr/>
          <p:nvPr/>
        </p:nvSpPr>
        <p:spPr>
          <a:xfrm>
            <a:off x="3465576" y="3931920"/>
            <a:ext cx="2514600" cy="210312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5304" y="4069080"/>
            <a:ext cx="2295144" cy="1828800"/>
          </a:xfrm>
          <a:prstGeom prst="rect">
            <a:avLst/>
          </a:prstGeom>
          <a:noFill/>
        </p:spPr>
        <p:txBody>
          <a:bodyPr wrap="square">
            <a:spAutoFit/>
          </a:bodyPr>
          <a:lstStyle/>
          <a:p>
            <a:pPr>
              <a:defRPr sz="1100" b="1">
                <a:solidFill>
                  <a:srgbClr val="F59E0B"/>
                </a:solidFill>
                <a:latin typeface="Segoe UI"/>
              </a:defRPr>
            </a:pPr>
            <a:r>
              <a:t>6. Simulation</a:t>
            </a:r>
          </a:p>
          <a:p>
            <a:pPr>
              <a:spcBef>
                <a:spcPts val="200"/>
              </a:spcBef>
              <a:defRPr sz="950" b="1">
                <a:solidFill>
                  <a:srgbClr val="FFFFFF"/>
                </a:solidFill>
                <a:latin typeface="Segoe UI"/>
              </a:defRPr>
            </a:pPr>
            <a:r>
              <a:t>"What if it lasts 10 days?"</a:t>
            </a:r>
          </a:p>
          <a:p>
            <a:pPr>
              <a:spcBef>
                <a:spcPts val="400"/>
              </a:spcBef>
              <a:defRPr sz="850">
                <a:solidFill>
                  <a:srgbClr val="94A3B8"/>
                </a:solidFill>
                <a:latin typeface="Segoe UI"/>
              </a:defRPr>
            </a:pPr>
            <a:r>
              <a:t>Operator runs what-if stress simulation; confirms net capacity surplus in system.</a:t>
            </a:r>
          </a:p>
        </p:txBody>
      </p:sp>
      <p:sp>
        <p:nvSpPr>
          <p:cNvPr id="17" name="Rounded Rectangle 16"/>
          <p:cNvSpPr/>
          <p:nvPr/>
        </p:nvSpPr>
        <p:spPr>
          <a:xfrm>
            <a:off x="6199632" y="3931920"/>
            <a:ext cx="2514600" cy="210312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069080"/>
            <a:ext cx="2295144" cy="1828800"/>
          </a:xfrm>
          <a:prstGeom prst="rect">
            <a:avLst/>
          </a:prstGeom>
          <a:noFill/>
        </p:spPr>
        <p:txBody>
          <a:bodyPr wrap="square">
            <a:spAutoFit/>
          </a:bodyPr>
          <a:lstStyle/>
          <a:p>
            <a:pPr>
              <a:defRPr sz="1100" b="1">
                <a:solidFill>
                  <a:srgbClr val="10B981"/>
                </a:solidFill>
                <a:latin typeface="Segoe UI"/>
              </a:defRPr>
            </a:pPr>
            <a:r>
              <a:t>7. Optimization</a:t>
            </a:r>
          </a:p>
          <a:p>
            <a:pPr>
              <a:spcBef>
                <a:spcPts val="200"/>
              </a:spcBef>
              <a:defRPr sz="950" b="1">
                <a:solidFill>
                  <a:srgbClr val="FFFFFF"/>
                </a:solidFill>
                <a:latin typeface="Segoe UI"/>
              </a:defRPr>
            </a:pPr>
            <a:r>
              <a:t>"What should change?"</a:t>
            </a:r>
          </a:p>
          <a:p>
            <a:pPr>
              <a:spcBef>
                <a:spcPts val="400"/>
              </a:spcBef>
              <a:defRPr sz="850">
                <a:solidFill>
                  <a:srgbClr val="94A3B8"/>
                </a:solidFill>
                <a:latin typeface="Segoe UI"/>
              </a:defRPr>
            </a:pPr>
            <a:r>
              <a:t>OR-Tools linear program solves global multi-echelon allocation in 0.0094s.</a:t>
            </a:r>
          </a:p>
        </p:txBody>
      </p:sp>
      <p:sp>
        <p:nvSpPr>
          <p:cNvPr id="19" name="Rounded Rectangle 18"/>
          <p:cNvSpPr/>
          <p:nvPr/>
        </p:nvSpPr>
        <p:spPr>
          <a:xfrm>
            <a:off x="8933688" y="3931920"/>
            <a:ext cx="2514600" cy="210312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43416" y="4069080"/>
            <a:ext cx="2295144" cy="1828800"/>
          </a:xfrm>
          <a:prstGeom prst="rect">
            <a:avLst/>
          </a:prstGeom>
          <a:noFill/>
        </p:spPr>
        <p:txBody>
          <a:bodyPr wrap="square">
            <a:spAutoFit/>
          </a:bodyPr>
          <a:lstStyle/>
          <a:p>
            <a:pPr>
              <a:defRPr sz="1100" b="1">
                <a:solidFill>
                  <a:srgbClr val="38BDF8"/>
                </a:solidFill>
                <a:latin typeface="Segoe UI"/>
              </a:defRPr>
            </a:pPr>
            <a:r>
              <a:t>8. Recommendation</a:t>
            </a:r>
          </a:p>
          <a:p>
            <a:pPr>
              <a:spcBef>
                <a:spcPts val="200"/>
              </a:spcBef>
              <a:defRPr sz="950" b="1">
                <a:solidFill>
                  <a:srgbClr val="FFFFFF"/>
                </a:solidFill>
                <a:latin typeface="Segoe UI"/>
              </a:defRPr>
            </a:pPr>
            <a:r>
              <a:t>"What should we do?"</a:t>
            </a:r>
          </a:p>
          <a:p>
            <a:pPr>
              <a:spcBef>
                <a:spcPts val="400"/>
              </a:spcBef>
              <a:defRPr sz="850">
                <a:solidFill>
                  <a:srgbClr val="94A3B8"/>
                </a:solidFill>
                <a:latin typeface="Segoe UI"/>
              </a:defRPr>
            </a:pPr>
            <a:r>
              <a:t>Reviews plain-language directives and simulates dispatch to enterprise ERP.</a:t>
            </a:r>
          </a:p>
        </p:txBody>
      </p:sp>
      <p:sp>
        <p:nvSpPr>
          <p:cNvPr id="21" name="TextBox 20"/>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18 of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[ 19 / 23  •  SYSTEM INTEGRATION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Frontend ↔ Backend Integration — 20 RESTful APIs</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A high-performance API service layer connecting UI views with asynchronous analytical pipelines.</a:t>
            </a:r>
          </a:p>
        </p:txBody>
      </p:sp>
      <p:pic>
        <p:nvPicPr>
          <p:cNvPr id="5" name="Picture 4" descr="09_swagger_api_docs.png"/>
          <p:cNvPicPr>
            <a:picLocks noChangeAspect="1"/>
          </p:cNvPicPr>
          <p:nvPr/>
        </p:nvPicPr>
        <p:blipFill>
          <a:blip r:embed="rId2"/>
          <a:stretch>
            <a:fillRect/>
          </a:stretch>
        </p:blipFill>
        <p:spPr>
          <a:xfrm>
            <a:off x="731520" y="1645920"/>
            <a:ext cx="5303520" cy="4480560"/>
          </a:xfrm>
          <a:prstGeom prst="rect">
            <a:avLst/>
          </a:prstGeom>
        </p:spPr>
      </p:pic>
      <p:sp>
        <p:nvSpPr>
          <p:cNvPr id="6" name="Rounded Rectangle 5"/>
          <p:cNvSpPr/>
          <p:nvPr/>
        </p:nvSpPr>
        <p:spPr>
          <a:xfrm>
            <a:off x="6217920" y="1645920"/>
            <a:ext cx="5242255" cy="448056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755648"/>
            <a:ext cx="4913071" cy="292608"/>
          </a:xfrm>
          <a:prstGeom prst="rect">
            <a:avLst/>
          </a:prstGeom>
          <a:noFill/>
        </p:spPr>
        <p:txBody>
          <a:bodyPr wrap="square" lIns="0" tIns="0" rIns="0" bIns="0">
            <a:spAutoFit/>
          </a:bodyPr>
          <a:lstStyle/>
          <a:p>
            <a:pPr>
              <a:defRPr sz="1100" b="1">
                <a:solidFill>
                  <a:srgbClr val="38BDF8"/>
                </a:solidFill>
                <a:latin typeface="Segoe UI"/>
              </a:defRPr>
            </a:pPr>
            <a:r>
              <a:t>VERIFIED 20 RESTFUL ENDPOINTS</a:t>
            </a:r>
          </a:p>
        </p:txBody>
      </p:sp>
      <p:sp>
        <p:nvSpPr>
          <p:cNvPr id="8" name="TextBox 7"/>
          <p:cNvSpPr txBox="1"/>
          <p:nvPr/>
        </p:nvSpPr>
        <p:spPr>
          <a:xfrm>
            <a:off x="6400800" y="2011680"/>
            <a:ext cx="4846320" cy="3931920"/>
          </a:xfrm>
          <a:prstGeom prst="rect">
            <a:avLst/>
          </a:prstGeom>
          <a:noFill/>
        </p:spPr>
        <p:txBody>
          <a:bodyPr wrap="square">
            <a:spAutoFit/>
          </a:bodyPr>
          <a:lstStyle/>
          <a:p>
            <a:pPr>
              <a:spcAft>
                <a:spcPts val="250"/>
              </a:spcAft>
              <a:defRPr sz="800">
                <a:latin typeface="Segoe UI"/>
              </a:defRPr>
            </a:pPr>
            <a:r>
              <a:rPr b="1">
                <a:solidFill>
                  <a:srgbClr val="FFFFFF"/>
                </a:solidFill>
              </a:rPr>
              <a:t>• GET /health: </a:t>
            </a:r>
            <a:r>
              <a:rPr>
                <a:solidFill>
                  <a:srgbClr val="94A3B8"/>
                </a:solidFill>
              </a:rPr>
              <a:t>System status, loaded ML model verifications, database health check.</a:t>
            </a:r>
          </a:p>
          <a:p>
            <a:pPr>
              <a:spcAft>
                <a:spcPts val="250"/>
              </a:spcAft>
              <a:defRPr sz="800">
                <a:latin typeface="Segoe UI"/>
              </a:defRPr>
            </a:pPr>
            <a:r>
              <a:rPr b="1">
                <a:solidFill>
                  <a:srgbClr val="FFFFFF"/>
                </a:solidFill>
              </a:rPr>
              <a:t>• GET /api/v1/suppliers: </a:t>
            </a:r>
            <a:r>
              <a:rPr>
                <a:solidFill>
                  <a:srgbClr val="94A3B8"/>
                </a:solidFill>
              </a:rPr>
              <a:t>Master data for 20 Tier-1/Tier-2 vendor profiles and metrics.</a:t>
            </a:r>
          </a:p>
          <a:p>
            <a:pPr>
              <a:spcAft>
                <a:spcPts val="250"/>
              </a:spcAft>
              <a:defRPr sz="800">
                <a:latin typeface="Segoe UI"/>
              </a:defRPr>
            </a:pPr>
            <a:r>
              <a:rPr b="1">
                <a:solidFill>
                  <a:srgbClr val="FFFFFF"/>
                </a:solidFill>
              </a:rPr>
              <a:t>• GET /api/v1/warehouses: </a:t>
            </a:r>
            <a:r>
              <a:rPr>
                <a:solidFill>
                  <a:srgbClr val="94A3B8"/>
                </a:solidFill>
              </a:rPr>
              <a:t>10 central warehouse facilities with capacities and operating costs.</a:t>
            </a:r>
          </a:p>
          <a:p>
            <a:pPr>
              <a:spcAft>
                <a:spcPts val="250"/>
              </a:spcAft>
              <a:defRPr sz="800">
                <a:latin typeface="Segoe UI"/>
              </a:defRPr>
            </a:pPr>
            <a:r>
              <a:rPr b="1">
                <a:solidFill>
                  <a:srgbClr val="FFFFFF"/>
                </a:solidFill>
              </a:rPr>
              <a:t>• GET /api/v1/routes: </a:t>
            </a:r>
            <a:r>
              <a:rPr>
                <a:solidFill>
                  <a:srgbClr val="94A3B8"/>
                </a:solidFill>
              </a:rPr>
              <a:t>160 multimodal transit lanes with distances and transit times.</a:t>
            </a:r>
          </a:p>
          <a:p>
            <a:pPr>
              <a:spcAft>
                <a:spcPts val="250"/>
              </a:spcAft>
              <a:defRPr sz="800">
                <a:latin typeface="Segoe UI"/>
              </a:defRPr>
            </a:pPr>
            <a:r>
              <a:rPr b="1">
                <a:solidFill>
                  <a:srgbClr val="FFFFFF"/>
                </a:solidFill>
              </a:rPr>
              <a:t>• GET /api/v1/analytics/summary: </a:t>
            </a:r>
            <a:r>
              <a:rPr>
                <a:solidFill>
                  <a:srgbClr val="94A3B8"/>
                </a:solidFill>
              </a:rPr>
              <a:t>Executive KPIs: inventory valuation, mean on-time rates, routes.</a:t>
            </a:r>
          </a:p>
          <a:p>
            <a:pPr>
              <a:spcAft>
                <a:spcPts val="250"/>
              </a:spcAft>
              <a:defRPr sz="800">
                <a:latin typeface="Segoe UI"/>
              </a:defRPr>
            </a:pPr>
            <a:r>
              <a:rPr b="1">
                <a:solidFill>
                  <a:srgbClr val="FFFFFF"/>
                </a:solidFill>
              </a:rPr>
              <a:t>• GET /api/v1/analytics/gis/facilities: </a:t>
            </a:r>
            <a:r>
              <a:rPr>
                <a:solidFill>
                  <a:srgbClr val="94A3B8"/>
                </a:solidFill>
              </a:rPr>
              <a:t>GeoJSON FeatureCollection of 83 coordinates across India.</a:t>
            </a:r>
          </a:p>
          <a:p>
            <a:pPr>
              <a:spcAft>
                <a:spcPts val="250"/>
              </a:spcAft>
              <a:defRPr sz="800">
                <a:latin typeface="Segoe UI"/>
              </a:defRPr>
            </a:pPr>
            <a:r>
              <a:rPr b="1">
                <a:solidFill>
                  <a:srgbClr val="FFFFFF"/>
                </a:solidFill>
              </a:rPr>
              <a:t>• POST /api/v1/forecast: </a:t>
            </a:r>
            <a:r>
              <a:rPr>
                <a:solidFill>
                  <a:srgbClr val="94A3B8"/>
                </a:solidFill>
              </a:rPr>
              <a:t>4-week multi-step demand predictions with XGBoost error bounds.</a:t>
            </a:r>
          </a:p>
          <a:p>
            <a:pPr>
              <a:spcAft>
                <a:spcPts val="250"/>
              </a:spcAft>
              <a:defRPr sz="800">
                <a:latin typeface="Segoe UI"/>
              </a:defRPr>
            </a:pPr>
            <a:r>
              <a:rPr b="1">
                <a:solidFill>
                  <a:srgbClr val="FFFFFF"/>
                </a:solidFill>
              </a:rPr>
              <a:t>• POST /api/v1/risk/predict: </a:t>
            </a:r>
            <a:r>
              <a:rPr>
                <a:solidFill>
                  <a:srgbClr val="94A3B8"/>
                </a:solidFill>
              </a:rPr>
              <a:t>Disruption probability, risk tier, and feature driver importance.</a:t>
            </a:r>
          </a:p>
          <a:p>
            <a:pPr>
              <a:spcAft>
                <a:spcPts val="250"/>
              </a:spcAft>
              <a:defRPr sz="800">
                <a:latin typeface="Segoe UI"/>
              </a:defRPr>
            </a:pPr>
            <a:r>
              <a:rPr b="1">
                <a:solidFill>
                  <a:srgbClr val="FFFFFF"/>
                </a:solidFill>
              </a:rPr>
              <a:t>• POST /api/v1/anomaly/detect: </a:t>
            </a:r>
            <a:r>
              <a:rPr>
                <a:solidFill>
                  <a:srgbClr val="94A3B8"/>
                </a:solidFill>
              </a:rPr>
              <a:t>Isolation Forest transaction scan for volume spikes &amp; late transit.</a:t>
            </a:r>
          </a:p>
          <a:p>
            <a:pPr>
              <a:spcAft>
                <a:spcPts val="250"/>
              </a:spcAft>
              <a:defRPr sz="800">
                <a:latin typeface="Segoe UI"/>
              </a:defRPr>
            </a:pPr>
            <a:r>
              <a:rPr b="1">
                <a:solidFill>
                  <a:srgbClr val="FFFFFF"/>
                </a:solidFill>
              </a:rPr>
              <a:t>• POST /api/v1/impact/analyze: </a:t>
            </a:r>
            <a:r>
              <a:rPr>
                <a:solidFill>
                  <a:srgbClr val="94A3B8"/>
                </a:solidFill>
              </a:rPr>
              <a:t>Graph BFS traversal, runway days, and affected demand zones.</a:t>
            </a:r>
          </a:p>
          <a:p>
            <a:pPr>
              <a:spcAft>
                <a:spcPts val="250"/>
              </a:spcAft>
              <a:defRPr sz="800">
                <a:latin typeface="Segoe UI"/>
              </a:defRPr>
            </a:pPr>
            <a:r>
              <a:rPr b="1">
                <a:solidFill>
                  <a:srgbClr val="FFFFFF"/>
                </a:solidFill>
              </a:rPr>
              <a:t>• POST /api/v1/scenario/simulate: </a:t>
            </a:r>
            <a:r>
              <a:rPr>
                <a:solidFill>
                  <a:srgbClr val="94A3B8"/>
                </a:solidFill>
              </a:rPr>
              <a:t>In-memory state cloning across 5 disruption shock scenarios.</a:t>
            </a:r>
          </a:p>
          <a:p>
            <a:pPr>
              <a:spcAft>
                <a:spcPts val="250"/>
              </a:spcAft>
              <a:defRPr sz="800">
                <a:latin typeface="Segoe UI"/>
              </a:defRPr>
            </a:pPr>
            <a:r>
              <a:rPr b="1">
                <a:solidFill>
                  <a:srgbClr val="FFFFFF"/>
                </a:solidFill>
              </a:rPr>
              <a:t>• POST /api/v1/optimize: </a:t>
            </a:r>
            <a:r>
              <a:rPr>
                <a:solidFill>
                  <a:srgbClr val="94A3B8"/>
                </a:solidFill>
              </a:rPr>
              <a:t>Google OR-Tools multi-echelon LP solve vs baseline heuristic comparison.</a:t>
            </a:r>
          </a:p>
          <a:p>
            <a:pPr>
              <a:spcAft>
                <a:spcPts val="250"/>
              </a:spcAft>
              <a:defRPr sz="800">
                <a:latin typeface="Segoe UI"/>
              </a:defRPr>
            </a:pPr>
            <a:r>
              <a:rPr b="1">
                <a:solidFill>
                  <a:srgbClr val="FFFFFF"/>
                </a:solidFill>
              </a:rPr>
              <a:t>• GET /api/v1/recommendations: </a:t>
            </a:r>
            <a:r>
              <a:rPr>
                <a:solidFill>
                  <a:srgbClr val="94A3B8"/>
                </a:solidFill>
              </a:rPr>
              <a:t>Synthesized plain-language executive directives with LP robustness.</a:t>
            </a:r>
          </a:p>
        </p:txBody>
      </p:sp>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19 of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[ 20 / 23  •  QUALITY ASSURANCE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Testing, Reliability &amp; Verification Suite</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Comprehensive unit, integration, and build verification ensuring rock-solid system stability.</a:t>
            </a:r>
          </a:p>
        </p:txBody>
      </p:sp>
      <p:sp>
        <p:nvSpPr>
          <p:cNvPr id="5" name="Rounded Rectangle 4"/>
          <p:cNvSpPr/>
          <p:nvPr/>
        </p:nvSpPr>
        <p:spPr>
          <a:xfrm>
            <a:off x="731520" y="1645920"/>
            <a:ext cx="5120640" cy="214884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BACKEND TEST SUITE (PYTEST)</a:t>
            </a:r>
          </a:p>
        </p:txBody>
      </p:sp>
      <p:sp>
        <p:nvSpPr>
          <p:cNvPr id="7" name="TextBox 6"/>
          <p:cNvSpPr txBox="1"/>
          <p:nvPr/>
        </p:nvSpPr>
        <p:spPr>
          <a:xfrm>
            <a:off x="896112" y="1993392"/>
            <a:ext cx="4791456" cy="256032"/>
          </a:xfrm>
          <a:prstGeom prst="rect">
            <a:avLst/>
          </a:prstGeom>
          <a:noFill/>
        </p:spPr>
        <p:txBody>
          <a:bodyPr wrap="none">
            <a:spAutoFit/>
          </a:bodyPr>
          <a:lstStyle/>
          <a:p>
            <a:pPr>
              <a:defRPr sz="950" b="1">
                <a:solidFill>
                  <a:srgbClr val="10B981"/>
                </a:solidFill>
                <a:latin typeface="Segoe UI"/>
              </a:defRPr>
            </a:pPr>
            <a:r>
              <a:t>Status: 29 / 29 PASSED (100%)</a:t>
            </a:r>
          </a:p>
        </p:txBody>
      </p:sp>
      <p:sp>
        <p:nvSpPr>
          <p:cNvPr id="8" name="TextBox 7"/>
          <p:cNvSpPr txBox="1"/>
          <p:nvPr/>
        </p:nvSpPr>
        <p:spPr>
          <a:xfrm>
            <a:off x="896112" y="2267712"/>
            <a:ext cx="4791456" cy="1435608"/>
          </a:xfrm>
          <a:prstGeom prst="rect">
            <a:avLst/>
          </a:prstGeom>
          <a:noFill/>
        </p:spPr>
        <p:txBody>
          <a:bodyPr wrap="square">
            <a:spAutoFit/>
          </a:bodyPr>
          <a:lstStyle/>
          <a:p>
            <a:pPr>
              <a:spcAft>
                <a:spcPts val="300"/>
              </a:spcAft>
              <a:defRPr sz="850">
                <a:latin typeface="Segoe UI"/>
              </a:defRPr>
            </a:pPr>
            <a:r>
              <a:rPr b="1">
                <a:solidFill>
                  <a:srgbClr val="FFFFFF"/>
                </a:solidFill>
              </a:rPr>
              <a:t>• Execution Time: </a:t>
            </a:r>
            <a:r>
              <a:rPr>
                <a:solidFill>
                  <a:srgbClr val="94A3B8"/>
                </a:solidFill>
              </a:rPr>
              <a:t>2.66 seconds automated execution.</a:t>
            </a:r>
          </a:p>
          <a:p>
            <a:pPr>
              <a:spcAft>
                <a:spcPts val="300"/>
              </a:spcAft>
              <a:defRPr sz="850">
                <a:latin typeface="Segoe UI"/>
              </a:defRPr>
            </a:pPr>
            <a:r>
              <a:rPr b="1">
                <a:solidFill>
                  <a:srgbClr val="FFFFFF"/>
                </a:solidFill>
              </a:rPr>
              <a:t>• Data Pipeline: </a:t>
            </a:r>
            <a:r>
              <a:rPr>
                <a:solidFill>
                  <a:srgbClr val="94A3B8"/>
                </a:solidFill>
              </a:rPr>
              <a:t>Ingestion schemas, entity count thresholds, type checks.</a:t>
            </a:r>
          </a:p>
          <a:p>
            <a:pPr>
              <a:spcAft>
                <a:spcPts val="300"/>
              </a:spcAft>
              <a:defRPr sz="850">
                <a:latin typeface="Segoe UI"/>
              </a:defRPr>
            </a:pPr>
            <a:r>
              <a:rPr b="1">
                <a:solidFill>
                  <a:srgbClr val="FFFFFF"/>
                </a:solidFill>
              </a:rPr>
              <a:t>• ML Models: </a:t>
            </a:r>
            <a:r>
              <a:rPr>
                <a:solidFill>
                  <a:srgbClr val="94A3B8"/>
                </a:solidFill>
              </a:rPr>
              <a:t>Forecasting lags, chronological splits, risk classification.</a:t>
            </a:r>
          </a:p>
          <a:p>
            <a:pPr>
              <a:spcAft>
                <a:spcPts val="300"/>
              </a:spcAft>
              <a:defRPr sz="850">
                <a:latin typeface="Segoe UI"/>
              </a:defRPr>
            </a:pPr>
            <a:r>
              <a:rPr b="1">
                <a:solidFill>
                  <a:srgbClr val="FFFFFF"/>
                </a:solidFill>
              </a:rPr>
              <a:t>• Graph &amp; Impact: </a:t>
            </a:r>
            <a:r>
              <a:rPr>
                <a:solidFill>
                  <a:srgbClr val="94A3B8"/>
                </a:solidFill>
              </a:rPr>
              <a:t>NetworkX BFS traversal, dependency paths, runway math.</a:t>
            </a:r>
          </a:p>
          <a:p>
            <a:pPr>
              <a:spcAft>
                <a:spcPts val="300"/>
              </a:spcAft>
              <a:defRPr sz="850">
                <a:latin typeface="Segoe UI"/>
              </a:defRPr>
            </a:pPr>
            <a:r>
              <a:rPr b="1">
                <a:solidFill>
                  <a:srgbClr val="FFFFFF"/>
                </a:solidFill>
              </a:rPr>
              <a:t>• Optimization: </a:t>
            </a:r>
            <a:r>
              <a:rPr>
                <a:solidFill>
                  <a:srgbClr val="94A3B8"/>
                </a:solidFill>
              </a:rPr>
              <a:t>OR-Tools linear constraints, conservation of flow, baseline diff.</a:t>
            </a:r>
          </a:p>
          <a:p>
            <a:pPr>
              <a:spcAft>
                <a:spcPts val="300"/>
              </a:spcAft>
              <a:defRPr sz="850">
                <a:latin typeface="Segoe UI"/>
              </a:defRPr>
            </a:pPr>
            <a:r>
              <a:rPr b="1">
                <a:solidFill>
                  <a:srgbClr val="FFFFFF"/>
                </a:solidFill>
              </a:rPr>
              <a:t>• API Endpoints: </a:t>
            </a:r>
            <a:r>
              <a:rPr>
                <a:solidFill>
                  <a:srgbClr val="94A3B8"/>
                </a:solidFill>
              </a:rPr>
              <a:t>FastAPI schema validation and HTTP 200 response codes.</a:t>
            </a:r>
          </a:p>
        </p:txBody>
      </p:sp>
      <p:sp>
        <p:nvSpPr>
          <p:cNvPr id="9" name="Rounded Rectangle 8"/>
          <p:cNvSpPr/>
          <p:nvPr/>
        </p:nvSpPr>
        <p:spPr>
          <a:xfrm>
            <a:off x="6217920" y="1645920"/>
            <a:ext cx="5120640" cy="214884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FRONTEND TEST SUITE (VITEST)</a:t>
            </a:r>
          </a:p>
        </p:txBody>
      </p:sp>
      <p:sp>
        <p:nvSpPr>
          <p:cNvPr id="11" name="TextBox 10"/>
          <p:cNvSpPr txBox="1"/>
          <p:nvPr/>
        </p:nvSpPr>
        <p:spPr>
          <a:xfrm>
            <a:off x="6382512" y="1993392"/>
            <a:ext cx="4791456" cy="256032"/>
          </a:xfrm>
          <a:prstGeom prst="rect">
            <a:avLst/>
          </a:prstGeom>
          <a:noFill/>
        </p:spPr>
        <p:txBody>
          <a:bodyPr wrap="none">
            <a:spAutoFit/>
          </a:bodyPr>
          <a:lstStyle/>
          <a:p>
            <a:pPr>
              <a:defRPr sz="950" b="1">
                <a:solidFill>
                  <a:srgbClr val="10B981"/>
                </a:solidFill>
                <a:latin typeface="Segoe UI"/>
              </a:defRPr>
            </a:pPr>
            <a:r>
              <a:t>Status: 10 / 10 PASSED (100%)</a:t>
            </a:r>
          </a:p>
        </p:txBody>
      </p:sp>
      <p:sp>
        <p:nvSpPr>
          <p:cNvPr id="12" name="TextBox 11"/>
          <p:cNvSpPr txBox="1"/>
          <p:nvPr/>
        </p:nvSpPr>
        <p:spPr>
          <a:xfrm>
            <a:off x="6382512" y="2267712"/>
            <a:ext cx="4791456" cy="1435608"/>
          </a:xfrm>
          <a:prstGeom prst="rect">
            <a:avLst/>
          </a:prstGeom>
          <a:noFill/>
        </p:spPr>
        <p:txBody>
          <a:bodyPr wrap="square">
            <a:spAutoFit/>
          </a:bodyPr>
          <a:lstStyle/>
          <a:p>
            <a:pPr>
              <a:spcAft>
                <a:spcPts val="300"/>
              </a:spcAft>
              <a:defRPr sz="850">
                <a:latin typeface="Segoe UI"/>
              </a:defRPr>
            </a:pPr>
            <a:r>
              <a:rPr b="1">
                <a:solidFill>
                  <a:srgbClr val="FFFFFF"/>
                </a:solidFill>
              </a:rPr>
              <a:t>• Execution Time: </a:t>
            </a:r>
            <a:r>
              <a:rPr>
                <a:solidFill>
                  <a:srgbClr val="94A3B8"/>
                </a:solidFill>
              </a:rPr>
              <a:t>33.85 seconds test suite run.</a:t>
            </a:r>
          </a:p>
          <a:p>
            <a:pPr>
              <a:spcAft>
                <a:spcPts val="300"/>
              </a:spcAft>
              <a:defRPr sz="850">
                <a:latin typeface="Segoe UI"/>
              </a:defRPr>
            </a:pPr>
            <a:r>
              <a:rPr b="1">
                <a:solidFill>
                  <a:srgbClr val="FFFFFF"/>
                </a:solidFill>
              </a:rPr>
              <a:t>• Formatters: </a:t>
            </a:r>
            <a:r>
              <a:rPr>
                <a:solidFill>
                  <a:srgbClr val="94A3B8"/>
                </a:solidFill>
              </a:rPr>
              <a:t>Indian Rupee (Lakh/Crore) formatting, percentage strings.</a:t>
            </a:r>
          </a:p>
          <a:p>
            <a:pPr>
              <a:spcAft>
                <a:spcPts val="300"/>
              </a:spcAft>
              <a:defRPr sz="850">
                <a:latin typeface="Segoe UI"/>
              </a:defRPr>
            </a:pPr>
            <a:r>
              <a:rPr b="1">
                <a:solidFill>
                  <a:srgbClr val="FFFFFF"/>
                </a:solidFill>
              </a:rPr>
              <a:t>• UI Components: </a:t>
            </a:r>
            <a:r>
              <a:rPr>
                <a:solidFill>
                  <a:srgbClr val="94A3B8"/>
                </a:solidFill>
              </a:rPr>
              <a:t>KpiCard, RiskBadge, StatusBadge, WorkflowBreadcrumb.</a:t>
            </a:r>
          </a:p>
          <a:p>
            <a:pPr>
              <a:spcAft>
                <a:spcPts val="300"/>
              </a:spcAft>
              <a:defRPr sz="850">
                <a:latin typeface="Segoe UI"/>
              </a:defRPr>
            </a:pPr>
            <a:r>
              <a:rPr b="1">
                <a:solidFill>
                  <a:srgbClr val="FFFFFF"/>
                </a:solidFill>
              </a:rPr>
              <a:t>• Feedback States: </a:t>
            </a:r>
            <a:r>
              <a:rPr>
                <a:solidFill>
                  <a:srgbClr val="94A3B8"/>
                </a:solidFill>
              </a:rPr>
              <a:t>Empty states, error alerts, loading skeleton screens.</a:t>
            </a:r>
          </a:p>
        </p:txBody>
      </p:sp>
      <p:sp>
        <p:nvSpPr>
          <p:cNvPr id="13" name="Rounded Rectangle 12"/>
          <p:cNvSpPr/>
          <p:nvPr/>
        </p:nvSpPr>
        <p:spPr>
          <a:xfrm>
            <a:off x="731520" y="4069080"/>
            <a:ext cx="5120640" cy="214884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178808"/>
            <a:ext cx="4791456" cy="292608"/>
          </a:xfrm>
          <a:prstGeom prst="rect">
            <a:avLst/>
          </a:prstGeom>
          <a:noFill/>
        </p:spPr>
        <p:txBody>
          <a:bodyPr wrap="square" lIns="0" tIns="0" rIns="0" bIns="0">
            <a:spAutoFit/>
          </a:bodyPr>
          <a:lstStyle/>
          <a:p>
            <a:pPr>
              <a:defRPr sz="1100" b="1">
                <a:solidFill>
                  <a:srgbClr val="38BDF8"/>
                </a:solidFill>
                <a:latin typeface="Segoe UI"/>
              </a:defRPr>
            </a:pPr>
            <a:r>
              <a:t>PRODUCTION BUILD QUALITY</a:t>
            </a:r>
          </a:p>
        </p:txBody>
      </p:sp>
      <p:sp>
        <p:nvSpPr>
          <p:cNvPr id="15" name="TextBox 14"/>
          <p:cNvSpPr txBox="1"/>
          <p:nvPr/>
        </p:nvSpPr>
        <p:spPr>
          <a:xfrm>
            <a:off x="896112" y="4416552"/>
            <a:ext cx="4791456" cy="256032"/>
          </a:xfrm>
          <a:prstGeom prst="rect">
            <a:avLst/>
          </a:prstGeom>
          <a:noFill/>
        </p:spPr>
        <p:txBody>
          <a:bodyPr wrap="none">
            <a:spAutoFit/>
          </a:bodyPr>
          <a:lstStyle/>
          <a:p>
            <a:pPr>
              <a:defRPr sz="950" b="1">
                <a:solidFill>
                  <a:srgbClr val="38BDF8"/>
                </a:solidFill>
                <a:latin typeface="Segoe UI"/>
              </a:defRPr>
            </a:pPr>
            <a:r>
              <a:t>Status: 0 COMPILATION ERRORS</a:t>
            </a:r>
          </a:p>
        </p:txBody>
      </p:sp>
      <p:sp>
        <p:nvSpPr>
          <p:cNvPr id="16" name="TextBox 15"/>
          <p:cNvSpPr txBox="1"/>
          <p:nvPr/>
        </p:nvSpPr>
        <p:spPr>
          <a:xfrm>
            <a:off x="896112" y="4690872"/>
            <a:ext cx="4791456" cy="1435608"/>
          </a:xfrm>
          <a:prstGeom prst="rect">
            <a:avLst/>
          </a:prstGeom>
          <a:noFill/>
        </p:spPr>
        <p:txBody>
          <a:bodyPr wrap="square">
            <a:spAutoFit/>
          </a:bodyPr>
          <a:lstStyle/>
          <a:p>
            <a:pPr>
              <a:spcAft>
                <a:spcPts val="300"/>
              </a:spcAft>
              <a:defRPr sz="850">
                <a:latin typeface="Segoe UI"/>
              </a:defRPr>
            </a:pPr>
            <a:r>
              <a:rPr b="1">
                <a:solidFill>
                  <a:srgbClr val="FFFFFF"/>
                </a:solidFill>
              </a:rPr>
              <a:t>• TypeScript Compiler: </a:t>
            </a:r>
            <a:r>
              <a:rPr>
                <a:solidFill>
                  <a:srgbClr val="94A3B8"/>
                </a:solidFill>
              </a:rPr>
              <a:t>tsc -b passed with zero type errors.</a:t>
            </a:r>
          </a:p>
          <a:p>
            <a:pPr>
              <a:spcAft>
                <a:spcPts val="300"/>
              </a:spcAft>
              <a:defRPr sz="850">
                <a:latin typeface="Segoe UI"/>
              </a:defRPr>
            </a:pPr>
            <a:r>
              <a:rPr b="1">
                <a:solidFill>
                  <a:srgbClr val="FFFFFF"/>
                </a:solidFill>
              </a:rPr>
              <a:t>• Vite Bundler: </a:t>
            </a:r>
            <a:r>
              <a:rPr>
                <a:solidFill>
                  <a:srgbClr val="94A3B8"/>
                </a:solidFill>
              </a:rPr>
              <a:t>Vite 8.3 production build succeeded in 9.5 seconds.</a:t>
            </a:r>
          </a:p>
          <a:p>
            <a:pPr>
              <a:spcAft>
                <a:spcPts val="300"/>
              </a:spcAft>
              <a:defRPr sz="850">
                <a:latin typeface="Segoe UI"/>
              </a:defRPr>
            </a:pPr>
            <a:r>
              <a:rPr b="1">
                <a:solidFill>
                  <a:srgbClr val="FFFFFF"/>
                </a:solidFill>
              </a:rPr>
              <a:t>• Code Splitting: </a:t>
            </a:r>
            <a:r>
              <a:rPr>
                <a:solidFill>
                  <a:srgbClr val="94A3B8"/>
                </a:solidFill>
              </a:rPr>
              <a:t>React.lazy dynamic chunking across all 8 routes.</a:t>
            </a:r>
          </a:p>
          <a:p>
            <a:pPr>
              <a:spcAft>
                <a:spcPts val="300"/>
              </a:spcAft>
              <a:defRPr sz="850">
                <a:latin typeface="Segoe UI"/>
              </a:defRPr>
            </a:pPr>
            <a:r>
              <a:rPr b="1">
                <a:solidFill>
                  <a:srgbClr val="FFFFFF"/>
                </a:solidFill>
              </a:rPr>
              <a:t>• Initial Chunk: </a:t>
            </a:r>
            <a:r>
              <a:rPr>
                <a:solidFill>
                  <a:srgbClr val="94A3B8"/>
                </a:solidFill>
              </a:rPr>
              <a:t>365 kB lightweight bundle (117 kB gzip).</a:t>
            </a:r>
          </a:p>
        </p:txBody>
      </p:sp>
      <p:sp>
        <p:nvSpPr>
          <p:cNvPr id="17" name="Rounded Rectangle 16"/>
          <p:cNvSpPr/>
          <p:nvPr/>
        </p:nvSpPr>
        <p:spPr>
          <a:xfrm>
            <a:off x="6217920" y="4069080"/>
            <a:ext cx="5120640" cy="214884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178808"/>
            <a:ext cx="4791456" cy="292608"/>
          </a:xfrm>
          <a:prstGeom prst="rect">
            <a:avLst/>
          </a:prstGeom>
          <a:noFill/>
        </p:spPr>
        <p:txBody>
          <a:bodyPr wrap="square" lIns="0" tIns="0" rIns="0" bIns="0">
            <a:spAutoFit/>
          </a:bodyPr>
          <a:lstStyle/>
          <a:p>
            <a:pPr>
              <a:defRPr sz="1100" b="1">
                <a:solidFill>
                  <a:srgbClr val="38BDF8"/>
                </a:solidFill>
                <a:latin typeface="Segoe UI"/>
              </a:defRPr>
            </a:pPr>
            <a:r>
              <a:t>DATA CREDIBILITY GUARANTEE</a:t>
            </a:r>
          </a:p>
        </p:txBody>
      </p:sp>
      <p:sp>
        <p:nvSpPr>
          <p:cNvPr id="19" name="TextBox 18"/>
          <p:cNvSpPr txBox="1"/>
          <p:nvPr/>
        </p:nvSpPr>
        <p:spPr>
          <a:xfrm>
            <a:off x="6382512" y="4416552"/>
            <a:ext cx="4791456" cy="256032"/>
          </a:xfrm>
          <a:prstGeom prst="rect">
            <a:avLst/>
          </a:prstGeom>
          <a:noFill/>
        </p:spPr>
        <p:txBody>
          <a:bodyPr wrap="none">
            <a:spAutoFit/>
          </a:bodyPr>
          <a:lstStyle/>
          <a:p>
            <a:pPr>
              <a:defRPr sz="950" b="1">
                <a:solidFill>
                  <a:srgbClr val="F59E0B"/>
                </a:solidFill>
                <a:latin typeface="Segoe UI"/>
              </a:defRPr>
            </a:pPr>
            <a:r>
              <a:t>Status: ZERO MOCK FALLBACKS</a:t>
            </a:r>
          </a:p>
        </p:txBody>
      </p:sp>
      <p:sp>
        <p:nvSpPr>
          <p:cNvPr id="20" name="TextBox 19"/>
          <p:cNvSpPr txBox="1"/>
          <p:nvPr/>
        </p:nvSpPr>
        <p:spPr>
          <a:xfrm>
            <a:off x="6382512" y="4690872"/>
            <a:ext cx="4791456" cy="1435608"/>
          </a:xfrm>
          <a:prstGeom prst="rect">
            <a:avLst/>
          </a:prstGeom>
          <a:noFill/>
        </p:spPr>
        <p:txBody>
          <a:bodyPr wrap="square">
            <a:spAutoFit/>
          </a:bodyPr>
          <a:lstStyle/>
          <a:p>
            <a:pPr>
              <a:spcAft>
                <a:spcPts val="300"/>
              </a:spcAft>
              <a:defRPr sz="850">
                <a:latin typeface="Segoe UI"/>
              </a:defRPr>
            </a:pPr>
            <a:r>
              <a:rPr b="1">
                <a:solidFill>
                  <a:srgbClr val="FFFFFF"/>
                </a:solidFill>
              </a:rPr>
              <a:t>• No Silent Mocks: </a:t>
            </a:r>
            <a:r>
              <a:rPr>
                <a:solidFill>
                  <a:srgbClr val="94A3B8"/>
                </a:solidFill>
              </a:rPr>
              <a:t>Frontend is hardwired directly to FastAPI backend.</a:t>
            </a:r>
          </a:p>
          <a:p>
            <a:pPr>
              <a:spcAft>
                <a:spcPts val="300"/>
              </a:spcAft>
              <a:defRPr sz="850">
                <a:latin typeface="Segoe UI"/>
              </a:defRPr>
            </a:pPr>
            <a:r>
              <a:rPr b="1">
                <a:solidFill>
                  <a:srgbClr val="FFFFFF"/>
                </a:solidFill>
              </a:rPr>
              <a:t>• Traceable KPIs: </a:t>
            </a:r>
            <a:r>
              <a:rPr>
                <a:solidFill>
                  <a:srgbClr val="94A3B8"/>
                </a:solidFill>
              </a:rPr>
              <a:t>Every metric displayed traces to authenticated SQL or ML output.</a:t>
            </a:r>
          </a:p>
          <a:p>
            <a:pPr>
              <a:spcAft>
                <a:spcPts val="300"/>
              </a:spcAft>
              <a:defRPr sz="850">
                <a:latin typeface="Segoe UI"/>
              </a:defRPr>
            </a:pPr>
            <a:r>
              <a:rPr b="1">
                <a:solidFill>
                  <a:srgbClr val="FFFFFF"/>
                </a:solidFill>
              </a:rPr>
              <a:t>• Reproducibility: </a:t>
            </a:r>
            <a:r>
              <a:rPr>
                <a:solidFill>
                  <a:srgbClr val="94A3B8"/>
                </a:solidFill>
              </a:rPr>
              <a:t>Fixed random seeds (seed=42) ensure exact experimental recreation.</a:t>
            </a:r>
          </a:p>
        </p:txBody>
      </p:sp>
      <p:sp>
        <p:nvSpPr>
          <p:cNvPr id="21" name="TextBox 20"/>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20 of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[ 21 / 23  •  ACADEMIC INTEGRITY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What NEXUS Does — and Does Not — Claim</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Maintaining scientific honesty by clearly differentiating verified implementations from future enterprise requirements.</a:t>
            </a:r>
          </a:p>
        </p:txBody>
      </p:sp>
      <p:sp>
        <p:nvSpPr>
          <p:cNvPr id="5" name="Rounded Rectangle 4"/>
          <p:cNvSpPr/>
          <p:nvPr/>
        </p:nvSpPr>
        <p:spPr>
          <a:xfrm>
            <a:off x="731520" y="1645920"/>
            <a:ext cx="5120640" cy="448056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CURRENTLY IMPLEMENTED &amp; VERIFIED</a:t>
            </a:r>
          </a:p>
        </p:txBody>
      </p:sp>
      <p:sp>
        <p:nvSpPr>
          <p:cNvPr id="7" name="TextBox 6"/>
          <p:cNvSpPr txBox="1"/>
          <p:nvPr/>
        </p:nvSpPr>
        <p:spPr>
          <a:xfrm>
            <a:off x="914400" y="2011680"/>
            <a:ext cx="4754880" cy="3931920"/>
          </a:xfrm>
          <a:prstGeom prst="rect">
            <a:avLst/>
          </a:prstGeom>
          <a:noFill/>
        </p:spPr>
        <p:txBody>
          <a:bodyPr wrap="square">
            <a:spAutoFit/>
          </a:bodyPr>
          <a:lstStyle/>
          <a:p>
            <a:pPr>
              <a:spcAft>
                <a:spcPts val="450"/>
              </a:spcAft>
              <a:defRPr sz="850">
                <a:latin typeface="Segoe UI"/>
              </a:defRPr>
            </a:pPr>
            <a:r>
              <a:rPr b="1">
                <a:solidFill>
                  <a:srgbClr val="FFFFFF"/>
                </a:solidFill>
              </a:rPr>
              <a:t>• Empirical Public Datasets: </a:t>
            </a:r>
            <a:r>
              <a:rPr>
                <a:solidFill>
                  <a:srgbClr val="94A3B8"/>
                </a:solidFill>
              </a:rPr>
              <a:t>Grounded in Walmart 421k weekly sales records and DataCo 35k shipment logs.</a:t>
            </a:r>
          </a:p>
          <a:p>
            <a:pPr>
              <a:spcAft>
                <a:spcPts val="450"/>
              </a:spcAft>
              <a:defRPr sz="850">
                <a:latin typeface="Segoe UI"/>
              </a:defRPr>
            </a:pPr>
            <a:r>
              <a:rPr b="1">
                <a:solidFill>
                  <a:srgbClr val="FFFFFF"/>
                </a:solidFill>
              </a:rPr>
              <a:t>• Calibrated Digital Twin: </a:t>
            </a:r>
            <a:r>
              <a:rPr>
                <a:solidFill>
                  <a:srgbClr val="94A3B8"/>
                </a:solidFill>
              </a:rPr>
              <a:t>83 facilities and 160 corridors modeled on Indian national logistics geography.</a:t>
            </a:r>
          </a:p>
          <a:p>
            <a:pPr>
              <a:spcAft>
                <a:spcPts val="450"/>
              </a:spcAft>
              <a:defRPr sz="850">
                <a:latin typeface="Segoe UI"/>
              </a:defRPr>
            </a:pPr>
            <a:r>
              <a:rPr b="1">
                <a:solidFill>
                  <a:srgbClr val="FFFFFF"/>
                </a:solidFill>
              </a:rPr>
              <a:t>• Supervised ML Models: </a:t>
            </a:r>
            <a:r>
              <a:rPr>
                <a:solidFill>
                  <a:srgbClr val="94A3B8"/>
                </a:solidFill>
              </a:rPr>
              <a:t>Out-of-sample evaluated XGBoost Regressor (demand) and XGBoost Classifier (vendor risk).</a:t>
            </a:r>
          </a:p>
          <a:p>
            <a:pPr>
              <a:spcAft>
                <a:spcPts val="450"/>
              </a:spcAft>
              <a:defRPr sz="850">
                <a:latin typeface="Segoe UI"/>
              </a:defRPr>
            </a:pPr>
            <a:r>
              <a:rPr b="1">
                <a:solidFill>
                  <a:srgbClr val="FFFFFF"/>
                </a:solidFill>
              </a:rPr>
              <a:t>• Unsupervised Anomaly Detection: </a:t>
            </a:r>
            <a:r>
              <a:rPr>
                <a:solidFill>
                  <a:srgbClr val="94A3B8"/>
                </a:solidFill>
              </a:rPr>
              <a:t>Isolation Forest continuously flagging order volume surges and transit outliers.</a:t>
            </a:r>
          </a:p>
          <a:p>
            <a:pPr>
              <a:spcAft>
                <a:spcPts val="450"/>
              </a:spcAft>
              <a:defRPr sz="850">
                <a:latin typeface="Segoe UI"/>
              </a:defRPr>
            </a:pPr>
            <a:r>
              <a:rPr b="1">
                <a:solidFill>
                  <a:srgbClr val="FFFFFF"/>
                </a:solidFill>
              </a:rPr>
              <a:t>• Graph-Based Impact Propagation: </a:t>
            </a:r>
            <a:r>
              <a:rPr>
                <a:solidFill>
                  <a:srgbClr val="94A3B8"/>
                </a:solidFill>
              </a:rPr>
              <a:t>NetworkX directed graph BFS traversal and stock runway calculus.</a:t>
            </a:r>
          </a:p>
          <a:p>
            <a:pPr>
              <a:spcAft>
                <a:spcPts val="450"/>
              </a:spcAft>
              <a:defRPr sz="850">
                <a:latin typeface="Segoe UI"/>
              </a:defRPr>
            </a:pPr>
            <a:r>
              <a:rPr b="1">
                <a:solidFill>
                  <a:srgbClr val="FFFFFF"/>
                </a:solidFill>
              </a:rPr>
              <a:t>• In-Memory Scenario Simulation: </a:t>
            </a:r>
            <a:r>
              <a:rPr>
                <a:solidFill>
                  <a:srgbClr val="94A3B8"/>
                </a:solidFill>
              </a:rPr>
              <a:t>Copy-on-write state cloning supporting 5 distinct parameterized disruption modes.</a:t>
            </a:r>
          </a:p>
          <a:p>
            <a:pPr>
              <a:spcAft>
                <a:spcPts val="450"/>
              </a:spcAft>
              <a:defRPr sz="850">
                <a:latin typeface="Segoe UI"/>
              </a:defRPr>
            </a:pPr>
            <a:r>
              <a:rPr b="1">
                <a:solidFill>
                  <a:srgbClr val="FFFFFF"/>
                </a:solidFill>
              </a:rPr>
              <a:t>• Operations Research: </a:t>
            </a:r>
            <a:r>
              <a:rPr>
                <a:solidFill>
                  <a:srgbClr val="94A3B8"/>
                </a:solidFill>
              </a:rPr>
              <a:t>Google OR-Tools multi-echelon linear program (GLOP) minimizing cost and SLA penalties.</a:t>
            </a:r>
          </a:p>
          <a:p>
            <a:pPr>
              <a:spcAft>
                <a:spcPts val="450"/>
              </a:spcAft>
              <a:defRPr sz="850">
                <a:latin typeface="Segoe UI"/>
              </a:defRPr>
            </a:pPr>
            <a:r>
              <a:rPr b="1">
                <a:solidFill>
                  <a:srgbClr val="FFFFFF"/>
                </a:solidFill>
              </a:rPr>
              <a:t>• Executive Control Room: </a:t>
            </a:r>
            <a:r>
              <a:rPr>
                <a:solidFill>
                  <a:srgbClr val="94A3B8"/>
                </a:solidFill>
              </a:rPr>
              <a:t>8 production React 19 screens with Leaflet GIS mapping and Recharts telemetry.</a:t>
            </a:r>
          </a:p>
        </p:txBody>
      </p:sp>
      <p:sp>
        <p:nvSpPr>
          <p:cNvPr id="8" name="Rounded Rectangle 7"/>
          <p:cNvSpPr/>
          <p:nvPr/>
        </p:nvSpPr>
        <p:spPr>
          <a:xfrm>
            <a:off x="6217920" y="1645920"/>
            <a:ext cx="5242255" cy="448056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755648"/>
            <a:ext cx="4913071" cy="292608"/>
          </a:xfrm>
          <a:prstGeom prst="rect">
            <a:avLst/>
          </a:prstGeom>
          <a:noFill/>
        </p:spPr>
        <p:txBody>
          <a:bodyPr wrap="square" lIns="0" tIns="0" rIns="0" bIns="0">
            <a:spAutoFit/>
          </a:bodyPr>
          <a:lstStyle/>
          <a:p>
            <a:pPr>
              <a:defRPr sz="1100" b="1">
                <a:solidFill>
                  <a:srgbClr val="38BDF8"/>
                </a:solidFill>
                <a:latin typeface="Segoe UI"/>
              </a:defRPr>
            </a:pPr>
            <a:r>
              <a:t>NOT CLAIMED AS LIVE (ACADEMIC BOUNDARIES)</a:t>
            </a:r>
          </a:p>
        </p:txBody>
      </p:sp>
      <p:sp>
        <p:nvSpPr>
          <p:cNvPr id="10" name="TextBox 9"/>
          <p:cNvSpPr txBox="1"/>
          <p:nvPr/>
        </p:nvSpPr>
        <p:spPr>
          <a:xfrm>
            <a:off x="6400800" y="2011680"/>
            <a:ext cx="4876495" cy="3931920"/>
          </a:xfrm>
          <a:prstGeom prst="rect">
            <a:avLst/>
          </a:prstGeom>
          <a:noFill/>
        </p:spPr>
        <p:txBody>
          <a:bodyPr wrap="square">
            <a:spAutoFit/>
          </a:bodyPr>
          <a:lstStyle/>
          <a:p>
            <a:pPr>
              <a:spcAft>
                <a:spcPts val="600"/>
              </a:spcAft>
              <a:defRPr sz="850">
                <a:latin typeface="Segoe UI"/>
              </a:defRPr>
            </a:pPr>
            <a:r>
              <a:rPr b="1">
                <a:solidFill>
                  <a:srgbClr val="FFFFFF"/>
                </a:solidFill>
              </a:rPr>
              <a:t>• No Live ERP/WMS Integration: </a:t>
            </a:r>
            <a:r>
              <a:rPr>
                <a:solidFill>
                  <a:srgbClr val="94A3B8"/>
                </a:solidFill>
              </a:rPr>
              <a:t>Strategy dispatch simulates enterprise handoff; no live connection to SAP S/4HANA or Oracle.</a:t>
            </a:r>
          </a:p>
          <a:p>
            <a:pPr>
              <a:spcAft>
                <a:spcPts val="600"/>
              </a:spcAft>
              <a:defRPr sz="850">
                <a:latin typeface="Segoe UI"/>
              </a:defRPr>
            </a:pPr>
            <a:r>
              <a:rPr b="1">
                <a:solidFill>
                  <a:srgbClr val="FFFFFF"/>
                </a:solidFill>
              </a:rPr>
              <a:t>• No Live GPS / IoT Feeds: </a:t>
            </a:r>
            <a:r>
              <a:rPr>
                <a:solidFill>
                  <a:srgbClr val="94A3B8"/>
                </a:solidFill>
              </a:rPr>
              <a:t>Transit variability is derived from empirical DataCo distributions rather than physical telematics sensors.</a:t>
            </a:r>
          </a:p>
          <a:p>
            <a:pPr>
              <a:spcAft>
                <a:spcPts val="600"/>
              </a:spcAft>
              <a:defRPr sz="850">
                <a:latin typeface="Segoe UI"/>
              </a:defRPr>
            </a:pPr>
            <a:r>
              <a:rPr b="1">
                <a:solidFill>
                  <a:srgbClr val="FFFFFF"/>
                </a:solidFill>
              </a:rPr>
              <a:t>• Synthetic Enterprise Topology: </a:t>
            </a:r>
            <a:r>
              <a:rPr>
                <a:solidFill>
                  <a:srgbClr val="94A3B8"/>
                </a:solidFill>
              </a:rPr>
              <a:t>Facility operations represent calibrated digital twin models, not proprietary corporate records.</a:t>
            </a:r>
          </a:p>
          <a:p>
            <a:pPr>
              <a:spcAft>
                <a:spcPts val="600"/>
              </a:spcAft>
              <a:defRPr sz="850">
                <a:latin typeface="Segoe UI"/>
              </a:defRPr>
            </a:pPr>
            <a:r>
              <a:rPr b="1">
                <a:solidFill>
                  <a:srgbClr val="FFFFFF"/>
                </a:solidFill>
              </a:rPr>
              <a:t>• Continuous LP Relaxation: </a:t>
            </a:r>
            <a:r>
              <a:rPr>
                <a:solidFill>
                  <a:srgbClr val="94A3B8"/>
                </a:solidFill>
              </a:rPr>
              <a:t>OR-Tools solver uses linear programming (continuous flow) rather than integer pallet constraints (MILP/VRP).</a:t>
            </a:r>
          </a:p>
          <a:p>
            <a:pPr>
              <a:spcAft>
                <a:spcPts val="600"/>
              </a:spcAft>
              <a:defRPr sz="850">
                <a:latin typeface="Segoe UI"/>
              </a:defRPr>
            </a:pPr>
            <a:r>
              <a:rPr b="1">
                <a:solidFill>
                  <a:srgbClr val="FFFFFF"/>
                </a:solidFill>
              </a:rPr>
              <a:t>• Database Architecture: </a:t>
            </a:r>
            <a:r>
              <a:rPr>
                <a:solidFill>
                  <a:srgbClr val="94A3B8"/>
                </a:solidFill>
              </a:rPr>
              <a:t>Default SQLite database is optimized for standalone evaluation and viva demonstration (PostgreSQL DDL ready).</a:t>
            </a:r>
          </a:p>
        </p:txBody>
      </p:sp>
      <p:sp>
        <p:nvSpPr>
          <p:cNvPr id="11" name="TextBox 10"/>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21 of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[ 22 / 23  •  PROJECT ROADMAP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From Prototype to Enterprise Decision Platform</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A structured engineering roadmap for advancing NEXUS into an industrial-scale deployment.</a:t>
            </a:r>
          </a:p>
        </p:txBody>
      </p:sp>
      <p:sp>
        <p:nvSpPr>
          <p:cNvPr id="5" name="Rounded Rectangle 4"/>
          <p:cNvSpPr/>
          <p:nvPr/>
        </p:nvSpPr>
        <p:spPr>
          <a:xfrm>
            <a:off x="731520" y="1645920"/>
            <a:ext cx="5120640" cy="1371600"/>
          </a:xfrm>
          <a:prstGeom prst="roundRect">
            <a:avLst/>
          </a:prstGeom>
          <a:solidFill>
            <a:srgbClr val="111D4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Phase 1: Academic Prototype [COMPLETE]</a:t>
            </a:r>
          </a:p>
        </p:txBody>
      </p:sp>
      <p:sp>
        <p:nvSpPr>
          <p:cNvPr id="7" name="TextBox 6"/>
          <p:cNvSpPr txBox="1"/>
          <p:nvPr/>
        </p:nvSpPr>
        <p:spPr>
          <a:xfrm>
            <a:off x="896112" y="2084832"/>
            <a:ext cx="4791456" cy="868680"/>
          </a:xfrm>
          <a:prstGeom prst="rect">
            <a:avLst/>
          </a:prstGeom>
          <a:noFill/>
        </p:spPr>
        <p:txBody>
          <a:bodyPr wrap="square">
            <a:spAutoFit/>
          </a:bodyPr>
          <a:lstStyle/>
          <a:p>
            <a:pPr>
              <a:defRPr sz="850">
                <a:solidFill>
                  <a:srgbClr val="94A3B8"/>
                </a:solidFill>
                <a:latin typeface="Segoe UI"/>
              </a:defRPr>
            </a:pPr>
            <a:r>
              <a:t>Integrated ML, graph cascade, in-memory simulation, Google OR-Tools LP, and React control room.</a:t>
            </a:r>
          </a:p>
        </p:txBody>
      </p:sp>
      <p:sp>
        <p:nvSpPr>
          <p:cNvPr id="8" name="Rounded Rectangle 7"/>
          <p:cNvSpPr/>
          <p:nvPr/>
        </p:nvSpPr>
        <p:spPr>
          <a:xfrm>
            <a:off x="731520" y="3200400"/>
            <a:ext cx="5120640" cy="137160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310128"/>
            <a:ext cx="4791456" cy="292608"/>
          </a:xfrm>
          <a:prstGeom prst="rect">
            <a:avLst/>
          </a:prstGeom>
          <a:noFill/>
        </p:spPr>
        <p:txBody>
          <a:bodyPr wrap="square" lIns="0" tIns="0" rIns="0" bIns="0">
            <a:spAutoFit/>
          </a:bodyPr>
          <a:lstStyle/>
          <a:p>
            <a:pPr>
              <a:defRPr sz="1100" b="1">
                <a:solidFill>
                  <a:srgbClr val="38BDF8"/>
                </a:solidFill>
                <a:latin typeface="Segoe UI"/>
              </a:defRPr>
            </a:pPr>
            <a:r>
              <a:t>Phase 2: Live ERP/WMS Connectors</a:t>
            </a:r>
          </a:p>
        </p:txBody>
      </p:sp>
      <p:sp>
        <p:nvSpPr>
          <p:cNvPr id="10" name="TextBox 9"/>
          <p:cNvSpPr txBox="1"/>
          <p:nvPr/>
        </p:nvSpPr>
        <p:spPr>
          <a:xfrm>
            <a:off x="896112" y="3639312"/>
            <a:ext cx="4791456" cy="868680"/>
          </a:xfrm>
          <a:prstGeom prst="rect">
            <a:avLst/>
          </a:prstGeom>
          <a:noFill/>
        </p:spPr>
        <p:txBody>
          <a:bodyPr wrap="square">
            <a:spAutoFit/>
          </a:bodyPr>
          <a:lstStyle/>
          <a:p>
            <a:pPr>
              <a:defRPr sz="850">
                <a:solidFill>
                  <a:srgbClr val="94A3B8"/>
                </a:solidFill>
                <a:latin typeface="Segoe UI"/>
              </a:defRPr>
            </a:pPr>
            <a:r>
              <a:t>Standardized REST, RFC, and OData connectors for SAP S/4HANA, Oracle NetSuite, and Microsoft Dynamics.</a:t>
            </a:r>
          </a:p>
        </p:txBody>
      </p:sp>
      <p:sp>
        <p:nvSpPr>
          <p:cNvPr id="11" name="Rounded Rectangle 10"/>
          <p:cNvSpPr/>
          <p:nvPr/>
        </p:nvSpPr>
        <p:spPr>
          <a:xfrm>
            <a:off x="731520" y="4754880"/>
            <a:ext cx="5120640" cy="1371600"/>
          </a:xfrm>
          <a:prstGeom prst="roundRect">
            <a:avLst/>
          </a:prstGeom>
          <a:solidFill>
            <a:srgbClr val="111D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864608"/>
            <a:ext cx="4791456" cy="292608"/>
          </a:xfrm>
          <a:prstGeom prst="rect">
            <a:avLst/>
          </a:prstGeom>
          <a:noFill/>
        </p:spPr>
        <p:txBody>
          <a:bodyPr wrap="square" lIns="0" tIns="0" rIns="0" bIns="0">
            <a:spAutoFit/>
          </a:bodyPr>
          <a:lstStyle/>
          <a:p>
            <a:pPr>
              <a:defRPr sz="1100" b="1">
                <a:solidFill>
                  <a:srgbClr val="38BDF8"/>
                </a:solidFill>
                <a:latin typeface="Segoe UI"/>
              </a:defRPr>
            </a:pPr>
            <a:r>
              <a:t>Phase 3: IoT &amp; Telematics Streaming</a:t>
            </a:r>
          </a:p>
        </p:txBody>
      </p:sp>
      <p:sp>
        <p:nvSpPr>
          <p:cNvPr id="13" name="TextBox 12"/>
          <p:cNvSpPr txBox="1"/>
          <p:nvPr/>
        </p:nvSpPr>
        <p:spPr>
          <a:xfrm>
            <a:off x="896112" y="5193792"/>
            <a:ext cx="4791456" cy="868680"/>
          </a:xfrm>
          <a:prstGeom prst="rect">
            <a:avLst/>
          </a:prstGeom>
          <a:noFill/>
        </p:spPr>
        <p:txBody>
          <a:bodyPr wrap="square">
            <a:spAutoFit/>
          </a:bodyPr>
          <a:lstStyle/>
          <a:p>
            <a:pPr>
              <a:defRPr sz="850">
                <a:solidFill>
                  <a:srgbClr val="94A3B8"/>
                </a:solidFill>
                <a:latin typeface="Segoe UI"/>
              </a:defRPr>
            </a:pPr>
            <a:r>
              <a:t>Apache Kafka and MQTT pipelines ingesting real-time GPS container tracking and cold-chain temperature telemetry.</a:t>
            </a:r>
          </a:p>
        </p:txBody>
      </p:sp>
      <p:sp>
        <p:nvSpPr>
          <p:cNvPr id="14" name="Rounded Rectangle 13"/>
          <p:cNvSpPr/>
          <p:nvPr/>
        </p:nvSpPr>
        <p:spPr>
          <a:xfrm>
            <a:off x="6217920" y="1645920"/>
            <a:ext cx="5120640" cy="1371600"/>
          </a:xfrm>
          <a:prstGeom prst="roundRect">
            <a:avLst/>
          </a:prstGeom>
          <a:solidFill>
            <a:srgbClr val="111D4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755648"/>
            <a:ext cx="4791456" cy="292608"/>
          </a:xfrm>
          <a:prstGeom prst="rect">
            <a:avLst/>
          </a:prstGeom>
          <a:noFill/>
        </p:spPr>
        <p:txBody>
          <a:bodyPr wrap="square" lIns="0" tIns="0" rIns="0" bIns="0">
            <a:spAutoFit/>
          </a:bodyPr>
          <a:lstStyle/>
          <a:p>
            <a:pPr>
              <a:defRPr sz="1100" b="1">
                <a:solidFill>
                  <a:srgbClr val="38BDF8"/>
                </a:solidFill>
                <a:latin typeface="Segoe UI"/>
              </a:defRPr>
            </a:pPr>
            <a:r>
              <a:t>Phase 4: Mixed-Integer &amp; Stochastic Optimization</a:t>
            </a:r>
          </a:p>
        </p:txBody>
      </p:sp>
      <p:sp>
        <p:nvSpPr>
          <p:cNvPr id="16" name="TextBox 15"/>
          <p:cNvSpPr txBox="1"/>
          <p:nvPr/>
        </p:nvSpPr>
        <p:spPr>
          <a:xfrm>
            <a:off x="6382512" y="2084832"/>
            <a:ext cx="4791456" cy="868680"/>
          </a:xfrm>
          <a:prstGeom prst="rect">
            <a:avLst/>
          </a:prstGeom>
          <a:noFill/>
        </p:spPr>
        <p:txBody>
          <a:bodyPr wrap="square">
            <a:spAutoFit/>
          </a:bodyPr>
          <a:lstStyle/>
          <a:p>
            <a:pPr>
              <a:defRPr sz="850">
                <a:solidFill>
                  <a:srgbClr val="94A3B8"/>
                </a:solidFill>
                <a:latin typeface="Segoe UI"/>
              </a:defRPr>
            </a:pPr>
            <a:r>
              <a:t>Transitioning from continuous LP to Mixed-Integer Linear Programming (MILP) with discrete pallet packing and vehicle routing.</a:t>
            </a:r>
          </a:p>
        </p:txBody>
      </p:sp>
      <p:sp>
        <p:nvSpPr>
          <p:cNvPr id="17" name="Rounded Rectangle 16"/>
          <p:cNvSpPr/>
          <p:nvPr/>
        </p:nvSpPr>
        <p:spPr>
          <a:xfrm>
            <a:off x="6217920" y="3200400"/>
            <a:ext cx="5120640" cy="1371600"/>
          </a:xfrm>
          <a:prstGeom prst="roundRect">
            <a:avLst/>
          </a:prstGeom>
          <a:solidFill>
            <a:srgbClr val="111D4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3310128"/>
            <a:ext cx="4791456" cy="292608"/>
          </a:xfrm>
          <a:prstGeom prst="rect">
            <a:avLst/>
          </a:prstGeom>
          <a:noFill/>
        </p:spPr>
        <p:txBody>
          <a:bodyPr wrap="square" lIns="0" tIns="0" rIns="0" bIns="0">
            <a:spAutoFit/>
          </a:bodyPr>
          <a:lstStyle/>
          <a:p>
            <a:pPr>
              <a:defRPr sz="1100" b="1">
                <a:solidFill>
                  <a:srgbClr val="38BDF8"/>
                </a:solidFill>
                <a:latin typeface="Segoe UI"/>
              </a:defRPr>
            </a:pPr>
            <a:r>
              <a:t>Phase 5: Autonomous Multi-Agent Negotiation</a:t>
            </a:r>
          </a:p>
        </p:txBody>
      </p:sp>
      <p:sp>
        <p:nvSpPr>
          <p:cNvPr id="19" name="TextBox 18"/>
          <p:cNvSpPr txBox="1"/>
          <p:nvPr/>
        </p:nvSpPr>
        <p:spPr>
          <a:xfrm>
            <a:off x="6382512" y="3639312"/>
            <a:ext cx="4791456" cy="868680"/>
          </a:xfrm>
          <a:prstGeom prst="rect">
            <a:avLst/>
          </a:prstGeom>
          <a:noFill/>
        </p:spPr>
        <p:txBody>
          <a:bodyPr wrap="square">
            <a:spAutoFit/>
          </a:bodyPr>
          <a:lstStyle/>
          <a:p>
            <a:pPr>
              <a:defRPr sz="850">
                <a:solidFill>
                  <a:srgbClr val="94A3B8"/>
                </a:solidFill>
                <a:latin typeface="Segoe UI"/>
              </a:defRPr>
            </a:pPr>
            <a:r>
              <a:t>Autonomous LLM agents negotiating spot freight rates and emergency vendor capacity allocations in real time.</a:t>
            </a:r>
          </a:p>
        </p:txBody>
      </p:sp>
      <p:sp>
        <p:nvSpPr>
          <p:cNvPr id="20" name="Rounded Rectangle 19"/>
          <p:cNvSpPr/>
          <p:nvPr/>
        </p:nvSpPr>
        <p:spPr>
          <a:xfrm>
            <a:off x="6217920" y="4754880"/>
            <a:ext cx="5120640" cy="137160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4864608"/>
            <a:ext cx="4791456" cy="292608"/>
          </a:xfrm>
          <a:prstGeom prst="rect">
            <a:avLst/>
          </a:prstGeom>
          <a:noFill/>
        </p:spPr>
        <p:txBody>
          <a:bodyPr wrap="square" lIns="0" tIns="0" rIns="0" bIns="0">
            <a:spAutoFit/>
          </a:bodyPr>
          <a:lstStyle/>
          <a:p>
            <a:pPr>
              <a:defRPr sz="1100" b="1">
                <a:solidFill>
                  <a:srgbClr val="38BDF8"/>
                </a:solidFill>
                <a:latin typeface="Segoe UI"/>
              </a:defRPr>
            </a:pPr>
            <a:r>
              <a:t>Phase 6: Cloud-Native Enterprise Deployment</a:t>
            </a:r>
          </a:p>
        </p:txBody>
      </p:sp>
      <p:sp>
        <p:nvSpPr>
          <p:cNvPr id="22" name="TextBox 21"/>
          <p:cNvSpPr txBox="1"/>
          <p:nvPr/>
        </p:nvSpPr>
        <p:spPr>
          <a:xfrm>
            <a:off x="6382512" y="5193792"/>
            <a:ext cx="4791456" cy="868680"/>
          </a:xfrm>
          <a:prstGeom prst="rect">
            <a:avLst/>
          </a:prstGeom>
          <a:noFill/>
        </p:spPr>
        <p:txBody>
          <a:bodyPr wrap="square">
            <a:spAutoFit/>
          </a:bodyPr>
          <a:lstStyle/>
          <a:p>
            <a:pPr>
              <a:defRPr sz="850">
                <a:solidFill>
                  <a:srgbClr val="94A3B8"/>
                </a:solidFill>
                <a:latin typeface="Segoe UI"/>
              </a:defRPr>
            </a:pPr>
            <a:r>
              <a:t>Containerized Kubernetes microservices backed by distributed PostgreSQL and Redis caching.</a:t>
            </a:r>
          </a:p>
        </p:txBody>
      </p:sp>
      <p:sp>
        <p:nvSpPr>
          <p:cNvPr id="23" name="TextBox 22"/>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22 of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47472"/>
            <a:ext cx="10515600" cy="292608"/>
          </a:xfrm>
          <a:prstGeom prst="rect">
            <a:avLst/>
          </a:prstGeom>
          <a:noFill/>
        </p:spPr>
        <p:txBody>
          <a:bodyPr wrap="square" lIns="0" tIns="0" rIns="0" bIns="0">
            <a:spAutoFit/>
          </a:bodyPr>
          <a:lstStyle/>
          <a:p>
            <a:pPr>
              <a:defRPr sz="1000" b="1">
                <a:solidFill>
                  <a:srgbClr val="38BDF8"/>
                </a:solidFill>
                <a:latin typeface="Segoe UI"/>
              </a:defRPr>
            </a:pPr>
            <a:r>
              <a:t>[ 23 / 23  •  CONCLUSION &amp; DEFENSE ]</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FFFFFF"/>
                </a:solidFill>
                <a:latin typeface="Segoe UI"/>
              </a:defRPr>
            </a:pPr>
            <a:r>
              <a:t>NEXUS in One Picture — The Complete Journey</a:t>
            </a:r>
          </a:p>
        </p:txBody>
      </p:sp>
      <p:sp>
        <p:nvSpPr>
          <p:cNvPr id="4" name="TextBox 3"/>
          <p:cNvSpPr txBox="1"/>
          <p:nvPr/>
        </p:nvSpPr>
        <p:spPr>
          <a:xfrm>
            <a:off x="731520" y="1133856"/>
            <a:ext cx="10698480" cy="365760"/>
          </a:xfrm>
          <a:prstGeom prst="rect">
            <a:avLst/>
          </a:prstGeom>
          <a:noFill/>
        </p:spPr>
        <p:txBody>
          <a:bodyPr wrap="square" lIns="0" tIns="0" rIns="0" bIns="0">
            <a:spAutoFit/>
          </a:bodyPr>
          <a:lstStyle/>
          <a:p>
            <a:pPr>
              <a:defRPr sz="1100">
                <a:solidFill>
                  <a:srgbClr val="94A3B8"/>
                </a:solidFill>
                <a:latin typeface="Segoe UI"/>
              </a:defRPr>
            </a:pPr>
            <a:r>
              <a:t>Transforming fragmented supply chain data into mathematically verified, actionable decisions.</a:t>
            </a:r>
          </a:p>
        </p:txBody>
      </p:sp>
      <p:sp>
        <p:nvSpPr>
          <p:cNvPr id="5" name="Rounded Rectangle 4"/>
          <p:cNvSpPr/>
          <p:nvPr/>
        </p:nvSpPr>
        <p:spPr>
          <a:xfrm>
            <a:off x="731520" y="1645920"/>
            <a:ext cx="10728655" cy="73152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362895" cy="457200"/>
          </a:xfrm>
          <a:prstGeom prst="rect">
            <a:avLst/>
          </a:prstGeom>
          <a:noFill/>
        </p:spPr>
        <p:txBody>
          <a:bodyPr wrap="none">
            <a:spAutoFit/>
          </a:bodyPr>
          <a:lstStyle/>
          <a:p>
            <a:pPr>
              <a:defRPr sz="1300" b="1">
                <a:solidFill>
                  <a:srgbClr val="38BDF8"/>
                </a:solidFill>
                <a:latin typeface="Segoe UI"/>
              </a:defRPr>
            </a:pPr>
            <a:r>
              <a:t>DATA   →   UNDERSTAND   →   PREDICT   →   TRACE   →   SIMULATE   →   OPTIMIZE   →   DECIDE</a:t>
            </a:r>
          </a:p>
        </p:txBody>
      </p:sp>
      <p:sp>
        <p:nvSpPr>
          <p:cNvPr id="7" name="Rounded Rectangle 6"/>
          <p:cNvSpPr/>
          <p:nvPr/>
        </p:nvSpPr>
        <p:spPr>
          <a:xfrm>
            <a:off x="731520" y="2560320"/>
            <a:ext cx="10728655" cy="1280160"/>
          </a:xfrm>
          <a:prstGeom prst="roundRect">
            <a:avLst/>
          </a:prstGeom>
          <a:solidFill>
            <a:srgbClr val="111D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670048"/>
            <a:ext cx="10399471" cy="292608"/>
          </a:xfrm>
          <a:prstGeom prst="rect">
            <a:avLst/>
          </a:prstGeom>
          <a:noFill/>
        </p:spPr>
        <p:txBody>
          <a:bodyPr wrap="square" lIns="0" tIns="0" rIns="0" bIns="0">
            <a:spAutoFit/>
          </a:bodyPr>
          <a:lstStyle/>
          <a:p>
            <a:pPr>
              <a:defRPr sz="1100" b="1">
                <a:solidFill>
                  <a:srgbClr val="38BDF8"/>
                </a:solidFill>
                <a:latin typeface="Segoe UI"/>
              </a:defRPr>
            </a:pPr>
            <a:r>
              <a:t>PLATFORM SUMMARY STATEMENT</a:t>
            </a:r>
          </a:p>
        </p:txBody>
      </p:sp>
      <p:sp>
        <p:nvSpPr>
          <p:cNvPr id="9" name="TextBox 8"/>
          <p:cNvSpPr txBox="1"/>
          <p:nvPr/>
        </p:nvSpPr>
        <p:spPr>
          <a:xfrm>
            <a:off x="914400" y="2926080"/>
            <a:ext cx="10362895" cy="822960"/>
          </a:xfrm>
          <a:prstGeom prst="rect">
            <a:avLst/>
          </a:prstGeom>
          <a:noFill/>
        </p:spPr>
        <p:txBody>
          <a:bodyPr wrap="square">
            <a:spAutoFit/>
          </a:bodyPr>
          <a:lstStyle/>
          <a:p>
            <a:pPr>
              <a:defRPr sz="1100" b="1">
                <a:solidFill>
                  <a:srgbClr val="FFFFFF"/>
                </a:solidFill>
                <a:latin typeface="Segoe UI"/>
              </a:defRPr>
            </a:pPr>
            <a:r>
              <a:t>"NEXUS is a closed-loop supply-chain decision-intelligence platform that combines empirical data, a simulated digital twin, machine learning, graph-based impact analysis, what-if simulation, mathematical optimization, and actionable recommendations in a single interactive control room."</a:t>
            </a:r>
          </a:p>
        </p:txBody>
      </p:sp>
      <p:sp>
        <p:nvSpPr>
          <p:cNvPr id="10" name="Rounded Rectangle 9"/>
          <p:cNvSpPr/>
          <p:nvPr/>
        </p:nvSpPr>
        <p:spPr>
          <a:xfrm>
            <a:off x="731520" y="4023360"/>
            <a:ext cx="2514600" cy="109728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60520"/>
            <a:ext cx="2331720" cy="822960"/>
          </a:xfrm>
          <a:prstGeom prst="rect">
            <a:avLst/>
          </a:prstGeom>
          <a:noFill/>
        </p:spPr>
        <p:txBody>
          <a:bodyPr wrap="none">
            <a:spAutoFit/>
          </a:bodyPr>
          <a:lstStyle/>
          <a:p>
            <a:pPr>
              <a:defRPr sz="1100" b="1">
                <a:solidFill>
                  <a:srgbClr val="10B981"/>
                </a:solidFill>
                <a:latin typeface="Segoe UI"/>
              </a:defRPr>
            </a:pPr>
            <a:r>
              <a:t>421k Empirical Sales</a:t>
            </a:r>
          </a:p>
          <a:p>
            <a:pPr>
              <a:spcBef>
                <a:spcPts val="200"/>
              </a:spcBef>
              <a:defRPr sz="850">
                <a:solidFill>
                  <a:srgbClr val="94A3B8"/>
                </a:solidFill>
                <a:latin typeface="Segoe UI"/>
              </a:defRPr>
            </a:pPr>
            <a:r>
              <a:t>Walmart &amp; DataCo empirical grounding</a:t>
            </a:r>
          </a:p>
        </p:txBody>
      </p:sp>
      <p:sp>
        <p:nvSpPr>
          <p:cNvPr id="12" name="Rounded Rectangle 11"/>
          <p:cNvSpPr/>
          <p:nvPr/>
        </p:nvSpPr>
        <p:spPr>
          <a:xfrm>
            <a:off x="3465576" y="4023360"/>
            <a:ext cx="2514600" cy="109728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6" y="4160520"/>
            <a:ext cx="2331720" cy="822960"/>
          </a:xfrm>
          <a:prstGeom prst="rect">
            <a:avLst/>
          </a:prstGeom>
          <a:noFill/>
        </p:spPr>
        <p:txBody>
          <a:bodyPr wrap="none">
            <a:spAutoFit/>
          </a:bodyPr>
          <a:lstStyle/>
          <a:p>
            <a:pPr>
              <a:defRPr sz="1100" b="1">
                <a:solidFill>
                  <a:srgbClr val="10B981"/>
                </a:solidFill>
                <a:latin typeface="Segoe UI"/>
              </a:defRPr>
            </a:pPr>
            <a:r>
              <a:t>29.5% RMSE Reduction</a:t>
            </a:r>
          </a:p>
          <a:p>
            <a:pPr>
              <a:spcBef>
                <a:spcPts val="200"/>
              </a:spcBef>
              <a:defRPr sz="850">
                <a:solidFill>
                  <a:srgbClr val="94A3B8"/>
                </a:solidFill>
                <a:latin typeface="Segoe UI"/>
              </a:defRPr>
            </a:pPr>
            <a:r>
              <a:t>XGBoost Regressor demand forecasting</a:t>
            </a:r>
          </a:p>
        </p:txBody>
      </p:sp>
      <p:sp>
        <p:nvSpPr>
          <p:cNvPr id="14" name="Rounded Rectangle 13"/>
          <p:cNvSpPr/>
          <p:nvPr/>
        </p:nvSpPr>
        <p:spPr>
          <a:xfrm>
            <a:off x="6199632" y="4023360"/>
            <a:ext cx="2514600" cy="109728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160520"/>
            <a:ext cx="2331720" cy="822960"/>
          </a:xfrm>
          <a:prstGeom prst="rect">
            <a:avLst/>
          </a:prstGeom>
          <a:noFill/>
        </p:spPr>
        <p:txBody>
          <a:bodyPr wrap="none">
            <a:spAutoFit/>
          </a:bodyPr>
          <a:lstStyle/>
          <a:p>
            <a:pPr>
              <a:defRPr sz="1100" b="1">
                <a:solidFill>
                  <a:srgbClr val="10B981"/>
                </a:solidFill>
                <a:latin typeface="Segoe UI"/>
              </a:defRPr>
            </a:pPr>
            <a:r>
              <a:t>53.19% Cost Reduction</a:t>
            </a:r>
          </a:p>
          <a:p>
            <a:pPr>
              <a:spcBef>
                <a:spcPts val="200"/>
              </a:spcBef>
              <a:defRPr sz="850">
                <a:solidFill>
                  <a:srgbClr val="94A3B8"/>
                </a:solidFill>
                <a:latin typeface="Segoe UI"/>
              </a:defRPr>
            </a:pPr>
            <a:r>
              <a:t>INR 21.92M saved via Google OR-Tools</a:t>
            </a:r>
          </a:p>
        </p:txBody>
      </p:sp>
      <p:sp>
        <p:nvSpPr>
          <p:cNvPr id="16" name="Rounded Rectangle 15"/>
          <p:cNvSpPr/>
          <p:nvPr/>
        </p:nvSpPr>
        <p:spPr>
          <a:xfrm>
            <a:off x="8933688" y="4023360"/>
            <a:ext cx="2514600" cy="109728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5128" y="4160520"/>
            <a:ext cx="2331720" cy="822960"/>
          </a:xfrm>
          <a:prstGeom prst="rect">
            <a:avLst/>
          </a:prstGeom>
          <a:noFill/>
        </p:spPr>
        <p:txBody>
          <a:bodyPr wrap="none">
            <a:spAutoFit/>
          </a:bodyPr>
          <a:lstStyle/>
          <a:p>
            <a:pPr>
              <a:defRPr sz="1100" b="1">
                <a:solidFill>
                  <a:srgbClr val="10B981"/>
                </a:solidFill>
                <a:latin typeface="Segoe UI"/>
              </a:defRPr>
            </a:pPr>
            <a:r>
              <a:t>100% Test Pass Rate</a:t>
            </a:r>
          </a:p>
          <a:p>
            <a:pPr>
              <a:spcBef>
                <a:spcPts val="200"/>
              </a:spcBef>
              <a:defRPr sz="850">
                <a:solidFill>
                  <a:srgbClr val="94A3B8"/>
                </a:solidFill>
                <a:latin typeface="Segoe UI"/>
              </a:defRPr>
            </a:pPr>
            <a:r>
              <a:t>29/29 Backend, 10/10 Frontend tests</a:t>
            </a:r>
          </a:p>
        </p:txBody>
      </p:sp>
      <p:sp>
        <p:nvSpPr>
          <p:cNvPr id="18" name="Rounded Rectangle 17"/>
          <p:cNvSpPr/>
          <p:nvPr/>
        </p:nvSpPr>
        <p:spPr>
          <a:xfrm>
            <a:off x="731520" y="5303520"/>
            <a:ext cx="10728655" cy="1005840"/>
          </a:xfrm>
          <a:prstGeom prst="roundRect">
            <a:avLst/>
          </a:prstGeom>
          <a:solidFill>
            <a:srgbClr val="111D4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440680"/>
            <a:ext cx="10362895" cy="731520"/>
          </a:xfrm>
          <a:prstGeom prst="rect">
            <a:avLst/>
          </a:prstGeom>
          <a:noFill/>
        </p:spPr>
        <p:txBody>
          <a:bodyPr wrap="none">
            <a:spAutoFit/>
          </a:bodyPr>
          <a:lstStyle/>
          <a:p>
            <a:pPr>
              <a:defRPr sz="1400" b="1">
                <a:solidFill>
                  <a:srgbClr val="38BDF8"/>
                </a:solidFill>
                <a:latin typeface="Segoe UI"/>
              </a:defRPr>
            </a:pPr>
            <a:r>
              <a:t>Thank You!   |   Questions &amp; Discussion</a:t>
            </a:r>
          </a:p>
          <a:p>
            <a:pPr>
              <a:spcBef>
                <a:spcPts val="200"/>
              </a:spcBef>
              <a:defRPr sz="1000">
                <a:solidFill>
                  <a:srgbClr val="FFFFFF"/>
                </a:solidFill>
                <a:latin typeface="Segoe UI"/>
              </a:defRPr>
            </a:pPr>
            <a:r>
              <a:t>Presented by: Shreyansh Uttam  |  B.Tech CSE (Artificial Intelligence &amp; Machine Learning)  |  VIT Bhopal University</a:t>
            </a:r>
          </a:p>
        </p:txBody>
      </p:sp>
      <p:sp>
        <p:nvSpPr>
          <p:cNvPr id="20" name="TextBox 19"/>
          <p:cNvSpPr txBox="1"/>
          <p:nvPr/>
        </p:nvSpPr>
        <p:spPr>
          <a:xfrm>
            <a:off x="731520" y="6473952"/>
            <a:ext cx="10728655" cy="274320"/>
          </a:xfrm>
          <a:prstGeom prst="rect">
            <a:avLst/>
          </a:prstGeom>
          <a:noFill/>
        </p:spPr>
        <p:txBody>
          <a:bodyPr wrap="none" lIns="0" tIns="0" rIns="0" bIns="0">
            <a:spAutoFit/>
          </a:bodyPr>
          <a:lstStyle/>
          <a:p>
            <a:pPr>
              <a:defRPr sz="850">
                <a:solidFill>
                  <a:srgbClr val="64748B"/>
                </a:solidFill>
                <a:latin typeface="Segoe UI"/>
              </a:defRPr>
            </a:pPr>
            <a:r>
              <a:t>NEXUS — AI-Powered Supply Chain Intelligence, Risk Prediction &amp; Optimization  |  Shreyansh Uttam (VIT Bhopal)  |  Slide 23 of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