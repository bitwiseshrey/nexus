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My name is Shreyansh Uttam, and today I am presenting NEXUS—an AI-powered supply chain intelligence, risk prediction, and optimization platform.</a:t>
            </a:r>
          </a:p>
          <a:p/>
          <a:p>
            <a:r>
              <a:t>Modern supply chains are complex multi-echelon networks that face constant volatility. NEXUS unifies empirical data, machine learning forecasting, graph-based impact propagation, what-if simulation, and mathematical optimization into a single closed decision loop. In the next 10 minutes, I will show you how NEXUS detects an upstream disruption, traces its downstream network impact, and automatically computes the optimal reallocation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chains do not fail at a single point—they cascade. </a:t>
            </a:r>
          </a:p>
          <a:p/>
          <a:p>
            <a:r>
              <a:t>Today's enterprise operations suffer from three major bottlenecks: First, data is fragmented between ERP, WMS, and planning spreadsheets. Second, decisions are delayed because teams only notice stockouts when warehouse shelves are already empty. And third, contracts are rigid—when a primary vendor shuts down, businesses struggle to quickly calculate alternatives.</a:t>
            </a:r>
          </a:p>
          <a:p/>
          <a:p>
            <a:r>
              <a:t>As shown at the bottom, an upstream supplier failure ripples through warehouses and factories, ultimately leaving retail demand unfulfilled. To solve this, we need a unified system that connects signals to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concept of NEXUS: a closed six-stage decision loop.</a:t>
            </a:r>
          </a:p>
          <a:p/>
          <a:p>
            <a:r>
              <a:t>Many AI projects stop at prediction—they forecast a number or flag a risk, but leave the manager wondering what to do. NEXUS answers six progressive questions: </a:t>
            </a:r>
          </a:p>
          <a:p>
            <a:r>
              <a:t>MONITOR asks: what is happening right now?</a:t>
            </a:r>
          </a:p>
          <a:p>
            <a:r>
              <a:t>PREDICT asks: what is likely to happen next?</a:t>
            </a:r>
          </a:p>
          <a:p>
            <a:r>
              <a:t>IMPACT asks: what downstream warehouses and products will be affected?</a:t>
            </a:r>
          </a:p>
          <a:p>
            <a:r>
              <a:t>SIMULATE asks: what if we intervene?</a:t>
            </a:r>
          </a:p>
          <a:p>
            <a:r>
              <a:t>OPTIMIZE asks: what is the best feasible allocation of inventory and transit?</a:t>
            </a:r>
          </a:p>
          <a:p>
            <a:r>
              <a:t>And RECOMMEND asks: what exact directives should the executive approve?</a:t>
            </a:r>
          </a:p>
          <a:p/>
          <a:p>
            <a:r>
              <a:t>Prediction becomes useful only when it directly informs an operational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engineering system must stand on credible data. In supply chain management, real enterprise operational data is proprietary and confidential. Therefore, NEXUS employs a hybrid data strategy.</a:t>
            </a:r>
          </a:p>
          <a:p/>
          <a:p>
            <a:r>
              <a:t>For demand forecasting, we use Walmart's empirical dataset of 421,570 weekly sales records from Kaggle, capturing real retail seasonality and holiday surges. For supplier risk, we utilize the DataCo Global Supply Chain dataset from Mendeley, containing over 35,000 shipments with real delivery delays. </a:t>
            </a:r>
          </a:p>
          <a:p/>
          <a:p>
            <a:r>
              <a:t>We then map these statistical distributions onto an 83-node Indian logistics network. As clearly stated at the bottom, this Indian topology is a calibrated synthetic digital twin, ensuring academic honesty while maintaining realistic multi-echelon complexity.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NEXUS Digital Twin. It models a complete multi-echelon network spanning 83 facilities and 160 multimodal corridors across India.</a:t>
            </a:r>
          </a:p>
          <a:p/>
          <a:p>
            <a:r>
              <a:t>The network is partitioned into five distinct echelons: 20 suppliers, 8 manufacturing plants, 10 central distribution warehouses tracking 45.9 million rupees in inventory, 15 transit hubs, and 30 consumer demand zones. </a:t>
            </a:r>
          </a:p>
          <a:p/>
          <a:p>
            <a:r>
              <a:t>On the map visual, you can see our highlighted disruption test: an 80% failure at supplier SUP_001 in Pune cascading down to Western Warehouse WH_01, alongside the green rerouting corridor from alternative vendor SUP_005 in Jamshedpur. The digital twin makes every dependency visible and computable.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Intelligence Layer is built around three specific operational questions rather than generic AI buzzwords.</a:t>
            </a:r>
          </a:p>
          <a:p/>
          <a:p>
            <a:r>
              <a:t>First, Demand Forecasting asks: 'How much will we need?' It uses an XGBoost Regressor trained on 14 lag and calendar features to output a 4-week demand curve.</a:t>
            </a:r>
          </a:p>
          <a:p>
            <a:r>
              <a:t>Second, Supplier Risk asks: 'Who is likely to fail?' An XGBoost Classifier predicts vendor failure probability from lead-time volatility and delay frequency.</a:t>
            </a:r>
          </a:p>
          <a:p>
            <a:r>
              <a:t>Third, Anomaly Detection asks: 'What looks unusual right now?' An unsupervised Isolation Forest flags unprecedented order surges or highway transit delays.</a:t>
            </a:r>
          </a:p>
          <a:p/>
          <a:p>
            <a:r>
              <a:t>Critically, machine learning provides the detection signal; NEXUS then determines what that signal actually means for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evaluate whether machine learning actually improves the decision signal compared to established baselines.</a:t>
            </a:r>
          </a:p>
          <a:p/>
          <a:p>
            <a:r>
              <a:t>On the left, for demand forecasting, our XGBoost Regressor achieves an RMSE of 96,042 and an sMAPE of 4.35%. This is a verified 29.51% reduction in root mean squared error over the Naive baseline, directly dampening Bullwhip order distortion.</a:t>
            </a:r>
          </a:p>
          <a:p/>
          <a:p>
            <a:r>
              <a:t>On the right, for supplier risk, we evaluated the models across 10 completely unseen test vendors using GroupShuffleSplit. XGBoost achieves an F1-score of 0.7574 with a high recall of 77.11%. In supply chains, high recall is vital because missing an impending supplier collapse is far more catastrophic than a minor false alarm.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how NEXUS bridges the gap between signals and actions through our Decision Matrix.</a:t>
            </a:r>
          </a:p>
          <a:p/>
          <a:p>
            <a:r>
              <a:t>Each detected signal has a specific physical consequence and a prescribed operational response. For example, when a supplier loses capacity, the system doesn't just sound an alarm—it identifies component risk and initiates secondary vendor sourcing. When a highway corridor is blocked, it routes freight through rail corridors. And when multiple shocks strike simultaneously, it triggers global optimization.</a:t>
            </a:r>
          </a:p>
          <a:p/>
          <a:p>
            <a:r>
              <a:t>This answers a fundamental faculty question: NEXUS is not just an analytics dashboard—it is an automated decision-support engine.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NEXUS in action, we simulate a severe operational crisis: supplier SUP_001 in Pune loses 80% capacity for 10 days. </a:t>
            </a:r>
          </a:p>
          <a:p/>
          <a:p>
            <a:r>
              <a:t>On the left, you see the cascade: Western Warehouse WH_01 only has 5.07 days of stock runway remaining, meaning complete stockout on Day 6. Without reallocation, 69,843 units of customer demand would be dropped, plunging service levels to 54.57%.</a:t>
            </a:r>
          </a:p>
          <a:p/>
          <a:p>
            <a:r>
              <a:t>However, look at the right side: does the network actually lack capacity? No! Even after the shock, remaining suppliers possess 314,000 units of capacity against a network demand of 153,600 units—a net surplus of 160,000 units. The crisis exists solely because traditional allocations are rigid. This brings us directly to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flagship result: baseline operations versus NEXUS optimization.</a:t>
            </a:r>
          </a:p>
          <a:p/>
          <a:p>
            <a:r>
              <a:t>Under unoptimized baseline operations, the company incurs 41.22 million rupees in total operational cost—dominated by 24.45 million in contractual stockout penalties—with a service level of just 54.57%.</a:t>
            </a:r>
          </a:p>
          <a:p/>
          <a:p>
            <a:r>
              <a:t>NEXUS changes this completely. In 9.4 milliseconds, Google OR-Tools computes a global multi-echelon reallocation. By proactively spending 5 million rupees in secondary procurement and freight rerouting from Jamshedpur and Pantnagar, it completely eliminates all 24.45 million rupees of stockout penalties. </a:t>
            </a:r>
          </a:p>
          <a:p/>
          <a:p>
            <a:r>
              <a:t>The result is a 53.19% reduction in total operational cost—saving nearly 22 million rupees—while restoring customer fulfillment to 100%.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algorithm is only useful if managers can interact with it. Here you see the live NEXUS control room.</a:t>
            </a:r>
          </a:p>
          <a:p/>
          <a:p>
            <a:r>
              <a:t>Built with React 19, TypeScript, and Tailwind CSS, the platform organizes intelligence into five dedicated views: MONITOR on the executive dashboard, TRACE on the interactive Leaflet GIS map, PREDICT on demand charts, OPTIMIZE on cost waterfall comparisons, and DECIDE on executive action cards.</a:t>
            </a:r>
          </a:p>
          <a:p/>
          <a:p>
            <a:r>
              <a:t>The frontend is dynamically code-split into lightweight bundles of 365 kilobytes and builds in under 2.5 seconds, delivering a snappy, enterprise-grade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engineering system must be verified. NEXUS has undergone rigorous automated testing across both backend and frontend.</a:t>
            </a:r>
          </a:p>
          <a:p/>
          <a:p>
            <a:r>
              <a:t>On the backend, all 29 pytest tests pass with 100% success in 2.66 seconds, validating schemas, forecasting algorithms, graph traversal, and optimization constraints. On the frontend, all 10 Vitest tests pass, and the production build compiles with zero TypeScript errors. </a:t>
            </a:r>
          </a:p>
          <a:p/>
          <a:p>
            <a:r>
              <a:t>Furthermore, our codebase adheres to strict credibility standards: there are zero silent mock fallbacks in the production frontend. Every figure traces directly to the live backend. And as noted at the bottom, we transparently state that live enterprise ERP and GPS connections are simulated.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NEXUS transforms supply chain management from reactive firefighting into proactive decision intelligence.</a:t>
            </a:r>
          </a:p>
          <a:p/>
          <a:p>
            <a:r>
              <a:t>By connecting empirical data, digital twin graph analysis, machine learning, scenario simulation, and Google OR-Tools optimization, the platform doesn't just predict problems—it solves them. In our verified demonstration, NEXUS eliminated 24.45 million rupees in stockout penalties, maintained 100% service level, and reduced total operational costs by 53.19% in under 10 milliseconds.</a:t>
            </a:r>
          </a:p>
          <a:p/>
          <a:p>
            <a:r>
              <a:t>Thank you very much for your time and guidance. I would be delighted to answer any questions and demonstrate the live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188720"/>
            <a:ext cx="5120640" cy="4389120"/>
          </a:xfrm>
          <a:prstGeom prst="rect">
            <a:avLst/>
          </a:prstGeom>
          <a:noFill/>
        </p:spPr>
        <p:txBody>
          <a:bodyPr wrap="square">
            <a:spAutoFit/>
          </a:bodyPr>
          <a:lstStyle/>
          <a:p>
            <a:pPr>
              <a:defRPr sz="1000" b="1">
                <a:solidFill>
                  <a:srgbClr val="3B82F6"/>
                </a:solidFill>
                <a:latin typeface="Segoe UI"/>
              </a:defRPr>
            </a:pPr>
            <a:r>
              <a:t>PROJECT REVIEW &amp; TECHNICAL EVALUATION</a:t>
            </a:r>
          </a:p>
          <a:p>
            <a:pPr>
              <a:spcBef>
                <a:spcPts val="600"/>
              </a:spcBef>
              <a:defRPr sz="5600" b="1">
                <a:solidFill>
                  <a:srgbClr val="20252B"/>
                </a:solidFill>
                <a:latin typeface="Segoe UI"/>
              </a:defRPr>
            </a:pPr>
            <a:r>
              <a:t>NEXUS</a:t>
            </a:r>
          </a:p>
          <a:p>
            <a:pPr>
              <a:spcBef>
                <a:spcPts val="400"/>
              </a:spcBef>
              <a:defRPr sz="1800" b="1">
                <a:solidFill>
                  <a:srgbClr val="626A73"/>
                </a:solidFill>
                <a:latin typeface="Segoe UI"/>
              </a:defRPr>
            </a:pPr>
            <a:r>
              <a:t>AI-Powered Supply Chain Intelligence,</a:t>
            </a:r>
            <a:br/>
            <a:r>
              <a:t>Risk Prediction &amp; Optimization</a:t>
            </a:r>
          </a:p>
          <a:p>
            <a:pPr>
              <a:spcBef>
                <a:spcPts val="1400"/>
              </a:spcBef>
              <a:defRPr sz="950" b="1">
                <a:solidFill>
                  <a:srgbClr val="10B981"/>
                </a:solidFill>
                <a:latin typeface="Segoe UI"/>
              </a:defRPr>
            </a:pPr>
            <a:r>
              <a:t>MONITOR → PREDICT → IMPACT → SIMULATE → OPTIMIZE → RECOMMEND</a:t>
            </a:r>
          </a:p>
          <a:p>
            <a:pPr>
              <a:spcBef>
                <a:spcPts val="2000"/>
              </a:spcBef>
              <a:defRPr sz="1100">
                <a:solidFill>
                  <a:srgbClr val="20252B"/>
                </a:solidFill>
                <a:latin typeface="Segoe UI"/>
              </a:defRPr>
            </a:pPr>
            <a:r>
              <a:t>Shreyansh Uttam</a:t>
            </a:r>
            <a:br/>
            <a:r>
              <a:t>B.Tech CSE (Artificial Intelligence &amp; Machine Learning)</a:t>
            </a:r>
            <a:br/>
            <a:r>
              <a:t>VIT Bhopal University</a:t>
            </a:r>
          </a:p>
        </p:txBody>
      </p:sp>
      <p:pic>
        <p:nvPicPr>
          <p:cNvPr id="4" name="Picture 3" descr="pastel_cover_network.png"/>
          <p:cNvPicPr>
            <a:picLocks noChangeAspect="1"/>
          </p:cNvPicPr>
          <p:nvPr/>
        </p:nvPicPr>
        <p:blipFill>
          <a:blip r:embed="rId2"/>
          <a:stretch>
            <a:fillRect/>
          </a:stretch>
        </p:blipFill>
        <p:spPr>
          <a:xfrm>
            <a:off x="6400800" y="1005840"/>
            <a:ext cx="4754880" cy="4754880"/>
          </a:xfrm>
          <a:prstGeom prst="rect">
            <a:avLst/>
          </a:prstGeom>
        </p:spPr>
      </p:pic>
      <p:sp>
        <p:nvSpPr>
          <p:cNvPr id="5" name="TextBox 4"/>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1 of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02 / 13  •  PROBLEM MOTIVATION</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Supply chains don't fail at one point.</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A small disruption can cascade across the entire network.</a:t>
            </a:r>
          </a:p>
        </p:txBody>
      </p:sp>
      <p:sp>
        <p:nvSpPr>
          <p:cNvPr id="5" name="Rounded Rectangle 4"/>
          <p:cNvSpPr/>
          <p:nvPr/>
        </p:nvSpPr>
        <p:spPr>
          <a:xfrm>
            <a:off x="731520" y="1645920"/>
            <a:ext cx="3383280" cy="2834640"/>
          </a:xfrm>
          <a:prstGeom prst="roundRect">
            <a:avLst/>
          </a:prstGeom>
          <a:solidFill>
            <a:srgbClr val="DCEBF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926080" cy="2377440"/>
          </a:xfrm>
          <a:prstGeom prst="rect">
            <a:avLst/>
          </a:prstGeom>
          <a:noFill/>
        </p:spPr>
        <p:txBody>
          <a:bodyPr wrap="square">
            <a:spAutoFit/>
          </a:bodyPr>
          <a:lstStyle/>
          <a:p>
            <a:pPr>
              <a:defRPr sz="2800" b="1">
                <a:solidFill>
                  <a:srgbClr val="3B82F6"/>
                </a:solidFill>
                <a:latin typeface="Segoe UI"/>
              </a:defRPr>
            </a:pPr>
            <a:r>
              <a:t>01</a:t>
            </a:r>
          </a:p>
          <a:p>
            <a:pPr>
              <a:spcBef>
                <a:spcPts val="400"/>
              </a:spcBef>
              <a:defRPr sz="1300" b="1">
                <a:solidFill>
                  <a:srgbClr val="20252B"/>
                </a:solidFill>
                <a:latin typeface="Segoe UI"/>
              </a:defRPr>
            </a:pPr>
            <a:r>
              <a:t>FRAGMENTED DATA</a:t>
            </a:r>
          </a:p>
          <a:p>
            <a:pPr>
              <a:spcBef>
                <a:spcPts val="800"/>
              </a:spcBef>
              <a:defRPr sz="1050">
                <a:solidFill>
                  <a:srgbClr val="20252B"/>
                </a:solidFill>
                <a:latin typeface="Segoe UI"/>
              </a:defRPr>
            </a:pPr>
            <a:r>
              <a:t>Forecasting, inventory, and logistics exist in separate systems, preventing unified end-to-end visibility.</a:t>
            </a:r>
          </a:p>
        </p:txBody>
      </p:sp>
      <p:sp>
        <p:nvSpPr>
          <p:cNvPr id="7" name="Rounded Rectangle 6"/>
          <p:cNvSpPr/>
          <p:nvPr/>
        </p:nvSpPr>
        <p:spPr>
          <a:xfrm>
            <a:off x="4403750" y="1645920"/>
            <a:ext cx="3383280" cy="2834640"/>
          </a:xfrm>
          <a:prstGeom prst="roundRect">
            <a:avLst/>
          </a:prstGeom>
          <a:solidFill>
            <a:srgbClr val="FFF0C7"/>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2350" y="1920240"/>
            <a:ext cx="2926080" cy="2377440"/>
          </a:xfrm>
          <a:prstGeom prst="rect">
            <a:avLst/>
          </a:prstGeom>
          <a:noFill/>
        </p:spPr>
        <p:txBody>
          <a:bodyPr wrap="square">
            <a:spAutoFit/>
          </a:bodyPr>
          <a:lstStyle/>
          <a:p>
            <a:pPr>
              <a:defRPr sz="2800" b="1">
                <a:solidFill>
                  <a:srgbClr val="EAB308"/>
                </a:solidFill>
                <a:latin typeface="Segoe UI"/>
              </a:defRPr>
            </a:pPr>
            <a:r>
              <a:t>02</a:t>
            </a:r>
          </a:p>
          <a:p>
            <a:pPr>
              <a:spcBef>
                <a:spcPts val="400"/>
              </a:spcBef>
              <a:defRPr sz="1300" b="1">
                <a:solidFill>
                  <a:srgbClr val="20252B"/>
                </a:solidFill>
                <a:latin typeface="Segoe UI"/>
              </a:defRPr>
            </a:pPr>
            <a:r>
              <a:t>DELAYED DECISIONS</a:t>
            </a:r>
          </a:p>
          <a:p>
            <a:pPr>
              <a:spcBef>
                <a:spcPts val="800"/>
              </a:spcBef>
              <a:defRPr sz="1050">
                <a:solidFill>
                  <a:srgbClr val="20252B"/>
                </a:solidFill>
                <a:latin typeface="Segoe UI"/>
              </a:defRPr>
            </a:pPr>
            <a:r>
              <a:t>Teams often identify the impact only after safety inventory starts running out at distribution hubs.</a:t>
            </a:r>
          </a:p>
        </p:txBody>
      </p:sp>
      <p:sp>
        <p:nvSpPr>
          <p:cNvPr id="9" name="Rounded Rectangle 8"/>
          <p:cNvSpPr/>
          <p:nvPr/>
        </p:nvSpPr>
        <p:spPr>
          <a:xfrm>
            <a:off x="8075980" y="1645920"/>
            <a:ext cx="3383280" cy="2834640"/>
          </a:xfrm>
          <a:prstGeom prst="roundRect">
            <a:avLst/>
          </a:prstGeom>
          <a:solidFill>
            <a:srgbClr val="FCE3D6"/>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4580" y="1920240"/>
            <a:ext cx="2926080" cy="2377440"/>
          </a:xfrm>
          <a:prstGeom prst="rect">
            <a:avLst/>
          </a:prstGeom>
          <a:noFill/>
        </p:spPr>
        <p:txBody>
          <a:bodyPr wrap="square">
            <a:spAutoFit/>
          </a:bodyPr>
          <a:lstStyle/>
          <a:p>
            <a:pPr>
              <a:defRPr sz="2800" b="1">
                <a:solidFill>
                  <a:srgbClr val="F97316"/>
                </a:solidFill>
                <a:latin typeface="Segoe UI"/>
              </a:defRPr>
            </a:pPr>
            <a:r>
              <a:t>03</a:t>
            </a:r>
          </a:p>
          <a:p>
            <a:pPr>
              <a:spcBef>
                <a:spcPts val="400"/>
              </a:spcBef>
              <a:defRPr sz="1300" b="1">
                <a:solidFill>
                  <a:srgbClr val="20252B"/>
                </a:solidFill>
                <a:latin typeface="Segoe UI"/>
              </a:defRPr>
            </a:pPr>
            <a:r>
              <a:t>RIGID RESPONSE</a:t>
            </a:r>
          </a:p>
          <a:p>
            <a:pPr>
              <a:spcBef>
                <a:spcPts val="800"/>
              </a:spcBef>
              <a:defRPr sz="1050">
                <a:solidFill>
                  <a:srgbClr val="20252B"/>
                </a:solidFill>
                <a:latin typeface="Segoe UI"/>
              </a:defRPr>
            </a:pPr>
            <a:r>
              <a:t>Static supplier allocations make it difficult to quickly reroute supply when a primary facility fails.</a:t>
            </a:r>
          </a:p>
        </p:txBody>
      </p:sp>
      <p:sp>
        <p:nvSpPr>
          <p:cNvPr id="11" name="Rounded Rectangle 10"/>
          <p:cNvSpPr/>
          <p:nvPr/>
        </p:nvSpPr>
        <p:spPr>
          <a:xfrm>
            <a:off x="731520" y="4709160"/>
            <a:ext cx="10728655" cy="1463040"/>
          </a:xfrm>
          <a:prstGeom prst="roundRect">
            <a:avLst/>
          </a:prstGeom>
          <a:solidFill>
            <a:srgbClr val="FFFDF9"/>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846320"/>
            <a:ext cx="10180015" cy="1188720"/>
          </a:xfrm>
          <a:prstGeom prst="rect">
            <a:avLst/>
          </a:prstGeom>
          <a:noFill/>
        </p:spPr>
        <p:txBody>
          <a:bodyPr wrap="square">
            <a:spAutoFit/>
          </a:bodyPr>
          <a:lstStyle/>
          <a:p>
            <a:pPr>
              <a:defRPr sz="1000" b="1">
                <a:solidFill>
                  <a:srgbClr val="EF4444"/>
                </a:solidFill>
                <a:latin typeface="Segoe UI"/>
              </a:defRPr>
            </a:pPr>
            <a:r>
              <a:t>THE DISRUPTION CASCADE:</a:t>
            </a:r>
          </a:p>
          <a:p>
            <a:pPr>
              <a:spcBef>
                <a:spcPts val="400"/>
              </a:spcBef>
              <a:defRPr sz="1400" b="1">
                <a:solidFill>
                  <a:srgbClr val="20252B"/>
                </a:solidFill>
                <a:latin typeface="Segoe UI"/>
              </a:defRPr>
            </a:pPr>
            <a:r>
              <a:t>Supplier Disruption  →  Inventory Depletion  →  Production Starvation  →  Customer Shortages</a:t>
            </a:r>
          </a:p>
          <a:p>
            <a:pPr>
              <a:spcBef>
                <a:spcPts val="400"/>
              </a:spcBef>
              <a:defRPr sz="950">
                <a:solidFill>
                  <a:srgbClr val="626A73"/>
                </a:solidFill>
                <a:latin typeface="Segoe UI"/>
              </a:defRPr>
            </a:pPr>
            <a:r>
              <a:t>Without automated intelligence, a regional boiler failure or strike halts downstream retail deliveries within days.</a:t>
            </a:r>
          </a:p>
        </p:txBody>
      </p:sp>
      <p:sp>
        <p:nvSpPr>
          <p:cNvPr id="13" name="TextBox 12"/>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2 of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03 / 13  •  SYSTEM CONCEPT</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One disruption. One decision loop.</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A unified decision intelligence platform closing the gap between prediction and operational action.</a:t>
            </a:r>
          </a:p>
        </p:txBody>
      </p:sp>
      <p:pic>
        <p:nvPicPr>
          <p:cNvPr id="5" name="Picture 4" descr="pastel_decision_loop.png"/>
          <p:cNvPicPr>
            <a:picLocks noChangeAspect="1"/>
          </p:cNvPicPr>
          <p:nvPr/>
        </p:nvPicPr>
        <p:blipFill>
          <a:blip r:embed="rId2"/>
          <a:stretch>
            <a:fillRect/>
          </a:stretch>
        </p:blipFill>
        <p:spPr>
          <a:xfrm>
            <a:off x="731520" y="1691640"/>
            <a:ext cx="10728655" cy="3931920"/>
          </a:xfrm>
          <a:prstGeom prst="rect">
            <a:avLst/>
          </a:prstGeom>
        </p:spPr>
      </p:pic>
      <p:sp>
        <p:nvSpPr>
          <p:cNvPr id="6" name="Rounded Rectangle 5"/>
          <p:cNvSpPr/>
          <p:nvPr/>
        </p:nvSpPr>
        <p:spPr>
          <a:xfrm>
            <a:off x="1645920" y="5715000"/>
            <a:ext cx="8899855" cy="5943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5779008"/>
            <a:ext cx="8534095" cy="457200"/>
          </a:xfrm>
          <a:prstGeom prst="rect">
            <a:avLst/>
          </a:prstGeom>
          <a:noFill/>
        </p:spPr>
        <p:txBody>
          <a:bodyPr wrap="none">
            <a:spAutoFit/>
          </a:bodyPr>
          <a:lstStyle/>
          <a:p>
            <a:pPr algn="ctr">
              <a:defRPr sz="1200" b="1">
                <a:solidFill>
                  <a:srgbClr val="20252B"/>
                </a:solidFill>
                <a:latin typeface="Segoe UI"/>
              </a:defRPr>
            </a:pPr>
            <a:r>
              <a:t>Prediction becomes useful only when it leads to a decision.</a:t>
            </a:r>
          </a:p>
        </p:txBody>
      </p:sp>
      <p:sp>
        <p:nvSpPr>
          <p:cNvPr id="8" name="TextBox 7"/>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3 of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04 / 13  •  DATA FOUNDATION</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Built on empirical data + a calibrated digital twin</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Combining real-world sales volatility and delivery delays with a multi-echelon spatial topology.</a:t>
            </a:r>
          </a:p>
        </p:txBody>
      </p:sp>
      <p:sp>
        <p:nvSpPr>
          <p:cNvPr id="5" name="Rounded Rectangle 4"/>
          <p:cNvSpPr/>
          <p:nvPr/>
        </p:nvSpPr>
        <p:spPr>
          <a:xfrm>
            <a:off x="731520" y="1645920"/>
            <a:ext cx="3383280" cy="3931920"/>
          </a:xfrm>
          <a:prstGeom prst="roundRect">
            <a:avLst/>
          </a:prstGeom>
          <a:solidFill>
            <a:srgbClr val="DCEBF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2926080" cy="3566160"/>
          </a:xfrm>
          <a:prstGeom prst="rect">
            <a:avLst/>
          </a:prstGeom>
          <a:noFill/>
        </p:spPr>
        <p:txBody>
          <a:bodyPr wrap="square">
            <a:spAutoFit/>
          </a:bodyPr>
          <a:lstStyle/>
          <a:p>
            <a:pPr>
              <a:defRPr sz="900" b="1">
                <a:solidFill>
                  <a:srgbClr val="3B82F6"/>
                </a:solidFill>
                <a:latin typeface="Segoe UI"/>
              </a:defRPr>
            </a:pPr>
            <a:r>
              <a:t>PUBLIC EMPIRICAL DATA</a:t>
            </a:r>
          </a:p>
          <a:p>
            <a:pPr>
              <a:spcBef>
                <a:spcPts val="200"/>
              </a:spcBef>
              <a:defRPr sz="1800" b="1">
                <a:solidFill>
                  <a:srgbClr val="20252B"/>
                </a:solidFill>
                <a:latin typeface="Segoe UI"/>
              </a:defRPr>
            </a:pPr>
            <a:r>
              <a:t>WALMART</a:t>
            </a:r>
          </a:p>
          <a:p>
            <a:pPr>
              <a:spcBef>
                <a:spcPts val="800"/>
              </a:spcBef>
              <a:defRPr sz="2600" b="1">
                <a:solidFill>
                  <a:srgbClr val="20252B"/>
                </a:solidFill>
                <a:latin typeface="Segoe UI"/>
              </a:defRPr>
            </a:pPr>
            <a:r>
              <a:t>421,570</a:t>
            </a:r>
          </a:p>
          <a:p>
            <a:pPr>
              <a:spcBef>
                <a:spcPts val="400"/>
              </a:spcBef>
              <a:defRPr sz="950">
                <a:solidFill>
                  <a:srgbClr val="626A73"/>
                </a:solidFill>
                <a:latin typeface="Segoe UI"/>
              </a:defRPr>
            </a:pPr>
            <a:r>
              <a:t>Weekly historical records across 45 stores and 81 departments.</a:t>
            </a:r>
          </a:p>
          <a:p>
            <a:pPr>
              <a:spcBef>
                <a:spcPts val="1200"/>
              </a:spcBef>
              <a:defRPr sz="850" b="1">
                <a:solidFill>
                  <a:srgbClr val="3B82F6"/>
                </a:solidFill>
                <a:latin typeface="Segoe UI"/>
              </a:defRPr>
            </a:pPr>
            <a:r>
              <a:t>PRIMARY PURPOSE:</a:t>
            </a:r>
          </a:p>
          <a:p>
            <a:pPr>
              <a:spcBef>
                <a:spcPts val="200"/>
              </a:spcBef>
              <a:defRPr sz="1100" b="1">
                <a:solidFill>
                  <a:srgbClr val="20252B"/>
                </a:solidFill>
                <a:latin typeface="Segoe UI"/>
              </a:defRPr>
            </a:pPr>
            <a:r>
              <a:t>DEMAND FORECASTING</a:t>
            </a:r>
          </a:p>
        </p:txBody>
      </p:sp>
      <p:sp>
        <p:nvSpPr>
          <p:cNvPr id="7" name="Rounded Rectangle 6"/>
          <p:cNvSpPr/>
          <p:nvPr/>
        </p:nvSpPr>
        <p:spPr>
          <a:xfrm>
            <a:off x="4403750" y="1645920"/>
            <a:ext cx="3383280" cy="3931920"/>
          </a:xfrm>
          <a:prstGeom prst="roundRect">
            <a:avLst/>
          </a:prstGeom>
          <a:solidFill>
            <a:srgbClr val="D9F3E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2350" y="1874519"/>
            <a:ext cx="2926080" cy="3566160"/>
          </a:xfrm>
          <a:prstGeom prst="rect">
            <a:avLst/>
          </a:prstGeom>
          <a:noFill/>
        </p:spPr>
        <p:txBody>
          <a:bodyPr wrap="square">
            <a:spAutoFit/>
          </a:bodyPr>
          <a:lstStyle/>
          <a:p>
            <a:pPr>
              <a:defRPr sz="900" b="1">
                <a:solidFill>
                  <a:srgbClr val="10B981"/>
                </a:solidFill>
                <a:latin typeface="Segoe UI"/>
              </a:defRPr>
            </a:pPr>
            <a:r>
              <a:t>PUBLIC EMPIRICAL DATA</a:t>
            </a:r>
          </a:p>
          <a:p>
            <a:pPr>
              <a:spcBef>
                <a:spcPts val="200"/>
              </a:spcBef>
              <a:defRPr sz="1800" b="1">
                <a:solidFill>
                  <a:srgbClr val="20252B"/>
                </a:solidFill>
                <a:latin typeface="Segoe UI"/>
              </a:defRPr>
            </a:pPr>
            <a:r>
              <a:t>DATACO</a:t>
            </a:r>
          </a:p>
          <a:p>
            <a:pPr>
              <a:spcBef>
                <a:spcPts val="800"/>
              </a:spcBef>
              <a:defRPr sz="2600" b="1">
                <a:solidFill>
                  <a:srgbClr val="20252B"/>
                </a:solidFill>
                <a:latin typeface="Segoe UI"/>
              </a:defRPr>
            </a:pPr>
            <a:r>
              <a:t>35,000+</a:t>
            </a:r>
          </a:p>
          <a:p>
            <a:pPr>
              <a:spcBef>
                <a:spcPts val="400"/>
              </a:spcBef>
              <a:defRPr sz="950">
                <a:solidFill>
                  <a:srgbClr val="626A73"/>
                </a:solidFill>
                <a:latin typeface="Segoe UI"/>
              </a:defRPr>
            </a:pPr>
            <a:r>
              <a:t>Representative shipments (180,519 corpus) with authentic delivery delay records.</a:t>
            </a:r>
          </a:p>
          <a:p>
            <a:pPr>
              <a:spcBef>
                <a:spcPts val="1200"/>
              </a:spcBef>
              <a:defRPr sz="850" b="1">
                <a:solidFill>
                  <a:srgbClr val="10B981"/>
                </a:solidFill>
                <a:latin typeface="Segoe UI"/>
              </a:defRPr>
            </a:pPr>
            <a:r>
              <a:t>PRIMARY PURPOSE:</a:t>
            </a:r>
          </a:p>
          <a:p>
            <a:pPr>
              <a:spcBef>
                <a:spcPts val="200"/>
              </a:spcBef>
              <a:defRPr sz="1100" b="1">
                <a:solidFill>
                  <a:srgbClr val="20252B"/>
                </a:solidFill>
                <a:latin typeface="Segoe UI"/>
              </a:defRPr>
            </a:pPr>
            <a:r>
              <a:t>SUPPLIER RISK + BEHAVIOR</a:t>
            </a:r>
          </a:p>
        </p:txBody>
      </p:sp>
      <p:sp>
        <p:nvSpPr>
          <p:cNvPr id="9" name="Rounded Rectangle 8"/>
          <p:cNvSpPr/>
          <p:nvPr/>
        </p:nvSpPr>
        <p:spPr>
          <a:xfrm>
            <a:off x="8075980" y="1645920"/>
            <a:ext cx="3383280" cy="3931920"/>
          </a:xfrm>
          <a:prstGeom prst="roundRect">
            <a:avLst/>
          </a:prstGeom>
          <a:solidFill>
            <a:srgbClr val="E9E1F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4580" y="1874519"/>
            <a:ext cx="2926080" cy="3566160"/>
          </a:xfrm>
          <a:prstGeom prst="rect">
            <a:avLst/>
          </a:prstGeom>
          <a:noFill/>
        </p:spPr>
        <p:txBody>
          <a:bodyPr wrap="square">
            <a:spAutoFit/>
          </a:bodyPr>
          <a:lstStyle/>
          <a:p>
            <a:pPr>
              <a:defRPr sz="900" b="1">
                <a:solidFill>
                  <a:srgbClr val="8B5CF6"/>
                </a:solidFill>
                <a:latin typeface="Segoe UI"/>
              </a:defRPr>
            </a:pPr>
            <a:r>
              <a:t>CALIBRATED SYNTHETIC</a:t>
            </a:r>
          </a:p>
          <a:p>
            <a:pPr>
              <a:spcBef>
                <a:spcPts val="200"/>
              </a:spcBef>
              <a:defRPr sz="1800" b="1">
                <a:solidFill>
                  <a:srgbClr val="20252B"/>
                </a:solidFill>
                <a:latin typeface="Segoe UI"/>
              </a:defRPr>
            </a:pPr>
            <a:r>
              <a:t>INDIAN TWIN</a:t>
            </a:r>
          </a:p>
          <a:p>
            <a:pPr>
              <a:spcBef>
                <a:spcPts val="800"/>
              </a:spcBef>
              <a:defRPr sz="2600" b="1">
                <a:solidFill>
                  <a:srgbClr val="20252B"/>
                </a:solidFill>
                <a:latin typeface="Segoe UI"/>
              </a:defRPr>
            </a:pPr>
            <a:r>
              <a:t>83 Nodes</a:t>
            </a:r>
          </a:p>
          <a:p>
            <a:pPr>
              <a:spcBef>
                <a:spcPts val="400"/>
              </a:spcBef>
              <a:defRPr sz="950">
                <a:solidFill>
                  <a:srgbClr val="626A73"/>
                </a:solidFill>
                <a:latin typeface="Segoe UI"/>
              </a:defRPr>
            </a:pPr>
            <a:r>
              <a:t>160 Corridors, 50,000 Orders, and 500 SKUs mapped across Indian freight corridors.</a:t>
            </a:r>
          </a:p>
          <a:p>
            <a:pPr>
              <a:spcBef>
                <a:spcPts val="1200"/>
              </a:spcBef>
              <a:defRPr sz="850" b="1">
                <a:solidFill>
                  <a:srgbClr val="8B5CF6"/>
                </a:solidFill>
                <a:latin typeface="Segoe UI"/>
              </a:defRPr>
            </a:pPr>
            <a:r>
              <a:t>PRIMARY PURPOSE:</a:t>
            </a:r>
          </a:p>
          <a:p>
            <a:pPr>
              <a:spcBef>
                <a:spcPts val="200"/>
              </a:spcBef>
              <a:defRPr sz="1100" b="1">
                <a:solidFill>
                  <a:srgbClr val="20252B"/>
                </a:solidFill>
                <a:latin typeface="Segoe UI"/>
              </a:defRPr>
            </a:pPr>
            <a:r>
              <a:t>SIMULATION &amp; OPTIMIZATION</a:t>
            </a:r>
          </a:p>
        </p:txBody>
      </p:sp>
      <p:sp>
        <p:nvSpPr>
          <p:cNvPr id="11" name="TextBox 10"/>
          <p:cNvSpPr txBox="1"/>
          <p:nvPr/>
        </p:nvSpPr>
        <p:spPr>
          <a:xfrm>
            <a:off x="731520" y="5715000"/>
            <a:ext cx="10728655" cy="457200"/>
          </a:xfrm>
          <a:prstGeom prst="rect">
            <a:avLst/>
          </a:prstGeom>
          <a:noFill/>
        </p:spPr>
        <p:txBody>
          <a:bodyPr wrap="none">
            <a:spAutoFit/>
          </a:bodyPr>
          <a:lstStyle/>
          <a:p>
            <a:pPr algn="ctr">
              <a:defRPr sz="950" i="1">
                <a:solidFill>
                  <a:srgbClr val="9299A1"/>
                </a:solidFill>
                <a:latin typeface="Segoe UI"/>
              </a:defRPr>
            </a:pPr>
            <a:r>
              <a:t>Academic Integrity: Empirical datasets ground the models; the Indian network is a simulated digital twin.</a:t>
            </a:r>
          </a:p>
        </p:txBody>
      </p:sp>
      <p:sp>
        <p:nvSpPr>
          <p:cNvPr id="12" name="TextBox 11"/>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4 of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05 / 13  •  DIGITAL TWIN TOPOLOGY</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A supply chain you can see, trace and stress-test.</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An 83-node, 160-corridor digital representation across five operational tiers.</a:t>
            </a:r>
          </a:p>
        </p:txBody>
      </p:sp>
      <p:pic>
        <p:nvPicPr>
          <p:cNvPr id="5" name="Picture 4" descr="pastel_supply_chain_twin.png"/>
          <p:cNvPicPr>
            <a:picLocks noChangeAspect="1"/>
          </p:cNvPicPr>
          <p:nvPr/>
        </p:nvPicPr>
        <p:blipFill>
          <a:blip r:embed="rId2"/>
          <a:stretch>
            <a:fillRect/>
          </a:stretch>
        </p:blipFill>
        <p:spPr>
          <a:xfrm>
            <a:off x="731520" y="1645920"/>
            <a:ext cx="7315200" cy="4480560"/>
          </a:xfrm>
          <a:prstGeom prst="rect">
            <a:avLst/>
          </a:prstGeom>
        </p:spPr>
      </p:pic>
      <p:sp>
        <p:nvSpPr>
          <p:cNvPr id="6" name="Rounded Rectangle 5"/>
          <p:cNvSpPr/>
          <p:nvPr/>
        </p:nvSpPr>
        <p:spPr>
          <a:xfrm>
            <a:off x="8351215" y="1645920"/>
            <a:ext cx="3108960" cy="1005840"/>
          </a:xfrm>
          <a:prstGeom prst="roundRect">
            <a:avLst/>
          </a:prstGeom>
          <a:solidFill>
            <a:srgbClr val="DCEBFA"/>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737360"/>
            <a:ext cx="2788920" cy="822960"/>
          </a:xfrm>
          <a:prstGeom prst="rect">
            <a:avLst/>
          </a:prstGeom>
          <a:noFill/>
        </p:spPr>
        <p:txBody>
          <a:bodyPr wrap="square">
            <a:spAutoFit/>
          </a:bodyPr>
          <a:lstStyle/>
          <a:p>
            <a:pPr>
              <a:defRPr sz="2000" b="1">
                <a:solidFill>
                  <a:srgbClr val="20252B"/>
                </a:solidFill>
                <a:latin typeface="Segoe UI"/>
              </a:defRPr>
            </a:pPr>
            <a:r>
              <a:t>83</a:t>
            </a:r>
          </a:p>
          <a:p>
            <a:pPr>
              <a:defRPr sz="850">
                <a:solidFill>
                  <a:srgbClr val="626A73"/>
                </a:solidFill>
                <a:latin typeface="Segoe UI"/>
              </a:defRPr>
            </a:pPr>
            <a:r>
              <a:t>Facility Nodes — Suppliers, plants, warehouses, hubs, zones</a:t>
            </a:r>
          </a:p>
        </p:txBody>
      </p:sp>
      <p:sp>
        <p:nvSpPr>
          <p:cNvPr id="8" name="Rounded Rectangle 7"/>
          <p:cNvSpPr/>
          <p:nvPr/>
        </p:nvSpPr>
        <p:spPr>
          <a:xfrm>
            <a:off x="8351215" y="2798064"/>
            <a:ext cx="3108960" cy="1005840"/>
          </a:xfrm>
          <a:prstGeom prst="roundRect">
            <a:avLst/>
          </a:prstGeom>
          <a:solidFill>
            <a:srgbClr val="D9F3E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0" y="2889504"/>
            <a:ext cx="2788920" cy="822960"/>
          </a:xfrm>
          <a:prstGeom prst="rect">
            <a:avLst/>
          </a:prstGeom>
          <a:noFill/>
        </p:spPr>
        <p:txBody>
          <a:bodyPr wrap="square">
            <a:spAutoFit/>
          </a:bodyPr>
          <a:lstStyle/>
          <a:p>
            <a:pPr>
              <a:defRPr sz="2000" b="1">
                <a:solidFill>
                  <a:srgbClr val="20252B"/>
                </a:solidFill>
                <a:latin typeface="Segoe UI"/>
              </a:defRPr>
            </a:pPr>
            <a:r>
              <a:t>160</a:t>
            </a:r>
          </a:p>
          <a:p>
            <a:pPr>
              <a:defRPr sz="850">
                <a:solidFill>
                  <a:srgbClr val="626A73"/>
                </a:solidFill>
                <a:latin typeface="Segoe UI"/>
              </a:defRPr>
            </a:pPr>
            <a:r>
              <a:t>Freight Corridors — Multimodal highway &amp; rail freight lanes</a:t>
            </a:r>
          </a:p>
        </p:txBody>
      </p:sp>
      <p:sp>
        <p:nvSpPr>
          <p:cNvPr id="10" name="Rounded Rectangle 9"/>
          <p:cNvSpPr/>
          <p:nvPr/>
        </p:nvSpPr>
        <p:spPr>
          <a:xfrm>
            <a:off x="8351215" y="3950208"/>
            <a:ext cx="3108960" cy="1005840"/>
          </a:xfrm>
          <a:prstGeom prst="roundRect">
            <a:avLst/>
          </a:prstGeom>
          <a:solidFill>
            <a:srgbClr val="E9E1F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4041648"/>
            <a:ext cx="2788920" cy="822960"/>
          </a:xfrm>
          <a:prstGeom prst="rect">
            <a:avLst/>
          </a:prstGeom>
          <a:noFill/>
        </p:spPr>
        <p:txBody>
          <a:bodyPr wrap="square">
            <a:spAutoFit/>
          </a:bodyPr>
          <a:lstStyle/>
          <a:p>
            <a:pPr>
              <a:defRPr sz="2000" b="1">
                <a:solidFill>
                  <a:srgbClr val="20252B"/>
                </a:solidFill>
                <a:latin typeface="Segoe UI"/>
              </a:defRPr>
            </a:pPr>
            <a:r>
              <a:t>30</a:t>
            </a:r>
          </a:p>
          <a:p>
            <a:pPr>
              <a:defRPr sz="850">
                <a:solidFill>
                  <a:srgbClr val="626A73"/>
                </a:solidFill>
                <a:latin typeface="Segoe UI"/>
              </a:defRPr>
            </a:pPr>
            <a:r>
              <a:t>Demand Zones — Tier-1 &amp; Tier-2 consumption centers</a:t>
            </a:r>
          </a:p>
        </p:txBody>
      </p:sp>
      <p:sp>
        <p:nvSpPr>
          <p:cNvPr id="12" name="Rounded Rectangle 11"/>
          <p:cNvSpPr/>
          <p:nvPr/>
        </p:nvSpPr>
        <p:spPr>
          <a:xfrm>
            <a:off x="8351215" y="5102352"/>
            <a:ext cx="3108960" cy="1005840"/>
          </a:xfrm>
          <a:prstGeom prst="roundRect">
            <a:avLst/>
          </a:prstGeom>
          <a:solidFill>
            <a:srgbClr val="FFF0C7"/>
          </a:solidFill>
          <a:ln w="1524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5193792"/>
            <a:ext cx="2788920" cy="822960"/>
          </a:xfrm>
          <a:prstGeom prst="rect">
            <a:avLst/>
          </a:prstGeom>
          <a:noFill/>
        </p:spPr>
        <p:txBody>
          <a:bodyPr wrap="square">
            <a:spAutoFit/>
          </a:bodyPr>
          <a:lstStyle/>
          <a:p>
            <a:pPr>
              <a:defRPr sz="2000" b="1">
                <a:solidFill>
                  <a:srgbClr val="20252B"/>
                </a:solidFill>
                <a:latin typeface="Segoe UI"/>
              </a:defRPr>
            </a:pPr>
            <a:r>
              <a:t>₹45.9M</a:t>
            </a:r>
          </a:p>
          <a:p>
            <a:pPr>
              <a:defRPr sz="850">
                <a:solidFill>
                  <a:srgbClr val="626A73"/>
                </a:solidFill>
                <a:latin typeface="Segoe UI"/>
              </a:defRPr>
            </a:pPr>
            <a:r>
              <a:t>Inventory Value — 500 SKUs tracked across central warehouses</a:t>
            </a:r>
          </a:p>
        </p:txBody>
      </p:sp>
      <p:sp>
        <p:nvSpPr>
          <p:cNvPr id="14" name="TextBox 13"/>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5 of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06 / 13  •  INTELLIGENCE LAYER</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Three models. Three questions.</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Machine learning detects the operational signal before failure cascades.</a:t>
            </a:r>
          </a:p>
        </p:txBody>
      </p:sp>
      <p:sp>
        <p:nvSpPr>
          <p:cNvPr id="5" name="Rounded Rectangle 4"/>
          <p:cNvSpPr/>
          <p:nvPr/>
        </p:nvSpPr>
        <p:spPr>
          <a:xfrm>
            <a:off x="731520" y="1645920"/>
            <a:ext cx="3383280" cy="3749039"/>
          </a:xfrm>
          <a:prstGeom prst="roundRect">
            <a:avLst/>
          </a:prstGeom>
          <a:solidFill>
            <a:srgbClr val="DCEBF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2926080" cy="3383279"/>
          </a:xfrm>
          <a:prstGeom prst="rect">
            <a:avLst/>
          </a:prstGeom>
          <a:noFill/>
        </p:spPr>
        <p:txBody>
          <a:bodyPr wrap="square">
            <a:spAutoFit/>
          </a:bodyPr>
          <a:lstStyle/>
          <a:p>
            <a:pPr>
              <a:defRPr sz="1100" b="1">
                <a:solidFill>
                  <a:srgbClr val="3B82F6"/>
                </a:solidFill>
                <a:latin typeface="Segoe UI"/>
              </a:defRPr>
            </a:pPr>
            <a:r>
              <a:t>01 — DEMAND FORECASTING</a:t>
            </a:r>
          </a:p>
          <a:p>
            <a:pPr>
              <a:spcBef>
                <a:spcPts val="400"/>
              </a:spcBef>
              <a:defRPr sz="1800" b="1">
                <a:solidFill>
                  <a:srgbClr val="20252B"/>
                </a:solidFill>
                <a:latin typeface="Segoe UI"/>
              </a:defRPr>
            </a:pPr>
            <a:r>
              <a:t>XGBoost Regressor</a:t>
            </a:r>
          </a:p>
          <a:p>
            <a:pPr>
              <a:spcBef>
                <a:spcPts val="1400"/>
              </a:spcBef>
              <a:defRPr sz="850" b="1">
                <a:solidFill>
                  <a:srgbClr val="3B82F6"/>
                </a:solidFill>
                <a:latin typeface="Segoe UI"/>
              </a:defRPr>
            </a:pPr>
            <a:r>
              <a:t>CORE QUESTION:</a:t>
            </a:r>
          </a:p>
          <a:p>
            <a:pPr>
              <a:spcBef>
                <a:spcPts val="200"/>
              </a:spcBef>
              <a:defRPr sz="1300" b="1">
                <a:solidFill>
                  <a:srgbClr val="20252B"/>
                </a:solidFill>
                <a:latin typeface="Segoe UI"/>
              </a:defRPr>
            </a:pPr>
            <a:r>
              <a:t>"How much will we need?"</a:t>
            </a:r>
          </a:p>
          <a:p>
            <a:pPr>
              <a:spcBef>
                <a:spcPts val="1400"/>
              </a:spcBef>
              <a:defRPr sz="850" b="1">
                <a:solidFill>
                  <a:srgbClr val="3B82F6"/>
                </a:solidFill>
                <a:latin typeface="Segoe UI"/>
              </a:defRPr>
            </a:pPr>
            <a:r>
              <a:t>OUTPUT SIGNAL:</a:t>
            </a:r>
          </a:p>
          <a:p>
            <a:pPr>
              <a:spcBef>
                <a:spcPts val="200"/>
              </a:spcBef>
              <a:defRPr sz="950">
                <a:solidFill>
                  <a:srgbClr val="626A73"/>
                </a:solidFill>
                <a:latin typeface="Segoe UI"/>
              </a:defRPr>
            </a:pPr>
            <a:r>
              <a:t>4-week multi-step demand forecast with seasonal confidence intervals.</a:t>
            </a:r>
          </a:p>
        </p:txBody>
      </p:sp>
      <p:sp>
        <p:nvSpPr>
          <p:cNvPr id="7" name="Rounded Rectangle 6"/>
          <p:cNvSpPr/>
          <p:nvPr/>
        </p:nvSpPr>
        <p:spPr>
          <a:xfrm>
            <a:off x="4403750" y="1645920"/>
            <a:ext cx="3383280" cy="3749039"/>
          </a:xfrm>
          <a:prstGeom prst="roundRect">
            <a:avLst/>
          </a:prstGeom>
          <a:solidFill>
            <a:srgbClr val="D9F3E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2350" y="1874519"/>
            <a:ext cx="2926080" cy="3383279"/>
          </a:xfrm>
          <a:prstGeom prst="rect">
            <a:avLst/>
          </a:prstGeom>
          <a:noFill/>
        </p:spPr>
        <p:txBody>
          <a:bodyPr wrap="square">
            <a:spAutoFit/>
          </a:bodyPr>
          <a:lstStyle/>
          <a:p>
            <a:pPr>
              <a:defRPr sz="1100" b="1">
                <a:solidFill>
                  <a:srgbClr val="10B981"/>
                </a:solidFill>
                <a:latin typeface="Segoe UI"/>
              </a:defRPr>
            </a:pPr>
            <a:r>
              <a:t>02 — SUPPLIER RISK</a:t>
            </a:r>
          </a:p>
          <a:p>
            <a:pPr>
              <a:spcBef>
                <a:spcPts val="400"/>
              </a:spcBef>
              <a:defRPr sz="1800" b="1">
                <a:solidFill>
                  <a:srgbClr val="20252B"/>
                </a:solidFill>
                <a:latin typeface="Segoe UI"/>
              </a:defRPr>
            </a:pPr>
            <a:r>
              <a:t>XGBoost Classifier</a:t>
            </a:r>
          </a:p>
          <a:p>
            <a:pPr>
              <a:spcBef>
                <a:spcPts val="1400"/>
              </a:spcBef>
              <a:defRPr sz="850" b="1">
                <a:solidFill>
                  <a:srgbClr val="10B981"/>
                </a:solidFill>
                <a:latin typeface="Segoe UI"/>
              </a:defRPr>
            </a:pPr>
            <a:r>
              <a:t>CORE QUESTION:</a:t>
            </a:r>
          </a:p>
          <a:p>
            <a:pPr>
              <a:spcBef>
                <a:spcPts val="200"/>
              </a:spcBef>
              <a:defRPr sz="1300" b="1">
                <a:solidFill>
                  <a:srgbClr val="20252B"/>
                </a:solidFill>
                <a:latin typeface="Segoe UI"/>
              </a:defRPr>
            </a:pPr>
            <a:r>
              <a:t>"Who is likely to fail?"</a:t>
            </a:r>
          </a:p>
          <a:p>
            <a:pPr>
              <a:spcBef>
                <a:spcPts val="1400"/>
              </a:spcBef>
              <a:defRPr sz="850" b="1">
                <a:solidFill>
                  <a:srgbClr val="10B981"/>
                </a:solidFill>
                <a:latin typeface="Segoe UI"/>
              </a:defRPr>
            </a:pPr>
            <a:r>
              <a:t>OUTPUT SIGNAL:</a:t>
            </a:r>
          </a:p>
          <a:p>
            <a:pPr>
              <a:spcBef>
                <a:spcPts val="200"/>
              </a:spcBef>
              <a:defRPr sz="950">
                <a:solidFill>
                  <a:srgbClr val="626A73"/>
                </a:solidFill>
                <a:latin typeface="Segoe UI"/>
              </a:defRPr>
            </a:pPr>
            <a:r>
              <a:t>Vendor disruption probability based on lead-time volatility and delay history.</a:t>
            </a:r>
          </a:p>
        </p:txBody>
      </p:sp>
      <p:sp>
        <p:nvSpPr>
          <p:cNvPr id="9" name="Rounded Rectangle 8"/>
          <p:cNvSpPr/>
          <p:nvPr/>
        </p:nvSpPr>
        <p:spPr>
          <a:xfrm>
            <a:off x="8075980" y="1645920"/>
            <a:ext cx="3383280" cy="3749039"/>
          </a:xfrm>
          <a:prstGeom prst="roundRect">
            <a:avLst/>
          </a:prstGeom>
          <a:solidFill>
            <a:srgbClr val="E9E1F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4580" y="1874519"/>
            <a:ext cx="2926080" cy="3383279"/>
          </a:xfrm>
          <a:prstGeom prst="rect">
            <a:avLst/>
          </a:prstGeom>
          <a:noFill/>
        </p:spPr>
        <p:txBody>
          <a:bodyPr wrap="square">
            <a:spAutoFit/>
          </a:bodyPr>
          <a:lstStyle/>
          <a:p>
            <a:pPr>
              <a:defRPr sz="1100" b="1">
                <a:solidFill>
                  <a:srgbClr val="8B5CF6"/>
                </a:solidFill>
                <a:latin typeface="Segoe UI"/>
              </a:defRPr>
            </a:pPr>
            <a:r>
              <a:t>03 — ANOMALY DETECTION</a:t>
            </a:r>
          </a:p>
          <a:p>
            <a:pPr>
              <a:spcBef>
                <a:spcPts val="400"/>
              </a:spcBef>
              <a:defRPr sz="1800" b="1">
                <a:solidFill>
                  <a:srgbClr val="20252B"/>
                </a:solidFill>
                <a:latin typeface="Segoe UI"/>
              </a:defRPr>
            </a:pPr>
            <a:r>
              <a:t>Isolation Forest</a:t>
            </a:r>
          </a:p>
          <a:p>
            <a:pPr>
              <a:spcBef>
                <a:spcPts val="1400"/>
              </a:spcBef>
              <a:defRPr sz="850" b="1">
                <a:solidFill>
                  <a:srgbClr val="8B5CF6"/>
                </a:solidFill>
                <a:latin typeface="Segoe UI"/>
              </a:defRPr>
            </a:pPr>
            <a:r>
              <a:t>CORE QUESTION:</a:t>
            </a:r>
          </a:p>
          <a:p>
            <a:pPr>
              <a:spcBef>
                <a:spcPts val="200"/>
              </a:spcBef>
              <a:defRPr sz="1300" b="1">
                <a:solidFill>
                  <a:srgbClr val="20252B"/>
                </a:solidFill>
                <a:latin typeface="Segoe UI"/>
              </a:defRPr>
            </a:pPr>
            <a:r>
              <a:t>"What looks unusual?"</a:t>
            </a:r>
          </a:p>
          <a:p>
            <a:pPr>
              <a:spcBef>
                <a:spcPts val="1400"/>
              </a:spcBef>
              <a:defRPr sz="850" b="1">
                <a:solidFill>
                  <a:srgbClr val="8B5CF6"/>
                </a:solidFill>
                <a:latin typeface="Segoe UI"/>
              </a:defRPr>
            </a:pPr>
            <a:r>
              <a:t>OUTPUT SIGNAL:</a:t>
            </a:r>
          </a:p>
          <a:p>
            <a:pPr>
              <a:spcBef>
                <a:spcPts val="200"/>
              </a:spcBef>
              <a:defRPr sz="950">
                <a:solidFill>
                  <a:srgbClr val="626A73"/>
                </a:solidFill>
                <a:latin typeface="Segoe UI"/>
              </a:defRPr>
            </a:pPr>
            <a:r>
              <a:t>Real-time unsupervised detection of sudden demand surges and transit outliers.</a:t>
            </a:r>
          </a:p>
        </p:txBody>
      </p:sp>
      <p:sp>
        <p:nvSpPr>
          <p:cNvPr id="11" name="Rounded Rectangle 10"/>
          <p:cNvSpPr/>
          <p:nvPr/>
        </p:nvSpPr>
        <p:spPr>
          <a:xfrm>
            <a:off x="1645920" y="5623560"/>
            <a:ext cx="8899855" cy="5943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5687568"/>
            <a:ext cx="8534095" cy="457200"/>
          </a:xfrm>
          <a:prstGeom prst="rect">
            <a:avLst/>
          </a:prstGeom>
          <a:noFill/>
        </p:spPr>
        <p:txBody>
          <a:bodyPr wrap="none">
            <a:spAutoFit/>
          </a:bodyPr>
          <a:lstStyle/>
          <a:p>
            <a:pPr algn="ctr">
              <a:defRPr sz="1100" b="1">
                <a:solidFill>
                  <a:srgbClr val="20252B"/>
                </a:solidFill>
                <a:latin typeface="Segoe UI"/>
              </a:defRPr>
            </a:pPr>
            <a:r>
              <a:t>ML detects the signal. NEXUS then traces its operational impact.</a:t>
            </a:r>
          </a:p>
        </p:txBody>
      </p:sp>
      <p:sp>
        <p:nvSpPr>
          <p:cNvPr id="13" name="TextBox 12"/>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6 of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07 / 13  •  EMPIRICAL BENCHMARKING</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Does the model actually improve the decision signal?</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Empirical out-of-sample evaluation against established industry baselines.</a:t>
            </a:r>
          </a:p>
        </p:txBody>
      </p:sp>
      <p:sp>
        <p:nvSpPr>
          <p:cNvPr id="5" name="Rounded Rectangle 4"/>
          <p:cNvSpPr/>
          <p:nvPr/>
        </p:nvSpPr>
        <p:spPr>
          <a:xfrm>
            <a:off x="731520" y="1645920"/>
            <a:ext cx="5120640" cy="44805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914400"/>
          </a:xfrm>
          <a:prstGeom prst="rect">
            <a:avLst/>
          </a:prstGeom>
          <a:noFill/>
        </p:spPr>
        <p:txBody>
          <a:bodyPr wrap="none">
            <a:spAutoFit/>
          </a:bodyPr>
          <a:lstStyle/>
          <a:p>
            <a:pPr>
              <a:defRPr sz="1100" b="1">
                <a:solidFill>
                  <a:srgbClr val="20252B"/>
                </a:solidFill>
                <a:latin typeface="Segoe UI"/>
              </a:defRPr>
            </a:pPr>
            <a:r>
              <a:t>DEMAND FORECASTING (WALMART DATASET)</a:t>
            </a:r>
          </a:p>
        </p:txBody>
      </p:sp>
      <p:graphicFrame>
        <p:nvGraphicFramePr>
          <p:cNvPr id="7" name="Table 6"/>
          <p:cNvGraphicFramePr>
            <a:graphicFrameLocks noGrp="1"/>
          </p:cNvGraphicFramePr>
          <p:nvPr/>
        </p:nvGraphicFramePr>
        <p:xfrm>
          <a:off x="960120" y="2331720"/>
          <a:ext cx="4663440" cy="1645920"/>
        </p:xfrm>
        <a:graphic>
          <a:graphicData uri="http://schemas.openxmlformats.org/drawingml/2006/table">
            <a:tbl>
              <a:tblPr firstRow="1" bandRow="1">
                <a:tableStyleId>{5C22544A-7EE6-4342-B048-85BDC9FD1C3A}</a:tableStyleId>
              </a:tblPr>
              <a:tblGrid>
                <a:gridCol w="1554480"/>
                <a:gridCol w="1554480"/>
                <a:gridCol w="1554480"/>
              </a:tblGrid>
              <a:tr h="411480">
                <a:tc>
                  <a:txBody>
                    <a:bodyPr wrap="square" lIns="73152" rIns="73152" tIns="36576" bIns="36576"/>
                    <a:lstStyle/>
                    <a:p>
                      <a:pPr>
                        <a:defRPr sz="950" b="1">
                          <a:solidFill>
                            <a:srgbClr val="626A73"/>
                          </a:solidFill>
                          <a:latin typeface="Segoe UI"/>
                        </a:defRPr>
                      </a:pPr>
                      <a:r>
                        <a:t>Model Architecture</a:t>
                      </a:r>
                    </a:p>
                  </a:txBody>
                  <a:tcPr>
                    <a:solidFill>
                      <a:srgbClr val="FFFDF9"/>
                    </a:solidFill>
                  </a:tcPr>
                </a:tc>
                <a:tc>
                  <a:txBody>
                    <a:bodyPr wrap="square" lIns="73152" rIns="73152" tIns="36576" bIns="36576"/>
                    <a:lstStyle/>
                    <a:p>
                      <a:pPr>
                        <a:defRPr sz="950" b="1">
                          <a:solidFill>
                            <a:srgbClr val="626A73"/>
                          </a:solidFill>
                          <a:latin typeface="Segoe UI"/>
                        </a:defRPr>
                      </a:pPr>
                      <a:r>
                        <a:t>RMSE</a:t>
                      </a:r>
                    </a:p>
                  </a:txBody>
                  <a:tcPr>
                    <a:solidFill>
                      <a:srgbClr val="FFFDF9"/>
                    </a:solidFill>
                  </a:tcPr>
                </a:tc>
                <a:tc>
                  <a:txBody>
                    <a:bodyPr wrap="square" lIns="73152" rIns="73152" tIns="36576" bIns="36576"/>
                    <a:lstStyle/>
                    <a:p>
                      <a:pPr>
                        <a:defRPr sz="950" b="1">
                          <a:solidFill>
                            <a:srgbClr val="626A73"/>
                          </a:solidFill>
                          <a:latin typeface="Segoe UI"/>
                        </a:defRPr>
                      </a:pPr>
                      <a:r>
                        <a:t>sMAPE</a:t>
                      </a:r>
                    </a:p>
                  </a:txBody>
                  <a:tcPr>
                    <a:solidFill>
                      <a:srgbClr val="FFFDF9"/>
                    </a:solidFill>
                  </a:tcPr>
                </a:tc>
              </a:tr>
              <a:tr h="411480">
                <a:tc>
                  <a:txBody>
                    <a:bodyPr wrap="square" lIns="73152" rIns="73152" tIns="36576" bIns="36576"/>
                    <a:lstStyle/>
                    <a:p>
                      <a:pPr>
                        <a:defRPr sz="900">
                          <a:solidFill>
                            <a:srgbClr val="20252B"/>
                          </a:solidFill>
                          <a:latin typeface="Segoe UI"/>
                        </a:defRPr>
                      </a:pPr>
                      <a:r>
                        <a:t>Naive Persistence</a:t>
                      </a:r>
                    </a:p>
                  </a:txBody>
                  <a:tcPr>
                    <a:solidFill>
                      <a:srgbClr val="FFFDF9"/>
                    </a:solidFill>
                  </a:tcPr>
                </a:tc>
                <a:tc>
                  <a:txBody>
                    <a:bodyPr wrap="square" lIns="73152" rIns="73152" tIns="36576" bIns="36576"/>
                    <a:lstStyle/>
                    <a:p>
                      <a:pPr>
                        <a:defRPr sz="900">
                          <a:solidFill>
                            <a:srgbClr val="626A73"/>
                          </a:solidFill>
                          <a:latin typeface="Segoe UI"/>
                        </a:defRPr>
                      </a:pPr>
                      <a:r>
                        <a:t>136,255.10</a:t>
                      </a:r>
                    </a:p>
                  </a:txBody>
                  <a:tcPr>
                    <a:solidFill>
                      <a:srgbClr val="FFFDF9"/>
                    </a:solidFill>
                  </a:tcPr>
                </a:tc>
                <a:tc>
                  <a:txBody>
                    <a:bodyPr wrap="square" lIns="73152" rIns="73152" tIns="36576" bIns="36576"/>
                    <a:lstStyle/>
                    <a:p>
                      <a:pPr>
                        <a:defRPr sz="900">
                          <a:solidFill>
                            <a:srgbClr val="626A73"/>
                          </a:solidFill>
                          <a:latin typeface="Segoe UI"/>
                        </a:defRPr>
                      </a:pPr>
                      <a:r>
                        <a:t>7.20%</a:t>
                      </a:r>
                    </a:p>
                  </a:txBody>
                  <a:tcPr>
                    <a:solidFill>
                      <a:srgbClr val="FFFDF9"/>
                    </a:solidFill>
                  </a:tcPr>
                </a:tc>
              </a:tr>
              <a:tr h="411480">
                <a:tc>
                  <a:txBody>
                    <a:bodyPr wrap="square" lIns="73152" rIns="73152" tIns="36576" bIns="36576"/>
                    <a:lstStyle/>
                    <a:p>
                      <a:pPr>
                        <a:defRPr sz="900">
                          <a:solidFill>
                            <a:srgbClr val="20252B"/>
                          </a:solidFill>
                          <a:latin typeface="Segoe UI"/>
                        </a:defRPr>
                      </a:pPr>
                      <a:r>
                        <a:t>4-Week Moving Average</a:t>
                      </a:r>
                    </a:p>
                  </a:txBody>
                  <a:tcPr>
                    <a:solidFill>
                      <a:srgbClr val="FAF8F3"/>
                    </a:solidFill>
                  </a:tcPr>
                </a:tc>
                <a:tc>
                  <a:txBody>
                    <a:bodyPr wrap="square" lIns="73152" rIns="73152" tIns="36576" bIns="36576"/>
                    <a:lstStyle/>
                    <a:p>
                      <a:pPr>
                        <a:defRPr sz="900">
                          <a:solidFill>
                            <a:srgbClr val="626A73"/>
                          </a:solidFill>
                          <a:latin typeface="Segoe UI"/>
                        </a:defRPr>
                      </a:pPr>
                      <a:r>
                        <a:t>153,446.84</a:t>
                      </a:r>
                    </a:p>
                  </a:txBody>
                  <a:tcPr>
                    <a:solidFill>
                      <a:srgbClr val="FAF8F3"/>
                    </a:solidFill>
                  </a:tcPr>
                </a:tc>
                <a:tc>
                  <a:txBody>
                    <a:bodyPr wrap="square" lIns="73152" rIns="73152" tIns="36576" bIns="36576"/>
                    <a:lstStyle/>
                    <a:p>
                      <a:pPr>
                        <a:defRPr sz="900">
                          <a:solidFill>
                            <a:srgbClr val="626A73"/>
                          </a:solidFill>
                          <a:latin typeface="Segoe UI"/>
                        </a:defRPr>
                      </a:pPr>
                      <a:r>
                        <a:t>8.42%</a:t>
                      </a:r>
                    </a:p>
                  </a:txBody>
                  <a:tcPr>
                    <a:solidFill>
                      <a:srgbClr val="FAF8F3"/>
                    </a:solidFill>
                  </a:tcPr>
                </a:tc>
              </a:tr>
              <a:tr h="411480">
                <a:tc>
                  <a:txBody>
                    <a:bodyPr wrap="square" lIns="73152" rIns="73152" tIns="36576" bIns="36576"/>
                    <a:lstStyle/>
                    <a:p>
                      <a:pPr>
                        <a:defRPr sz="900" b="1">
                          <a:solidFill>
                            <a:srgbClr val="20252B"/>
                          </a:solidFill>
                          <a:latin typeface="Segoe UI"/>
                        </a:defRPr>
                      </a:pPr>
                      <a:r>
                        <a:t>XGBoost (NEXUS Model)</a:t>
                      </a:r>
                    </a:p>
                  </a:txBody>
                  <a:tcPr>
                    <a:solidFill>
                      <a:srgbClr val="D9F3EE"/>
                    </a:solidFill>
                  </a:tcPr>
                </a:tc>
                <a:tc>
                  <a:txBody>
                    <a:bodyPr wrap="square" lIns="73152" rIns="73152" tIns="36576" bIns="36576"/>
                    <a:lstStyle/>
                    <a:p>
                      <a:pPr>
                        <a:defRPr sz="900" b="1">
                          <a:solidFill>
                            <a:srgbClr val="10B981"/>
                          </a:solidFill>
                          <a:latin typeface="Segoe UI"/>
                        </a:defRPr>
                      </a:pPr>
                      <a:r>
                        <a:t>96,042.50</a:t>
                      </a:r>
                    </a:p>
                  </a:txBody>
                  <a:tcPr>
                    <a:solidFill>
                      <a:srgbClr val="D9F3EE"/>
                    </a:solidFill>
                  </a:tcPr>
                </a:tc>
                <a:tc>
                  <a:txBody>
                    <a:bodyPr wrap="square" lIns="73152" rIns="73152" tIns="36576" bIns="36576"/>
                    <a:lstStyle/>
                    <a:p>
                      <a:pPr>
                        <a:defRPr sz="900" b="1">
                          <a:solidFill>
                            <a:srgbClr val="10B981"/>
                          </a:solidFill>
                          <a:latin typeface="Segoe UI"/>
                        </a:defRPr>
                      </a:pPr>
                      <a:r>
                        <a:t>4.35%</a:t>
                      </a:r>
                    </a:p>
                  </a:txBody>
                  <a:tcPr>
                    <a:solidFill>
                      <a:srgbClr val="D9F3EE"/>
                    </a:solidFill>
                  </a:tcPr>
                </a:tc>
              </a:tr>
            </a:tbl>
          </a:graphicData>
        </a:graphic>
      </p:graphicFrame>
      <p:sp>
        <p:nvSpPr>
          <p:cNvPr id="8" name="Rounded Rectangle 7"/>
          <p:cNvSpPr/>
          <p:nvPr/>
        </p:nvSpPr>
        <p:spPr>
          <a:xfrm>
            <a:off x="960120" y="4389120"/>
            <a:ext cx="4663440" cy="1371600"/>
          </a:xfrm>
          <a:prstGeom prst="roundRect">
            <a:avLst/>
          </a:prstGeom>
          <a:solidFill>
            <a:srgbClr val="D9F3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526280"/>
            <a:ext cx="4389120" cy="1097280"/>
          </a:xfrm>
          <a:prstGeom prst="rect">
            <a:avLst/>
          </a:prstGeom>
          <a:noFill/>
        </p:spPr>
        <p:txBody>
          <a:bodyPr wrap="none">
            <a:spAutoFit/>
          </a:bodyPr>
          <a:lstStyle/>
          <a:p>
            <a:pPr>
              <a:defRPr sz="1600" b="1">
                <a:solidFill>
                  <a:srgbClr val="20252B"/>
                </a:solidFill>
                <a:latin typeface="Segoe UI"/>
              </a:defRPr>
            </a:pPr>
            <a:r>
              <a:t>29.51% RMSE Reduction</a:t>
            </a:r>
          </a:p>
          <a:p>
            <a:pPr>
              <a:spcBef>
                <a:spcPts val="300"/>
              </a:spcBef>
              <a:defRPr sz="850">
                <a:solidFill>
                  <a:srgbClr val="626A73"/>
                </a:solidFill>
                <a:latin typeface="Segoe UI"/>
              </a:defRPr>
            </a:pPr>
            <a:r>
              <a:t>XGBoost lowers forecasting error by 29.51% over Naive persistence and 37.41% over 4-Week Moving Average, significantly dampening the Bullwhip effect.</a:t>
            </a:r>
          </a:p>
        </p:txBody>
      </p:sp>
      <p:sp>
        <p:nvSpPr>
          <p:cNvPr id="10" name="Rounded Rectangle 9"/>
          <p:cNvSpPr/>
          <p:nvPr/>
        </p:nvSpPr>
        <p:spPr>
          <a:xfrm>
            <a:off x="6217920" y="1645920"/>
            <a:ext cx="5242255" cy="44805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28800"/>
            <a:ext cx="4754880" cy="914400"/>
          </a:xfrm>
          <a:prstGeom prst="rect">
            <a:avLst/>
          </a:prstGeom>
          <a:noFill/>
        </p:spPr>
        <p:txBody>
          <a:bodyPr wrap="none">
            <a:spAutoFit/>
          </a:bodyPr>
          <a:lstStyle/>
          <a:p>
            <a:pPr>
              <a:defRPr sz="1100" b="1">
                <a:solidFill>
                  <a:srgbClr val="20252B"/>
                </a:solidFill>
                <a:latin typeface="Segoe UI"/>
              </a:defRPr>
            </a:pPr>
            <a:r>
              <a:t>SUPPLIER RISK (DATACO / 10 UNSEEN VENDORS)</a:t>
            </a:r>
          </a:p>
        </p:txBody>
      </p:sp>
      <p:graphicFrame>
        <p:nvGraphicFramePr>
          <p:cNvPr id="12" name="Table 11"/>
          <p:cNvGraphicFramePr>
            <a:graphicFrameLocks noGrp="1"/>
          </p:cNvGraphicFramePr>
          <p:nvPr/>
        </p:nvGraphicFramePr>
        <p:xfrm>
          <a:off x="6446520" y="2331720"/>
          <a:ext cx="4754880" cy="1371600"/>
        </p:xfrm>
        <a:graphic>
          <a:graphicData uri="http://schemas.openxmlformats.org/drawingml/2006/table">
            <a:tbl>
              <a:tblPr firstRow="1" bandRow="1">
                <a:tableStyleId>{5C22544A-7EE6-4342-B048-85BDC9FD1C3A}</a:tableStyleId>
              </a:tblPr>
              <a:tblGrid>
                <a:gridCol w="1188720"/>
                <a:gridCol w="1188720"/>
                <a:gridCol w="1188720"/>
                <a:gridCol w="1188720"/>
              </a:tblGrid>
              <a:tr h="457200">
                <a:tc>
                  <a:txBody>
                    <a:bodyPr wrap="square" lIns="73152" rIns="73152" tIns="36576" bIns="36576"/>
                    <a:lstStyle/>
                    <a:p>
                      <a:pPr>
                        <a:defRPr sz="950" b="1">
                          <a:solidFill>
                            <a:srgbClr val="626A73"/>
                          </a:solidFill>
                          <a:latin typeface="Segoe UI"/>
                        </a:defRPr>
                      </a:pPr>
                      <a:r>
                        <a:t>Model Architecture</a:t>
                      </a:r>
                    </a:p>
                  </a:txBody>
                  <a:tcPr>
                    <a:solidFill>
                      <a:srgbClr val="FFFDF9"/>
                    </a:solidFill>
                  </a:tcPr>
                </a:tc>
                <a:tc>
                  <a:txBody>
                    <a:bodyPr wrap="square" lIns="73152" rIns="73152" tIns="36576" bIns="36576"/>
                    <a:lstStyle/>
                    <a:p>
                      <a:pPr>
                        <a:defRPr sz="950" b="1">
                          <a:solidFill>
                            <a:srgbClr val="626A73"/>
                          </a:solidFill>
                          <a:latin typeface="Segoe UI"/>
                        </a:defRPr>
                      </a:pPr>
                      <a:r>
                        <a:t>Precision</a:t>
                      </a:r>
                    </a:p>
                  </a:txBody>
                  <a:tcPr>
                    <a:solidFill>
                      <a:srgbClr val="FFFDF9"/>
                    </a:solidFill>
                  </a:tcPr>
                </a:tc>
                <a:tc>
                  <a:txBody>
                    <a:bodyPr wrap="square" lIns="73152" rIns="73152" tIns="36576" bIns="36576"/>
                    <a:lstStyle/>
                    <a:p>
                      <a:pPr>
                        <a:defRPr sz="950" b="1">
                          <a:solidFill>
                            <a:srgbClr val="626A73"/>
                          </a:solidFill>
                          <a:latin typeface="Segoe UI"/>
                        </a:defRPr>
                      </a:pPr>
                      <a:r>
                        <a:t>Recall</a:t>
                      </a:r>
                    </a:p>
                  </a:txBody>
                  <a:tcPr>
                    <a:solidFill>
                      <a:srgbClr val="FFFDF9"/>
                    </a:solidFill>
                  </a:tcPr>
                </a:tc>
                <a:tc>
                  <a:txBody>
                    <a:bodyPr wrap="square" lIns="73152" rIns="73152" tIns="36576" bIns="36576"/>
                    <a:lstStyle/>
                    <a:p>
                      <a:pPr>
                        <a:defRPr sz="950" b="1">
                          <a:solidFill>
                            <a:srgbClr val="626A73"/>
                          </a:solidFill>
                          <a:latin typeface="Segoe UI"/>
                        </a:defRPr>
                      </a:pPr>
                      <a:r>
                        <a:t>F1</a:t>
                      </a:r>
                    </a:p>
                  </a:txBody>
                  <a:tcPr>
                    <a:solidFill>
                      <a:srgbClr val="FFFDF9"/>
                    </a:solidFill>
                  </a:tcPr>
                </a:tc>
              </a:tr>
              <a:tr h="457200">
                <a:tc>
                  <a:txBody>
                    <a:bodyPr wrap="square" lIns="73152" rIns="73152" tIns="36576" bIns="36576"/>
                    <a:lstStyle/>
                    <a:p>
                      <a:pPr>
                        <a:defRPr sz="900">
                          <a:solidFill>
                            <a:srgbClr val="20252B"/>
                          </a:solidFill>
                          <a:latin typeface="Segoe UI"/>
                        </a:defRPr>
                      </a:pPr>
                      <a:r>
                        <a:t>Logistic Regression</a:t>
                      </a:r>
                    </a:p>
                  </a:txBody>
                  <a:tcPr>
                    <a:solidFill>
                      <a:srgbClr val="FFFDF9"/>
                    </a:solidFill>
                  </a:tcPr>
                </a:tc>
                <a:tc>
                  <a:txBody>
                    <a:bodyPr wrap="square" lIns="73152" rIns="73152" tIns="36576" bIns="36576"/>
                    <a:lstStyle/>
                    <a:p>
                      <a:pPr>
                        <a:defRPr sz="900">
                          <a:solidFill>
                            <a:srgbClr val="626A73"/>
                          </a:solidFill>
                          <a:latin typeface="Segoe UI"/>
                        </a:defRPr>
                      </a:pPr>
                      <a:r>
                        <a:t>0.7531</a:t>
                      </a:r>
                    </a:p>
                  </a:txBody>
                  <a:tcPr>
                    <a:solidFill>
                      <a:srgbClr val="FFFDF9"/>
                    </a:solidFill>
                  </a:tcPr>
                </a:tc>
                <a:tc>
                  <a:txBody>
                    <a:bodyPr wrap="square" lIns="73152" rIns="73152" tIns="36576" bIns="36576"/>
                    <a:lstStyle/>
                    <a:p>
                      <a:pPr>
                        <a:defRPr sz="900">
                          <a:solidFill>
                            <a:srgbClr val="626A73"/>
                          </a:solidFill>
                          <a:latin typeface="Segoe UI"/>
                        </a:defRPr>
                      </a:pPr>
                      <a:r>
                        <a:t>0.7349</a:t>
                      </a:r>
                    </a:p>
                  </a:txBody>
                  <a:tcPr>
                    <a:solidFill>
                      <a:srgbClr val="FFFDF9"/>
                    </a:solidFill>
                  </a:tcPr>
                </a:tc>
                <a:tc>
                  <a:txBody>
                    <a:bodyPr wrap="square" lIns="73152" rIns="73152" tIns="36576" bIns="36576"/>
                    <a:lstStyle/>
                    <a:p>
                      <a:pPr>
                        <a:defRPr sz="900">
                          <a:solidFill>
                            <a:srgbClr val="626A73"/>
                          </a:solidFill>
                          <a:latin typeface="Segoe UI"/>
                        </a:defRPr>
                      </a:pPr>
                      <a:r>
                        <a:t>0.7439</a:t>
                      </a:r>
                    </a:p>
                  </a:txBody>
                  <a:tcPr>
                    <a:solidFill>
                      <a:srgbClr val="FFFDF9"/>
                    </a:solidFill>
                  </a:tcPr>
                </a:tc>
              </a:tr>
              <a:tr h="457200">
                <a:tc>
                  <a:txBody>
                    <a:bodyPr wrap="square" lIns="73152" rIns="73152" tIns="36576" bIns="36576"/>
                    <a:lstStyle/>
                    <a:p>
                      <a:pPr>
                        <a:defRPr sz="900" b="1">
                          <a:solidFill>
                            <a:srgbClr val="20252B"/>
                          </a:solidFill>
                          <a:latin typeface="Segoe UI"/>
                        </a:defRPr>
                      </a:pPr>
                      <a:r>
                        <a:t>XGBoost (NEXUS Model)</a:t>
                      </a:r>
                    </a:p>
                  </a:txBody>
                  <a:tcPr>
                    <a:solidFill>
                      <a:srgbClr val="DCEBFA"/>
                    </a:solidFill>
                  </a:tcPr>
                </a:tc>
                <a:tc>
                  <a:txBody>
                    <a:bodyPr wrap="square" lIns="73152" rIns="73152" tIns="36576" bIns="36576"/>
                    <a:lstStyle/>
                    <a:p>
                      <a:pPr>
                        <a:defRPr sz="900" b="1">
                          <a:solidFill>
                            <a:srgbClr val="3B82F6"/>
                          </a:solidFill>
                          <a:latin typeface="Segoe UI"/>
                        </a:defRPr>
                      </a:pPr>
                      <a:r>
                        <a:t>0.7442</a:t>
                      </a:r>
                    </a:p>
                  </a:txBody>
                  <a:tcPr>
                    <a:solidFill>
                      <a:srgbClr val="DCEBFA"/>
                    </a:solidFill>
                  </a:tcPr>
                </a:tc>
                <a:tc>
                  <a:txBody>
                    <a:bodyPr wrap="square" lIns="73152" rIns="73152" tIns="36576" bIns="36576"/>
                    <a:lstStyle/>
                    <a:p>
                      <a:pPr>
                        <a:defRPr sz="900" b="1">
                          <a:solidFill>
                            <a:srgbClr val="3B82F6"/>
                          </a:solidFill>
                          <a:latin typeface="Segoe UI"/>
                        </a:defRPr>
                      </a:pPr>
                      <a:r>
                        <a:t>0.7711</a:t>
                      </a:r>
                    </a:p>
                  </a:txBody>
                  <a:tcPr>
                    <a:solidFill>
                      <a:srgbClr val="DCEBFA"/>
                    </a:solidFill>
                  </a:tcPr>
                </a:tc>
                <a:tc>
                  <a:txBody>
                    <a:bodyPr wrap="square" lIns="73152" rIns="73152" tIns="36576" bIns="36576"/>
                    <a:lstStyle/>
                    <a:p>
                      <a:pPr>
                        <a:defRPr sz="900" b="1">
                          <a:solidFill>
                            <a:srgbClr val="3B82F6"/>
                          </a:solidFill>
                          <a:latin typeface="Segoe UI"/>
                        </a:defRPr>
                      </a:pPr>
                      <a:r>
                        <a:t>0.7574</a:t>
                      </a:r>
                    </a:p>
                  </a:txBody>
                  <a:tcPr>
                    <a:solidFill>
                      <a:srgbClr val="DCEBFA"/>
                    </a:solidFill>
                  </a:tcPr>
                </a:tc>
              </a:tr>
            </a:tbl>
          </a:graphicData>
        </a:graphic>
      </p:graphicFrame>
      <p:sp>
        <p:nvSpPr>
          <p:cNvPr id="13" name="Rounded Rectangle 12"/>
          <p:cNvSpPr/>
          <p:nvPr/>
        </p:nvSpPr>
        <p:spPr>
          <a:xfrm>
            <a:off x="6446520" y="4389120"/>
            <a:ext cx="4754880" cy="1371600"/>
          </a:xfrm>
          <a:prstGeom prst="roundRect">
            <a:avLst/>
          </a:prstGeom>
          <a:solidFill>
            <a:srgbClr val="DCEBF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526280"/>
            <a:ext cx="4480560" cy="1097280"/>
          </a:xfrm>
          <a:prstGeom prst="rect">
            <a:avLst/>
          </a:prstGeom>
          <a:noFill/>
        </p:spPr>
        <p:txBody>
          <a:bodyPr wrap="none">
            <a:spAutoFit/>
          </a:bodyPr>
          <a:lstStyle/>
          <a:p>
            <a:pPr>
              <a:defRPr sz="1600" b="1">
                <a:solidFill>
                  <a:srgbClr val="20252B"/>
                </a:solidFill>
                <a:latin typeface="Segoe UI"/>
              </a:defRPr>
            </a:pPr>
            <a:r>
              <a:t>77.11% Out-of-Sample Recall</a:t>
            </a:r>
          </a:p>
          <a:p>
            <a:pPr>
              <a:spcBef>
                <a:spcPts val="300"/>
              </a:spcBef>
              <a:defRPr sz="850">
                <a:solidFill>
                  <a:srgbClr val="626A73"/>
                </a:solidFill>
                <a:latin typeface="Segoe UI"/>
              </a:defRPr>
            </a:pPr>
            <a:r>
              <a:t>Evaluated via GroupShuffleSplit on 10 completely unseen vendors. High recall ensures early warning of supply failure where missing a disruption carries massive penalty costs.</a:t>
            </a:r>
          </a:p>
        </p:txBody>
      </p:sp>
      <p:sp>
        <p:nvSpPr>
          <p:cNvPr id="15" name="TextBox 14"/>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7 of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08 / 13  •  DECISION MATRIX</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From signal → impact → action</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Prediction alone does not make decisions; NEXUS connects signals to operational responses.</a:t>
            </a:r>
          </a:p>
        </p:txBody>
      </p:sp>
      <p:sp>
        <p:nvSpPr>
          <p:cNvPr id="5" name="Rounded Rectangle 4"/>
          <p:cNvSpPr/>
          <p:nvPr/>
        </p:nvSpPr>
        <p:spPr>
          <a:xfrm>
            <a:off x="731520" y="1645920"/>
            <a:ext cx="10728655" cy="365760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828800"/>
          <a:ext cx="10362895" cy="3108960"/>
        </p:xfrm>
        <a:graphic>
          <a:graphicData uri="http://schemas.openxmlformats.org/drawingml/2006/table">
            <a:tbl>
              <a:tblPr firstRow="1" bandRow="1">
                <a:tableStyleId>{5C22544A-7EE6-4342-B048-85BDC9FD1C3A}</a:tableStyleId>
              </a:tblPr>
              <a:tblGrid>
                <a:gridCol w="3017520"/>
                <a:gridCol w="3657600"/>
                <a:gridCol w="3687775"/>
              </a:tblGrid>
              <a:tr h="518160">
                <a:tc>
                  <a:txBody>
                    <a:bodyPr wrap="square" lIns="73152" rIns="73152" tIns="36576" bIns="36576"/>
                    <a:lstStyle/>
                    <a:p>
                      <a:pPr>
                        <a:defRPr sz="950" b="1">
                          <a:solidFill>
                            <a:srgbClr val="626A73"/>
                          </a:solidFill>
                          <a:latin typeface="Segoe UI"/>
                        </a:defRPr>
                      </a:pPr>
                      <a:r>
                        <a:t>Signal Detected</a:t>
                      </a:r>
                    </a:p>
                  </a:txBody>
                  <a:tcPr>
                    <a:solidFill>
                      <a:srgbClr val="FFFDF9"/>
                    </a:solidFill>
                  </a:tcPr>
                </a:tc>
                <a:tc>
                  <a:txBody>
                    <a:bodyPr wrap="square" lIns="73152" rIns="73152" tIns="36576" bIns="36576"/>
                    <a:lstStyle/>
                    <a:p>
                      <a:pPr>
                        <a:defRPr sz="950" b="1">
                          <a:solidFill>
                            <a:srgbClr val="626A73"/>
                          </a:solidFill>
                          <a:latin typeface="Segoe UI"/>
                        </a:defRPr>
                      </a:pPr>
                      <a:r>
                        <a:t>Operational Meaning</a:t>
                      </a:r>
                    </a:p>
                  </a:txBody>
                  <a:tcPr>
                    <a:solidFill>
                      <a:srgbClr val="FFFDF9"/>
                    </a:solidFill>
                  </a:tcPr>
                </a:tc>
                <a:tc>
                  <a:txBody>
                    <a:bodyPr wrap="square" lIns="73152" rIns="73152" tIns="36576" bIns="36576"/>
                    <a:lstStyle/>
                    <a:p>
                      <a:pPr>
                        <a:defRPr sz="950" b="1">
                          <a:solidFill>
                            <a:srgbClr val="626A73"/>
                          </a:solidFill>
                          <a:latin typeface="Segoe UI"/>
                        </a:defRPr>
                      </a:pPr>
                      <a:r>
                        <a:t>NEXUS Prescriptive Response</a:t>
                      </a:r>
                    </a:p>
                  </a:txBody>
                  <a:tcPr>
                    <a:solidFill>
                      <a:srgbClr val="FFFDF9"/>
                    </a:solidFill>
                  </a:tcPr>
                </a:tc>
              </a:tr>
              <a:tr h="518160">
                <a:tc>
                  <a:txBody>
                    <a:bodyPr wrap="square" lIns="73152" rIns="73152" tIns="36576" bIns="36576"/>
                    <a:lstStyle/>
                    <a:p>
                      <a:pPr>
                        <a:defRPr sz="900">
                          <a:solidFill>
                            <a:srgbClr val="20252B"/>
                          </a:solidFill>
                          <a:latin typeface="Segoe UI"/>
                        </a:defRPr>
                      </a:pPr>
                      <a:r>
                        <a:t>● Demand surge</a:t>
                      </a:r>
                    </a:p>
                  </a:txBody>
                  <a:tcPr>
                    <a:solidFill>
                      <a:srgbClr val="FFFDF9"/>
                    </a:solidFill>
                  </a:tcPr>
                </a:tc>
                <a:tc>
                  <a:txBody>
                    <a:bodyPr wrap="square" lIns="73152" rIns="73152" tIns="36576" bIns="36576"/>
                    <a:lstStyle/>
                    <a:p>
                      <a:pPr>
                        <a:defRPr sz="900">
                          <a:solidFill>
                            <a:srgbClr val="626A73"/>
                          </a:solidFill>
                          <a:latin typeface="Segoe UI"/>
                        </a:defRPr>
                      </a:pPr>
                      <a:r>
                        <a:t>Safety stock may deplete prematurely</a:t>
                      </a:r>
                    </a:p>
                  </a:txBody>
                  <a:tcPr>
                    <a:solidFill>
                      <a:srgbClr val="FFFDF9"/>
                    </a:solidFill>
                  </a:tcPr>
                </a:tc>
                <a:tc>
                  <a:txBody>
                    <a:bodyPr wrap="square" lIns="73152" rIns="73152" tIns="36576" bIns="36576"/>
                    <a:lstStyle/>
                    <a:p>
                      <a:pPr>
                        <a:defRPr sz="900">
                          <a:solidFill>
                            <a:srgbClr val="626A73"/>
                          </a:solidFill>
                          <a:latin typeface="Segoe UI"/>
                        </a:defRPr>
                      </a:pPr>
                      <a:r>
                        <a:t>Dynamically increase procurement allocations</a:t>
                      </a:r>
                    </a:p>
                  </a:txBody>
                  <a:tcPr>
                    <a:solidFill>
                      <a:srgbClr val="FFFDF9"/>
                    </a:solidFill>
                  </a:tcPr>
                </a:tc>
              </a:tr>
              <a:tr h="518160">
                <a:tc>
                  <a:txBody>
                    <a:bodyPr wrap="square" lIns="73152" rIns="73152" tIns="36576" bIns="36576"/>
                    <a:lstStyle/>
                    <a:p>
                      <a:pPr>
                        <a:defRPr sz="900">
                          <a:solidFill>
                            <a:srgbClr val="20252B"/>
                          </a:solidFill>
                          <a:latin typeface="Segoe UI"/>
                        </a:defRPr>
                      </a:pPr>
                      <a:r>
                        <a:t>● Supplier capacity loss</a:t>
                      </a:r>
                    </a:p>
                  </a:txBody>
                  <a:tcPr>
                    <a:solidFill>
                      <a:srgbClr val="FAF8F3"/>
                    </a:solidFill>
                  </a:tcPr>
                </a:tc>
                <a:tc>
                  <a:txBody>
                    <a:bodyPr wrap="square" lIns="73152" rIns="73152" tIns="36576" bIns="36576"/>
                    <a:lstStyle/>
                    <a:p>
                      <a:pPr>
                        <a:defRPr sz="900">
                          <a:solidFill>
                            <a:srgbClr val="626A73"/>
                          </a:solidFill>
                          <a:latin typeface="Segoe UI"/>
                        </a:defRPr>
                      </a:pPr>
                      <a:r>
                        <a:t>Critical component shortage risk</a:t>
                      </a:r>
                    </a:p>
                  </a:txBody>
                  <a:tcPr>
                    <a:solidFill>
                      <a:srgbClr val="FAF8F3"/>
                    </a:solidFill>
                  </a:tcPr>
                </a:tc>
                <a:tc>
                  <a:txBody>
                    <a:bodyPr wrap="square" lIns="73152" rIns="73152" tIns="36576" bIns="36576"/>
                    <a:lstStyle/>
                    <a:p>
                      <a:pPr>
                        <a:defRPr sz="900">
                          <a:solidFill>
                            <a:srgbClr val="626A73"/>
                          </a:solidFill>
                          <a:latin typeface="Segoe UI"/>
                        </a:defRPr>
                      </a:pPr>
                      <a:r>
                        <a:t>Shift sourcing to qualified secondary vendors</a:t>
                      </a:r>
                    </a:p>
                  </a:txBody>
                  <a:tcPr>
                    <a:solidFill>
                      <a:srgbClr val="FAF8F3"/>
                    </a:solidFill>
                  </a:tcPr>
                </a:tc>
              </a:tr>
              <a:tr h="518160">
                <a:tc>
                  <a:txBody>
                    <a:bodyPr wrap="square" lIns="73152" rIns="73152" tIns="36576" bIns="36576"/>
                    <a:lstStyle/>
                    <a:p>
                      <a:pPr>
                        <a:defRPr sz="900">
                          <a:solidFill>
                            <a:srgbClr val="20252B"/>
                          </a:solidFill>
                          <a:latin typeface="Segoe UI"/>
                        </a:defRPr>
                      </a:pPr>
                      <a:r>
                        <a:t>● Route delay / blockage</a:t>
                      </a:r>
                    </a:p>
                  </a:txBody>
                  <a:tcPr>
                    <a:solidFill>
                      <a:srgbClr val="FFFDF9"/>
                    </a:solidFill>
                  </a:tcPr>
                </a:tc>
                <a:tc>
                  <a:txBody>
                    <a:bodyPr wrap="square" lIns="73152" rIns="73152" tIns="36576" bIns="36576"/>
                    <a:lstStyle/>
                    <a:p>
                      <a:pPr>
                        <a:defRPr sz="900">
                          <a:solidFill>
                            <a:srgbClr val="626A73"/>
                          </a:solidFill>
                          <a:latin typeface="Segoe UI"/>
                        </a:defRPr>
                      </a:pPr>
                      <a:r>
                        <a:t>Transit lead-time increases by 2-5 days</a:t>
                      </a:r>
                    </a:p>
                  </a:txBody>
                  <a:tcPr>
                    <a:solidFill>
                      <a:srgbClr val="FFFDF9"/>
                    </a:solidFill>
                  </a:tcPr>
                </a:tc>
                <a:tc>
                  <a:txBody>
                    <a:bodyPr wrap="square" lIns="73152" rIns="73152" tIns="36576" bIns="36576"/>
                    <a:lstStyle/>
                    <a:p>
                      <a:pPr>
                        <a:defRPr sz="900">
                          <a:solidFill>
                            <a:srgbClr val="626A73"/>
                          </a:solidFill>
                          <a:latin typeface="Segoe UI"/>
                        </a:defRPr>
                      </a:pPr>
                      <a:r>
                        <a:t>Reroute freight via multimodal rail/road</a:t>
                      </a:r>
                    </a:p>
                  </a:txBody>
                  <a:tcPr>
                    <a:solidFill>
                      <a:srgbClr val="FFFDF9"/>
                    </a:solidFill>
                  </a:tcPr>
                </a:tc>
              </a:tr>
              <a:tr h="518160">
                <a:tc>
                  <a:txBody>
                    <a:bodyPr wrap="square" lIns="73152" rIns="73152" tIns="36576" bIns="36576"/>
                    <a:lstStyle/>
                    <a:p>
                      <a:pPr>
                        <a:defRPr sz="900">
                          <a:solidFill>
                            <a:srgbClr val="20252B"/>
                          </a:solidFill>
                          <a:latin typeface="Segoe UI"/>
                        </a:defRPr>
                      </a:pPr>
                      <a:r>
                        <a:t>● Low inventory runway</a:t>
                      </a:r>
                    </a:p>
                  </a:txBody>
                  <a:tcPr>
                    <a:solidFill>
                      <a:srgbClr val="FAF8F3"/>
                    </a:solidFill>
                  </a:tcPr>
                </a:tc>
                <a:tc>
                  <a:txBody>
                    <a:bodyPr wrap="square" lIns="73152" rIns="73152" tIns="36576" bIns="36576"/>
                    <a:lstStyle/>
                    <a:p>
                      <a:pPr>
                        <a:defRPr sz="900">
                          <a:solidFill>
                            <a:srgbClr val="626A73"/>
                          </a:solidFill>
                          <a:latin typeface="Segoe UI"/>
                        </a:defRPr>
                      </a:pPr>
                      <a:r>
                        <a:t>Imminent warehouse stockout (&lt; 7 days)</a:t>
                      </a:r>
                    </a:p>
                  </a:txBody>
                  <a:tcPr>
                    <a:solidFill>
                      <a:srgbClr val="FAF8F3"/>
                    </a:solidFill>
                  </a:tcPr>
                </a:tc>
                <a:tc>
                  <a:txBody>
                    <a:bodyPr wrap="square" lIns="73152" rIns="73152" tIns="36576" bIns="36576"/>
                    <a:lstStyle/>
                    <a:p>
                      <a:pPr>
                        <a:defRPr sz="900">
                          <a:solidFill>
                            <a:srgbClr val="626A73"/>
                          </a:solidFill>
                          <a:latin typeface="Segoe UI"/>
                        </a:defRPr>
                      </a:pPr>
                      <a:r>
                        <a:t>Trigger inter-warehouse safety stock transfer</a:t>
                      </a:r>
                    </a:p>
                  </a:txBody>
                  <a:tcPr>
                    <a:solidFill>
                      <a:srgbClr val="FAF8F3"/>
                    </a:solidFill>
                  </a:tcPr>
                </a:tc>
              </a:tr>
              <a:tr h="518160">
                <a:tc>
                  <a:txBody>
                    <a:bodyPr wrap="square" lIns="73152" rIns="73152" tIns="36576" bIns="36576"/>
                    <a:lstStyle/>
                    <a:p>
                      <a:pPr>
                        <a:defRPr sz="900">
                          <a:solidFill>
                            <a:srgbClr val="20252B"/>
                          </a:solidFill>
                          <a:latin typeface="Segoe UI"/>
                        </a:defRPr>
                      </a:pPr>
                      <a:r>
                        <a:t>● Multi-node shock</a:t>
                      </a:r>
                    </a:p>
                  </a:txBody>
                  <a:tcPr>
                    <a:solidFill>
                      <a:srgbClr val="FFFDF9"/>
                    </a:solidFill>
                  </a:tcPr>
                </a:tc>
                <a:tc>
                  <a:txBody>
                    <a:bodyPr wrap="square" lIns="73152" rIns="73152" tIns="36576" bIns="36576"/>
                    <a:lstStyle/>
                    <a:p>
                      <a:pPr>
                        <a:defRPr sz="900">
                          <a:solidFill>
                            <a:srgbClr val="626A73"/>
                          </a:solidFill>
                          <a:latin typeface="Segoe UI"/>
                        </a:defRPr>
                      </a:pPr>
                      <a:r>
                        <a:t>Multiple constraints interact across tiers</a:t>
                      </a:r>
                    </a:p>
                  </a:txBody>
                  <a:tcPr>
                    <a:solidFill>
                      <a:srgbClr val="FFFDF9"/>
                    </a:solidFill>
                  </a:tcPr>
                </a:tc>
                <a:tc>
                  <a:txBody>
                    <a:bodyPr wrap="square" lIns="73152" rIns="73152" tIns="36576" bIns="36576"/>
                    <a:lstStyle/>
                    <a:p>
                      <a:pPr>
                        <a:defRPr sz="900">
                          <a:solidFill>
                            <a:srgbClr val="626A73"/>
                          </a:solidFill>
                          <a:latin typeface="Segoe UI"/>
                        </a:defRPr>
                      </a:pPr>
                      <a:r>
                        <a:t>Execute Google OR-Tools global optimization</a:t>
                      </a:r>
                    </a:p>
                  </a:txBody>
                  <a:tcPr>
                    <a:solidFill>
                      <a:srgbClr val="FFFDF9"/>
                    </a:solidFill>
                  </a:tcPr>
                </a:tc>
              </a:tr>
            </a:tbl>
          </a:graphicData>
        </a:graphic>
      </p:graphicFrame>
      <p:sp>
        <p:nvSpPr>
          <p:cNvPr id="7" name="Rounded Rectangle 6"/>
          <p:cNvSpPr/>
          <p:nvPr/>
        </p:nvSpPr>
        <p:spPr>
          <a:xfrm>
            <a:off x="731520" y="5532120"/>
            <a:ext cx="10728655" cy="685800"/>
          </a:xfrm>
          <a:prstGeom prst="roundRect">
            <a:avLst/>
          </a:prstGeom>
          <a:solidFill>
            <a:srgbClr val="D9F3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23560"/>
            <a:ext cx="10362895" cy="502920"/>
          </a:xfrm>
          <a:prstGeom prst="rect">
            <a:avLst/>
          </a:prstGeom>
          <a:noFill/>
        </p:spPr>
        <p:txBody>
          <a:bodyPr wrap="none">
            <a:spAutoFit/>
          </a:bodyPr>
          <a:lstStyle/>
          <a:p>
            <a:pPr algn="ctr">
              <a:defRPr sz="1200" b="1">
                <a:solidFill>
                  <a:srgbClr val="20252B"/>
                </a:solidFill>
                <a:latin typeface="Segoe UI"/>
              </a:defRPr>
            </a:pPr>
            <a:r>
              <a:t>NEXUS does not stop at prediction. It connects the prediction to an operational response.</a:t>
            </a:r>
          </a:p>
        </p:txBody>
      </p:sp>
      <p:sp>
        <p:nvSpPr>
          <p:cNvPr id="9" name="TextBox 8"/>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8 of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09 / 13  •  DISRUPTION SIMULATION</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What happens when a critical supplier loses capacity?</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Simulating an 80% capacity shock on supplier SUP_001 in Pune.</a:t>
            </a:r>
          </a:p>
        </p:txBody>
      </p:sp>
      <p:sp>
        <p:nvSpPr>
          <p:cNvPr id="5" name="Rounded Rectangle 4"/>
          <p:cNvSpPr/>
          <p:nvPr/>
        </p:nvSpPr>
        <p:spPr>
          <a:xfrm>
            <a:off x="731520" y="1645920"/>
            <a:ext cx="5120640" cy="1280160"/>
          </a:xfrm>
          <a:prstGeom prst="roundRect">
            <a:avLst/>
          </a:prstGeom>
          <a:solidFill>
            <a:srgbClr val="FEE2E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663440" cy="1005840"/>
          </a:xfrm>
          <a:prstGeom prst="rect">
            <a:avLst/>
          </a:prstGeom>
          <a:noFill/>
        </p:spPr>
        <p:txBody>
          <a:bodyPr wrap="square">
            <a:spAutoFit/>
          </a:bodyPr>
          <a:lstStyle/>
          <a:p>
            <a:pPr>
              <a:defRPr sz="1000" b="1">
                <a:solidFill>
                  <a:srgbClr val="EF4444"/>
                </a:solidFill>
                <a:latin typeface="Segoe UI"/>
              </a:defRPr>
            </a:pPr>
            <a:r>
              <a:t>SHOCK</a:t>
            </a:r>
          </a:p>
          <a:p>
            <a:pPr>
              <a:spcBef>
                <a:spcPts val="200"/>
              </a:spcBef>
              <a:defRPr sz="950" b="1">
                <a:solidFill>
                  <a:srgbClr val="20252B"/>
                </a:solidFill>
                <a:latin typeface="Segoe UI"/>
              </a:defRPr>
            </a:pPr>
            <a:r>
              <a:t>SUP_001 (Tata AutoComp Pune)</a:t>
            </a:r>
            <a:br/>
            <a:r>
              <a:t>80% Capacity Loss for 10 Days</a:t>
            </a:r>
          </a:p>
        </p:txBody>
      </p:sp>
      <p:sp>
        <p:nvSpPr>
          <p:cNvPr id="7" name="Rounded Rectangle 6"/>
          <p:cNvSpPr/>
          <p:nvPr/>
        </p:nvSpPr>
        <p:spPr>
          <a:xfrm>
            <a:off x="731520" y="3108960"/>
            <a:ext cx="5120640" cy="1280160"/>
          </a:xfrm>
          <a:prstGeom prst="roundRect">
            <a:avLst/>
          </a:prstGeom>
          <a:solidFill>
            <a:srgbClr val="FFF0C7"/>
          </a:solidFill>
          <a:ln w="1524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246120"/>
            <a:ext cx="4663440" cy="1005840"/>
          </a:xfrm>
          <a:prstGeom prst="rect">
            <a:avLst/>
          </a:prstGeom>
          <a:noFill/>
        </p:spPr>
        <p:txBody>
          <a:bodyPr wrap="square">
            <a:spAutoFit/>
          </a:bodyPr>
          <a:lstStyle/>
          <a:p>
            <a:pPr>
              <a:defRPr sz="1000" b="1">
                <a:solidFill>
                  <a:srgbClr val="EAB308"/>
                </a:solidFill>
                <a:latin typeface="Segoe UI"/>
              </a:defRPr>
            </a:pPr>
            <a:r>
              <a:t>CASCADE</a:t>
            </a:r>
          </a:p>
          <a:p>
            <a:pPr>
              <a:spcBef>
                <a:spcPts val="200"/>
              </a:spcBef>
              <a:defRPr sz="950" b="1">
                <a:solidFill>
                  <a:srgbClr val="20252B"/>
                </a:solidFill>
                <a:latin typeface="Segoe UI"/>
              </a:defRPr>
            </a:pPr>
            <a:r>
              <a:t>Western Warehouse (WH_01)</a:t>
            </a:r>
            <a:br/>
            <a:r>
              <a:t>1,420 units stock vs 280 units/day burn rate = 5.07 Days Runway</a:t>
            </a:r>
          </a:p>
        </p:txBody>
      </p:sp>
      <p:sp>
        <p:nvSpPr>
          <p:cNvPr id="9" name="Rounded Rectangle 8"/>
          <p:cNvSpPr/>
          <p:nvPr/>
        </p:nvSpPr>
        <p:spPr>
          <a:xfrm>
            <a:off x="731520" y="4572000"/>
            <a:ext cx="5120640" cy="1280160"/>
          </a:xfrm>
          <a:prstGeom prst="roundRect">
            <a:avLst/>
          </a:prstGeom>
          <a:solidFill>
            <a:srgbClr val="FCE3D6"/>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709160"/>
            <a:ext cx="4663440" cy="1005840"/>
          </a:xfrm>
          <a:prstGeom prst="rect">
            <a:avLst/>
          </a:prstGeom>
          <a:noFill/>
        </p:spPr>
        <p:txBody>
          <a:bodyPr wrap="square">
            <a:spAutoFit/>
          </a:bodyPr>
          <a:lstStyle/>
          <a:p>
            <a:pPr>
              <a:defRPr sz="1000" b="1">
                <a:solidFill>
                  <a:srgbClr val="F97316"/>
                </a:solidFill>
                <a:latin typeface="Segoe UI"/>
              </a:defRPr>
            </a:pPr>
            <a:r>
              <a:t>IMPACT</a:t>
            </a:r>
          </a:p>
          <a:p>
            <a:pPr>
              <a:spcBef>
                <a:spcPts val="200"/>
              </a:spcBef>
              <a:defRPr sz="950" b="1">
                <a:solidFill>
                  <a:srgbClr val="20252B"/>
                </a:solidFill>
                <a:latin typeface="Segoe UI"/>
              </a:defRPr>
            </a:pPr>
            <a:r>
              <a:t>69,843 Units Potential Shortage</a:t>
            </a:r>
            <a:br/>
            <a:r>
              <a:t>Service level drops to 54.57% without intervention</a:t>
            </a:r>
          </a:p>
        </p:txBody>
      </p:sp>
      <p:sp>
        <p:nvSpPr>
          <p:cNvPr id="11" name="Rounded Rectangle 10"/>
          <p:cNvSpPr/>
          <p:nvPr/>
        </p:nvSpPr>
        <p:spPr>
          <a:xfrm>
            <a:off x="6217920" y="1645920"/>
            <a:ext cx="5242255" cy="4206240"/>
          </a:xfrm>
          <a:prstGeom prst="roundRect">
            <a:avLst/>
          </a:prstGeom>
          <a:solidFill>
            <a:srgbClr val="FFFDF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20240"/>
            <a:ext cx="4693615" cy="3657600"/>
          </a:xfrm>
          <a:prstGeom prst="rect">
            <a:avLst/>
          </a:prstGeom>
          <a:noFill/>
        </p:spPr>
        <p:txBody>
          <a:bodyPr wrap="square">
            <a:spAutoFit/>
          </a:bodyPr>
          <a:lstStyle/>
          <a:p>
            <a:pPr>
              <a:defRPr sz="1000" b="1">
                <a:solidFill>
                  <a:srgbClr val="626A73"/>
                </a:solidFill>
                <a:latin typeface="Segoe UI"/>
              </a:defRPr>
            </a:pPr>
            <a:r>
              <a:t>THE CENTRAL STRATEGIC QUESTION:</a:t>
            </a:r>
          </a:p>
          <a:p>
            <a:pPr>
              <a:spcBef>
                <a:spcPts val="400"/>
              </a:spcBef>
              <a:defRPr sz="1800" b="1">
                <a:solidFill>
                  <a:srgbClr val="20252B"/>
                </a:solidFill>
                <a:latin typeface="Segoe UI"/>
              </a:defRPr>
            </a:pPr>
            <a:r>
              <a:t>"Does the network actually lack capacity?"</a:t>
            </a:r>
          </a:p>
          <a:p>
            <a:pPr>
              <a:spcBef>
                <a:spcPts val="1400"/>
              </a:spcBef>
              <a:defRPr sz="3600" b="1">
                <a:solidFill>
                  <a:srgbClr val="10B981"/>
                </a:solidFill>
                <a:latin typeface="Segoe UI"/>
              </a:defRPr>
            </a:pPr>
            <a:r>
              <a:t>+160,750 Units</a:t>
            </a:r>
          </a:p>
          <a:p>
            <a:pPr>
              <a:spcBef>
                <a:spcPts val="200"/>
              </a:spcBef>
              <a:defRPr sz="1100" b="1">
                <a:solidFill>
                  <a:srgbClr val="20252B"/>
                </a:solidFill>
                <a:latin typeface="Segoe UI"/>
              </a:defRPr>
            </a:pPr>
            <a:r>
              <a:t>Net Network Capacity Surplus Post-Shock</a:t>
            </a:r>
          </a:p>
          <a:p>
            <a:pPr>
              <a:spcBef>
                <a:spcPts val="600"/>
              </a:spcBef>
              <a:defRPr sz="950">
                <a:solidFill>
                  <a:srgbClr val="626A73"/>
                </a:solidFill>
                <a:latin typeface="Segoe UI"/>
              </a:defRPr>
            </a:pPr>
            <a:r>
              <a:t>Total Network Demand = 153,600 units | Remaining Supplier Capacity = 314,350 units.</a:t>
            </a:r>
          </a:p>
          <a:p>
            <a:pPr>
              <a:spcBef>
                <a:spcPts val="1200"/>
              </a:spcBef>
              <a:defRPr sz="1150" b="1">
                <a:solidFill>
                  <a:srgbClr val="20252B"/>
                </a:solidFill>
                <a:latin typeface="Segoe UI"/>
              </a:defRPr>
            </a:pPr>
            <a:r>
              <a:t>Key Takeaway: The problem is allocation — not total network capacity.</a:t>
            </a:r>
          </a:p>
        </p:txBody>
      </p:sp>
      <p:sp>
        <p:nvSpPr>
          <p:cNvPr id="13" name="TextBox 12"/>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9 of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10 / 13  •  OPTIMIZATION OUTCOME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NEXUS turns the crisis into an allocation decision.</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Google OR-Tools multi-echelon linear optimization achieves global cost minimization in 0.0094 seconds.</a:t>
            </a:r>
          </a:p>
        </p:txBody>
      </p:sp>
      <p:pic>
        <p:nvPicPr>
          <p:cNvPr id="5" name="Picture 4" descr="pastel_optimization_diff.png"/>
          <p:cNvPicPr>
            <a:picLocks noChangeAspect="1"/>
          </p:cNvPicPr>
          <p:nvPr/>
        </p:nvPicPr>
        <p:blipFill>
          <a:blip r:embed="rId2"/>
          <a:stretch>
            <a:fillRect/>
          </a:stretch>
        </p:blipFill>
        <p:spPr>
          <a:xfrm>
            <a:off x="731520" y="1645920"/>
            <a:ext cx="10728655" cy="3931920"/>
          </a:xfrm>
          <a:prstGeom prst="rect">
            <a:avLst/>
          </a:prstGeom>
        </p:spPr>
      </p:pic>
      <p:sp>
        <p:nvSpPr>
          <p:cNvPr id="6" name="Rounded Rectangle 5"/>
          <p:cNvSpPr/>
          <p:nvPr/>
        </p:nvSpPr>
        <p:spPr>
          <a:xfrm>
            <a:off x="1371600" y="5715000"/>
            <a:ext cx="9448495" cy="59436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5779008"/>
            <a:ext cx="9082735" cy="457200"/>
          </a:xfrm>
          <a:prstGeom prst="rect">
            <a:avLst/>
          </a:prstGeom>
          <a:noFill/>
        </p:spPr>
        <p:txBody>
          <a:bodyPr wrap="none">
            <a:spAutoFit/>
          </a:bodyPr>
          <a:lstStyle/>
          <a:p>
            <a:pPr algn="ctr">
              <a:defRPr sz="1000" i="1">
                <a:solidFill>
                  <a:srgbClr val="626A73"/>
                </a:solidFill>
                <a:latin typeface="Segoe UI"/>
              </a:defRPr>
            </a:pPr>
            <a:r>
              <a:t>Simulated stress scenario using Google OR-Tools multi-echelon optimization (Solver runtime: 0.0094s).</a:t>
            </a:r>
          </a:p>
        </p:txBody>
      </p:sp>
      <p:sp>
        <p:nvSpPr>
          <p:cNvPr id="8" name="TextBox 7"/>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10 of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11 / 13  •  CONTROL ROOM INTERFACE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From model pipeline to working control room</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An interactive enterprise SaaS control room built with React 19, TypeScript, and FastAPI.</a:t>
            </a:r>
          </a:p>
        </p:txBody>
      </p:sp>
      <p:pic>
        <p:nvPicPr>
          <p:cNvPr id="5" name="Picture 4" descr="pastel_product_collage.png"/>
          <p:cNvPicPr>
            <a:picLocks noChangeAspect="1"/>
          </p:cNvPicPr>
          <p:nvPr/>
        </p:nvPicPr>
        <p:blipFill>
          <a:blip r:embed="rId2"/>
          <a:stretch>
            <a:fillRect/>
          </a:stretch>
        </p:blipFill>
        <p:spPr>
          <a:xfrm>
            <a:off x="731520" y="1645920"/>
            <a:ext cx="10728655" cy="3840480"/>
          </a:xfrm>
          <a:prstGeom prst="rect">
            <a:avLst/>
          </a:prstGeom>
        </p:spPr>
      </p:pic>
      <p:sp>
        <p:nvSpPr>
          <p:cNvPr id="6" name="Rounded Rectangle 5"/>
          <p:cNvSpPr/>
          <p:nvPr/>
        </p:nvSpPr>
        <p:spPr>
          <a:xfrm>
            <a:off x="731520" y="5623560"/>
            <a:ext cx="10728655" cy="68580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715000"/>
            <a:ext cx="10362895" cy="502920"/>
          </a:xfrm>
          <a:prstGeom prst="rect">
            <a:avLst/>
          </a:prstGeom>
          <a:noFill/>
        </p:spPr>
        <p:txBody>
          <a:bodyPr wrap="none">
            <a:spAutoFit/>
          </a:bodyPr>
          <a:lstStyle/>
          <a:p>
            <a:pPr algn="ctr">
              <a:defRPr sz="1050" b="1">
                <a:solidFill>
                  <a:srgbClr val="20252B"/>
                </a:solidFill>
                <a:latin typeface="Segoe UI"/>
              </a:defRPr>
            </a:pPr>
            <a:r>
              <a:t>TECH STACK: React 19  •  TypeScript  •  FastAPI  •  Leaflet GIS  •  Recharts  •  Google OR-Tools  •  SQLite / PostgreSQL</a:t>
            </a:r>
          </a:p>
        </p:txBody>
      </p:sp>
      <p:sp>
        <p:nvSpPr>
          <p:cNvPr id="8" name="TextBox 7"/>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11 of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12 / 13  •  QUALITY ASSURANCE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Built, tested and verified.</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Comprehensive full-stack verification ensuring complete system stability and zero silent failures.</a:t>
            </a:r>
          </a:p>
        </p:txBody>
      </p:sp>
      <p:sp>
        <p:nvSpPr>
          <p:cNvPr id="5" name="Rounded Rectangle 4"/>
          <p:cNvSpPr/>
          <p:nvPr/>
        </p:nvSpPr>
        <p:spPr>
          <a:xfrm>
            <a:off x="731520" y="1645920"/>
            <a:ext cx="2514600" cy="2560320"/>
          </a:xfrm>
          <a:prstGeom prst="roundRect">
            <a:avLst/>
          </a:prstGeom>
          <a:solidFill>
            <a:srgbClr val="D9F3E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148840" cy="2103120"/>
          </a:xfrm>
          <a:prstGeom prst="rect">
            <a:avLst/>
          </a:prstGeom>
          <a:noFill/>
        </p:spPr>
        <p:txBody>
          <a:bodyPr wrap="square">
            <a:spAutoFit/>
          </a:bodyPr>
          <a:lstStyle/>
          <a:p>
            <a:pPr>
              <a:defRPr sz="3600" b="1">
                <a:solidFill>
                  <a:srgbClr val="20252B"/>
                </a:solidFill>
                <a:latin typeface="Segoe UI"/>
              </a:defRPr>
            </a:pPr>
            <a:r>
              <a:t>29 / 29</a:t>
            </a:r>
          </a:p>
          <a:p>
            <a:pPr>
              <a:spcBef>
                <a:spcPts val="800"/>
              </a:spcBef>
              <a:defRPr sz="1100" b="1">
                <a:solidFill>
                  <a:srgbClr val="20252B"/>
                </a:solidFill>
                <a:latin typeface="Segoe UI"/>
              </a:defRPr>
            </a:pPr>
            <a:r>
              <a:t>Backend Tests Passed</a:t>
            </a:r>
          </a:p>
          <a:p>
            <a:pPr>
              <a:spcBef>
                <a:spcPts val="400"/>
              </a:spcBef>
              <a:defRPr sz="850">
                <a:solidFill>
                  <a:srgbClr val="626A73"/>
                </a:solidFill>
                <a:latin typeface="Segoe UI"/>
              </a:defRPr>
            </a:pPr>
            <a:r>
              <a:t>Pytest suite (2.66s) covering ML, graph &amp; LP</a:t>
            </a:r>
          </a:p>
        </p:txBody>
      </p:sp>
      <p:sp>
        <p:nvSpPr>
          <p:cNvPr id="7" name="Rounded Rectangle 6"/>
          <p:cNvSpPr/>
          <p:nvPr/>
        </p:nvSpPr>
        <p:spPr>
          <a:xfrm>
            <a:off x="3469233" y="1645920"/>
            <a:ext cx="2514600" cy="2560320"/>
          </a:xfrm>
          <a:prstGeom prst="roundRect">
            <a:avLst/>
          </a:prstGeom>
          <a:solidFill>
            <a:srgbClr val="DCEBF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2113" y="1920240"/>
            <a:ext cx="2148840" cy="2103120"/>
          </a:xfrm>
          <a:prstGeom prst="rect">
            <a:avLst/>
          </a:prstGeom>
          <a:noFill/>
        </p:spPr>
        <p:txBody>
          <a:bodyPr wrap="square">
            <a:spAutoFit/>
          </a:bodyPr>
          <a:lstStyle/>
          <a:p>
            <a:pPr>
              <a:defRPr sz="3600" b="1">
                <a:solidFill>
                  <a:srgbClr val="20252B"/>
                </a:solidFill>
                <a:latin typeface="Segoe UI"/>
              </a:defRPr>
            </a:pPr>
            <a:r>
              <a:t>10 / 10</a:t>
            </a:r>
          </a:p>
          <a:p>
            <a:pPr>
              <a:spcBef>
                <a:spcPts val="800"/>
              </a:spcBef>
              <a:defRPr sz="1100" b="1">
                <a:solidFill>
                  <a:srgbClr val="20252B"/>
                </a:solidFill>
                <a:latin typeface="Segoe UI"/>
              </a:defRPr>
            </a:pPr>
            <a:r>
              <a:t>Frontend Tests Passed</a:t>
            </a:r>
          </a:p>
          <a:p>
            <a:pPr>
              <a:spcBef>
                <a:spcPts val="400"/>
              </a:spcBef>
              <a:defRPr sz="850">
                <a:solidFill>
                  <a:srgbClr val="626A73"/>
                </a:solidFill>
                <a:latin typeface="Segoe UI"/>
              </a:defRPr>
            </a:pPr>
            <a:r>
              <a:t>Vitest unit tests for UI and currency formats</a:t>
            </a:r>
          </a:p>
        </p:txBody>
      </p:sp>
      <p:sp>
        <p:nvSpPr>
          <p:cNvPr id="9" name="Rounded Rectangle 8"/>
          <p:cNvSpPr/>
          <p:nvPr/>
        </p:nvSpPr>
        <p:spPr>
          <a:xfrm>
            <a:off x="6206946" y="1645920"/>
            <a:ext cx="2514600" cy="2560320"/>
          </a:xfrm>
          <a:prstGeom prst="roundRect">
            <a:avLst/>
          </a:prstGeom>
          <a:solidFill>
            <a:srgbClr val="E9E1F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9826" y="1920240"/>
            <a:ext cx="2148840" cy="2103120"/>
          </a:xfrm>
          <a:prstGeom prst="rect">
            <a:avLst/>
          </a:prstGeom>
          <a:noFill/>
        </p:spPr>
        <p:txBody>
          <a:bodyPr wrap="square">
            <a:spAutoFit/>
          </a:bodyPr>
          <a:lstStyle/>
          <a:p>
            <a:pPr>
              <a:defRPr sz="3600" b="1">
                <a:solidFill>
                  <a:srgbClr val="20252B"/>
                </a:solidFill>
                <a:latin typeface="Segoe UI"/>
              </a:defRPr>
            </a:pPr>
            <a:r>
              <a:t>0</a:t>
            </a:r>
          </a:p>
          <a:p>
            <a:pPr>
              <a:spcBef>
                <a:spcPts val="800"/>
              </a:spcBef>
              <a:defRPr sz="1100" b="1">
                <a:solidFill>
                  <a:srgbClr val="20252B"/>
                </a:solidFill>
                <a:latin typeface="Segoe UI"/>
              </a:defRPr>
            </a:pPr>
            <a:r>
              <a:t>Build Errors</a:t>
            </a:r>
          </a:p>
          <a:p>
            <a:pPr>
              <a:spcBef>
                <a:spcPts val="400"/>
              </a:spcBef>
              <a:defRPr sz="850">
                <a:solidFill>
                  <a:srgbClr val="626A73"/>
                </a:solidFill>
                <a:latin typeface="Segoe UI"/>
              </a:defRPr>
            </a:pPr>
            <a:r>
              <a:t>TypeScript strict compiler &amp; Vite 8.3 bundler</a:t>
            </a:r>
          </a:p>
        </p:txBody>
      </p:sp>
      <p:sp>
        <p:nvSpPr>
          <p:cNvPr id="11" name="Rounded Rectangle 10"/>
          <p:cNvSpPr/>
          <p:nvPr/>
        </p:nvSpPr>
        <p:spPr>
          <a:xfrm>
            <a:off x="8944659" y="1645920"/>
            <a:ext cx="2514600" cy="2560320"/>
          </a:xfrm>
          <a:prstGeom prst="roundRect">
            <a:avLst/>
          </a:prstGeom>
          <a:solidFill>
            <a:srgbClr val="FFF0C7"/>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7539" y="1920240"/>
            <a:ext cx="2148840" cy="2103120"/>
          </a:xfrm>
          <a:prstGeom prst="rect">
            <a:avLst/>
          </a:prstGeom>
          <a:noFill/>
        </p:spPr>
        <p:txBody>
          <a:bodyPr wrap="square">
            <a:spAutoFit/>
          </a:bodyPr>
          <a:lstStyle/>
          <a:p>
            <a:pPr>
              <a:defRPr sz="3600" b="1">
                <a:solidFill>
                  <a:srgbClr val="20252B"/>
                </a:solidFill>
                <a:latin typeface="Segoe UI"/>
              </a:defRPr>
            </a:pPr>
            <a:r>
              <a:t>20</a:t>
            </a:r>
          </a:p>
          <a:p>
            <a:pPr>
              <a:spcBef>
                <a:spcPts val="800"/>
              </a:spcBef>
              <a:defRPr sz="1100" b="1">
                <a:solidFill>
                  <a:srgbClr val="20252B"/>
                </a:solidFill>
                <a:latin typeface="Segoe UI"/>
              </a:defRPr>
            </a:pPr>
            <a:r>
              <a:t>REST API Endpoints</a:t>
            </a:r>
          </a:p>
          <a:p>
            <a:pPr>
              <a:spcBef>
                <a:spcPts val="400"/>
              </a:spcBef>
              <a:defRPr sz="850">
                <a:solidFill>
                  <a:srgbClr val="626A73"/>
                </a:solidFill>
                <a:latin typeface="Segoe UI"/>
              </a:defRPr>
            </a:pPr>
            <a:r>
              <a:t>FastAPI endpoints verified with HTTP 200 OK</a:t>
            </a:r>
          </a:p>
        </p:txBody>
      </p:sp>
      <p:sp>
        <p:nvSpPr>
          <p:cNvPr id="13" name="Rounded Rectangle 12"/>
          <p:cNvSpPr/>
          <p:nvPr/>
        </p:nvSpPr>
        <p:spPr>
          <a:xfrm>
            <a:off x="731520" y="4434840"/>
            <a:ext cx="10728655" cy="100584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572000"/>
            <a:ext cx="10362895" cy="731520"/>
          </a:xfrm>
          <a:prstGeom prst="rect">
            <a:avLst/>
          </a:prstGeom>
          <a:noFill/>
        </p:spPr>
        <p:txBody>
          <a:bodyPr wrap="none">
            <a:spAutoFit/>
          </a:bodyPr>
          <a:lstStyle/>
          <a:p>
            <a:pPr algn="ctr">
              <a:defRPr sz="1000" b="1">
                <a:solidFill>
                  <a:srgbClr val="20252B"/>
                </a:solidFill>
                <a:latin typeface="Segoe UI"/>
              </a:defRPr>
            </a:pPr>
            <a:r>
              <a:t>INTEGRATION PIPELINE:  React UI  →  FastAPI  →  ML / Graph / Simulation  →  Google OR-Tools  →  SQLite Persistence</a:t>
            </a:r>
          </a:p>
          <a:p>
            <a:pPr algn="ctr">
              <a:spcBef>
                <a:spcPts val="300"/>
              </a:spcBef>
              <a:defRPr sz="900">
                <a:solidFill>
                  <a:srgbClr val="626A73"/>
                </a:solidFill>
                <a:latin typeface="Segoe UI"/>
              </a:defRPr>
            </a:pPr>
            <a:r>
              <a:t>Fixed random seeds (seed=42)  •  Zero silent mock fallbacks  •  100% reproducible execution</a:t>
            </a:r>
          </a:p>
        </p:txBody>
      </p:sp>
      <p:sp>
        <p:nvSpPr>
          <p:cNvPr id="15" name="TextBox 14"/>
          <p:cNvSpPr txBox="1"/>
          <p:nvPr/>
        </p:nvSpPr>
        <p:spPr>
          <a:xfrm>
            <a:off x="731520" y="5623560"/>
            <a:ext cx="10728655" cy="457200"/>
          </a:xfrm>
          <a:prstGeom prst="rect">
            <a:avLst/>
          </a:prstGeom>
          <a:noFill/>
        </p:spPr>
        <p:txBody>
          <a:bodyPr wrap="none">
            <a:spAutoFit/>
          </a:bodyPr>
          <a:lstStyle/>
          <a:p>
            <a:pPr algn="ctr">
              <a:defRPr sz="900" i="1">
                <a:solidFill>
                  <a:srgbClr val="9299A1"/>
                </a:solidFill>
                <a:latin typeface="Segoe UI"/>
              </a:defRPr>
            </a:pPr>
            <a:r>
              <a:t>Academic Honesty: The platform does not claim live connection to SAP/Oracle or real GPS telematics; ERP dispatch is simulated.</a:t>
            </a:r>
          </a:p>
        </p:txBody>
      </p:sp>
      <p:sp>
        <p:nvSpPr>
          <p:cNvPr id="16" name="TextBox 15"/>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12 of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1000" b="1">
                <a:solidFill>
                  <a:srgbClr val="626A73"/>
                </a:solidFill>
                <a:latin typeface="Segoe UI"/>
              </a:defRPr>
            </a:pPr>
            <a:r>
              <a:t>13 / 13  •  CONCLUSION &amp; DEFENSE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300" b="1">
                <a:solidFill>
                  <a:srgbClr val="20252B"/>
                </a:solidFill>
                <a:latin typeface="Segoe UI"/>
              </a:defRPr>
            </a:pPr>
            <a:r>
              <a:t>NEXUS in one picture.</a:t>
            </a:r>
          </a:p>
        </p:txBody>
      </p:sp>
      <p:sp>
        <p:nvSpPr>
          <p:cNvPr id="4" name="TextBox 3"/>
          <p:cNvSpPr txBox="1"/>
          <p:nvPr/>
        </p:nvSpPr>
        <p:spPr>
          <a:xfrm>
            <a:off x="731520" y="1188720"/>
            <a:ext cx="10698480" cy="320040"/>
          </a:xfrm>
          <a:prstGeom prst="rect">
            <a:avLst/>
          </a:prstGeom>
          <a:noFill/>
        </p:spPr>
        <p:txBody>
          <a:bodyPr wrap="square" lIns="0" tIns="0" rIns="0" bIns="0">
            <a:spAutoFit/>
          </a:bodyPr>
          <a:lstStyle/>
          <a:p>
            <a:pPr>
              <a:defRPr sz="1150">
                <a:solidFill>
                  <a:srgbClr val="626A73"/>
                </a:solidFill>
                <a:latin typeface="Segoe UI"/>
              </a:defRPr>
            </a:pPr>
            <a:r>
              <a:t>Transforming fragmented supply chain data into mathematically verified, actionable decisions.</a:t>
            </a:r>
          </a:p>
        </p:txBody>
      </p:sp>
      <p:sp>
        <p:nvSpPr>
          <p:cNvPr id="5" name="Rounded Rectangle 4"/>
          <p:cNvSpPr/>
          <p:nvPr/>
        </p:nvSpPr>
        <p:spPr>
          <a:xfrm>
            <a:off x="731520" y="1645920"/>
            <a:ext cx="10728655" cy="777240"/>
          </a:xfrm>
          <a:prstGeom prst="roundRect">
            <a:avLst/>
          </a:prstGeom>
          <a:solidFill>
            <a:srgbClr val="FFFDF9"/>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362895" cy="457200"/>
          </a:xfrm>
          <a:prstGeom prst="rect">
            <a:avLst/>
          </a:prstGeom>
          <a:noFill/>
        </p:spPr>
        <p:txBody>
          <a:bodyPr wrap="none">
            <a:spAutoFit/>
          </a:bodyPr>
          <a:lstStyle/>
          <a:p>
            <a:pPr algn="ctr">
              <a:defRPr sz="1300" b="1">
                <a:solidFill>
                  <a:srgbClr val="20252B"/>
                </a:solidFill>
                <a:latin typeface="Segoe UI"/>
              </a:defRPr>
            </a:pPr>
            <a:r>
              <a:t>DATA   →   UNDERSTAND   →   PREDICT   →   TRACE   →   SIMULATE   →   OPTIMIZE   →   DECIDE</a:t>
            </a:r>
          </a:p>
        </p:txBody>
      </p:sp>
      <p:sp>
        <p:nvSpPr>
          <p:cNvPr id="7" name="Rounded Rectangle 6"/>
          <p:cNvSpPr/>
          <p:nvPr/>
        </p:nvSpPr>
        <p:spPr>
          <a:xfrm>
            <a:off x="731520" y="2651760"/>
            <a:ext cx="10728655" cy="1463040"/>
          </a:xfrm>
          <a:prstGeom prst="roundRect">
            <a:avLst/>
          </a:prstGeom>
          <a:solidFill>
            <a:srgbClr val="D9F3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834640"/>
            <a:ext cx="10180015" cy="1097280"/>
          </a:xfrm>
          <a:prstGeom prst="rect">
            <a:avLst/>
          </a:prstGeom>
          <a:noFill/>
        </p:spPr>
        <p:txBody>
          <a:bodyPr wrap="square">
            <a:spAutoFit/>
          </a:bodyPr>
          <a:lstStyle/>
          <a:p>
            <a:pPr>
              <a:defRPr sz="1600" b="1">
                <a:solidFill>
                  <a:srgbClr val="20252B"/>
                </a:solidFill>
                <a:latin typeface="Segoe UI"/>
              </a:defRPr>
            </a:pPr>
            <a:r>
              <a:t>"From fragmented supply-chain data to actionable decisions."</a:t>
            </a:r>
          </a:p>
          <a:p>
            <a:pPr>
              <a:spcBef>
                <a:spcPts val="400"/>
              </a:spcBef>
              <a:defRPr sz="1050">
                <a:solidFill>
                  <a:srgbClr val="626A73"/>
                </a:solidFill>
                <a:latin typeface="Segoe UI"/>
              </a:defRPr>
            </a:pPr>
            <a:r>
              <a:t>NEXUS bridges the gap between predictive AI and operations research, providing supply chain operators with the tools to foresee disruption, trace cascading consequences, and execute optimal mitigation.</a:t>
            </a:r>
          </a:p>
        </p:txBody>
      </p:sp>
      <p:sp>
        <p:nvSpPr>
          <p:cNvPr id="9" name="Rounded Rectangle 8"/>
          <p:cNvSpPr/>
          <p:nvPr/>
        </p:nvSpPr>
        <p:spPr>
          <a:xfrm>
            <a:off x="731520" y="4343400"/>
            <a:ext cx="10728655" cy="1828800"/>
          </a:xfrm>
          <a:prstGeom prst="roundRect">
            <a:avLst/>
          </a:prstGeom>
          <a:solidFill>
            <a:srgbClr val="FFFDF9"/>
          </a:solidFill>
          <a:ln w="12700">
            <a:solidFill>
              <a:srgbClr val="E2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526280"/>
            <a:ext cx="10180015" cy="1463040"/>
          </a:xfrm>
          <a:prstGeom prst="rect">
            <a:avLst/>
          </a:prstGeom>
          <a:noFill/>
        </p:spPr>
        <p:txBody>
          <a:bodyPr wrap="none">
            <a:spAutoFit/>
          </a:bodyPr>
          <a:lstStyle/>
          <a:p>
            <a:pPr>
              <a:defRPr sz="2000" b="1">
                <a:solidFill>
                  <a:srgbClr val="20252B"/>
                </a:solidFill>
                <a:latin typeface="Segoe UI"/>
              </a:defRPr>
            </a:pPr>
            <a:r>
              <a:t>Thank You!   |   Questions &amp; Discussion</a:t>
            </a:r>
          </a:p>
          <a:p>
            <a:pPr>
              <a:spcBef>
                <a:spcPts val="600"/>
              </a:spcBef>
              <a:defRPr sz="1100">
                <a:solidFill>
                  <a:srgbClr val="626A73"/>
                </a:solidFill>
                <a:latin typeface="Segoe UI"/>
              </a:defRPr>
            </a:pPr>
            <a:r>
              <a:t>Shreyansh Uttam  •  B.Tech Computer Science &amp; Engineering (AI &amp; ML)</a:t>
            </a:r>
            <a:br/>
            <a:r>
              <a:t>School of Computing Science and Engineering (SCSE)  •  VIT Bhopal University</a:t>
            </a:r>
          </a:p>
        </p:txBody>
      </p:sp>
      <p:sp>
        <p:nvSpPr>
          <p:cNvPr id="11" name="TextBox 10"/>
          <p:cNvSpPr txBox="1"/>
          <p:nvPr/>
        </p:nvSpPr>
        <p:spPr>
          <a:xfrm>
            <a:off x="731520" y="6473952"/>
            <a:ext cx="10728655" cy="274320"/>
          </a:xfrm>
          <a:prstGeom prst="rect">
            <a:avLst/>
          </a:prstGeom>
          <a:noFill/>
        </p:spPr>
        <p:txBody>
          <a:bodyPr wrap="none" lIns="0" tIns="0" rIns="0" bIns="0">
            <a:spAutoFit/>
          </a:bodyPr>
          <a:lstStyle/>
          <a:p>
            <a:pPr>
              <a:defRPr sz="850">
                <a:solidFill>
                  <a:srgbClr val="9299A1"/>
                </a:solidFill>
                <a:latin typeface="Segoe UI"/>
              </a:defRPr>
            </a:pPr>
            <a:r>
              <a:t>NEXUS — AI-Powered Supply Chain Intelligence &amp; Optimization  |  Shreyansh Uttam  |  Slide 13 of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